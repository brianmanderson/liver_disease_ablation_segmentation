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BA36"/>
    <a:srgbClr val="E417FF"/>
    <a:srgbClr val="B69C29"/>
    <a:srgbClr val="1A1A1A"/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C1B9-0920-41F0-8ECB-C1417999D892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7FD6-76B6-4D59-A292-814CDBBF6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32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C1B9-0920-41F0-8ECB-C1417999D892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7FD6-76B6-4D59-A292-814CDBBF6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36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C1B9-0920-41F0-8ECB-C1417999D892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7FD6-76B6-4D59-A292-814CDBBF6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82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C1B9-0920-41F0-8ECB-C1417999D892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7FD6-76B6-4D59-A292-814CDBBF6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4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C1B9-0920-41F0-8ECB-C1417999D892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7FD6-76B6-4D59-A292-814CDBBF6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51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C1B9-0920-41F0-8ECB-C1417999D892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7FD6-76B6-4D59-A292-814CDBBF6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1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C1B9-0920-41F0-8ECB-C1417999D892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7FD6-76B6-4D59-A292-814CDBBF6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7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C1B9-0920-41F0-8ECB-C1417999D892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7FD6-76B6-4D59-A292-814CDBBF6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20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C1B9-0920-41F0-8ECB-C1417999D892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7FD6-76B6-4D59-A292-814CDBBF6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99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C1B9-0920-41F0-8ECB-C1417999D892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7FD6-76B6-4D59-A292-814CDBBF6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4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C1B9-0920-41F0-8ECB-C1417999D892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7FD6-76B6-4D59-A292-814CDBBF6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2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3C1B9-0920-41F0-8ECB-C1417999D892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F7FD6-76B6-4D59-A292-814CDBBF6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9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-5747" y="0"/>
            <a:ext cx="10665038" cy="5995851"/>
            <a:chOff x="-5747" y="0"/>
            <a:chExt cx="10665038" cy="5995851"/>
          </a:xfrm>
        </p:grpSpPr>
        <p:sp>
          <p:nvSpPr>
            <p:cNvPr id="22" name="Rectangle 21"/>
            <p:cNvSpPr/>
            <p:nvPr/>
          </p:nvSpPr>
          <p:spPr>
            <a:xfrm>
              <a:off x="-5747" y="0"/>
              <a:ext cx="10665038" cy="599585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30908" y="94238"/>
              <a:ext cx="10398034" cy="5747657"/>
            </a:xfrm>
            <a:prstGeom prst="rect">
              <a:avLst/>
            </a:prstGeom>
            <a:solidFill>
              <a:srgbClr val="1A1A1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0211" y="311446"/>
              <a:ext cx="3777559" cy="231375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3886" y="3320963"/>
              <a:ext cx="3777559" cy="2321791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54611" y="1451285"/>
              <a:ext cx="5347509" cy="314176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84259" y="239380"/>
              <a:ext cx="31771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4259" y="2998064"/>
              <a:ext cx="3097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56787" y="202438"/>
              <a:ext cx="30809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14642" y="2306693"/>
              <a:ext cx="13854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Rigid GTV</a:t>
              </a:r>
              <a:endParaRPr 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418657" y="1451285"/>
              <a:ext cx="16440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E417FF"/>
                  </a:solidFill>
                </a:rPr>
                <a:t>Progression</a:t>
              </a:r>
              <a:endParaRPr lang="en-US" sz="2400" dirty="0">
                <a:solidFill>
                  <a:srgbClr val="E417FF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12702" y="5411922"/>
              <a:ext cx="22495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chemeClr val="bg1"/>
                  </a:solidFill>
                </a:rPr>
                <a:t>Post-Ablation CT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737497" y="5329170"/>
              <a:ext cx="20286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chemeClr val="bg1"/>
                  </a:solidFill>
                </a:rPr>
                <a:t>Progression CT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974684" y="957928"/>
              <a:ext cx="19230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2CBA36"/>
                  </a:solidFill>
                </a:rPr>
                <a:t>Ablation Zone</a:t>
              </a:r>
              <a:endParaRPr lang="en-US" sz="2400" dirty="0">
                <a:solidFill>
                  <a:srgbClr val="2CBA36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544021" y="94237"/>
              <a:ext cx="430663" cy="574765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30909" y="2737802"/>
              <a:ext cx="4796880" cy="19659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585187" y="2934400"/>
              <a:ext cx="20302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B69C29"/>
                  </a:solidFill>
                </a:rPr>
                <a:t>Deformed GTV</a:t>
              </a:r>
              <a:endParaRPr lang="en-US" sz="2400" dirty="0">
                <a:solidFill>
                  <a:srgbClr val="B69C29"/>
                </a:solidFill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30908" y="6293253"/>
            <a:ext cx="117800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arenBoth"/>
            </a:pPr>
            <a:r>
              <a:rPr lang="en-US" sz="1600" dirty="0" smtClean="0"/>
              <a:t>Rigid registration of the gross tumor volume (GTV, red) onto the post-ablation CT maps part of the tumor outside of the ablation zone (green), and gives a false sense of confidence in the delivered margin caudally</a:t>
            </a:r>
          </a:p>
          <a:p>
            <a:pPr marL="342900" indent="-342900">
              <a:buAutoNum type="alphaUcParenBoth"/>
            </a:pPr>
            <a:r>
              <a:rPr lang="en-US" sz="1600" dirty="0" smtClean="0"/>
              <a:t>Deformable registration of the GTV (gold) onto the post-ablation CT indicates potentially insufficient ablation margin in caudal aspect</a:t>
            </a:r>
          </a:p>
          <a:p>
            <a:pPr marL="342900" indent="-342900">
              <a:buAutoNum type="alphaUcParenBoth"/>
            </a:pPr>
            <a:r>
              <a:rPr lang="en-US" sz="1600" dirty="0" smtClean="0"/>
              <a:t>Development of disease progression (pink) in the caudal aspect of the recovered ablation zone (green) corresponds with insufficient margin in (B).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47399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2426403" y="1865653"/>
            <a:ext cx="8496404" cy="3715688"/>
            <a:chOff x="2675785" y="1907216"/>
            <a:chExt cx="8496404" cy="3715688"/>
          </a:xfrm>
        </p:grpSpPr>
        <p:sp>
          <p:nvSpPr>
            <p:cNvPr id="16" name="Rectangle 15"/>
            <p:cNvSpPr/>
            <p:nvPr/>
          </p:nvSpPr>
          <p:spPr>
            <a:xfrm>
              <a:off x="2675785" y="1907216"/>
              <a:ext cx="8496404" cy="371568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47409" y="1969684"/>
              <a:ext cx="2455817" cy="169332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61152" y="1969684"/>
              <a:ext cx="1873624" cy="1693325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4"/>
            <a:srcRect l="13866" r="10524" b="5756"/>
            <a:stretch/>
          </p:blipFill>
          <p:spPr>
            <a:xfrm>
              <a:off x="6647410" y="3733396"/>
              <a:ext cx="2455817" cy="1606839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5"/>
            <a:srcRect l="22115" t="6778" r="6163" b="21875"/>
            <a:stretch/>
          </p:blipFill>
          <p:spPr>
            <a:xfrm>
              <a:off x="9161153" y="3733396"/>
              <a:ext cx="1873624" cy="1606839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28402" y="1995085"/>
              <a:ext cx="3855771" cy="358972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2788690" y="2049153"/>
              <a:ext cx="31771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67500" y="1995084"/>
              <a:ext cx="30970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669102" y="3758307"/>
              <a:ext cx="30809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47409" y="5253572"/>
              <a:ext cx="9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FF00"/>
                  </a:solidFill>
                </a:rPr>
                <a:t>Ablation</a:t>
              </a:r>
              <a:endParaRPr lang="en-US" dirty="0">
                <a:solidFill>
                  <a:srgbClr val="00FF0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532027" y="5253572"/>
              <a:ext cx="15711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Deformed GTV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73576" y="5253572"/>
              <a:ext cx="1087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FF00"/>
                  </a:solidFill>
                </a:rPr>
                <a:t>Rigid GTV</a:t>
              </a:r>
              <a:endParaRPr lang="en-US" dirty="0">
                <a:solidFill>
                  <a:srgbClr val="FFFF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958605" y="5253572"/>
              <a:ext cx="4963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FFFF"/>
                  </a:solidFill>
                </a:rPr>
                <a:t>LTP</a:t>
              </a:r>
              <a:endParaRPr lang="en-US" dirty="0">
                <a:solidFill>
                  <a:srgbClr val="00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7944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838200" y="1027906"/>
            <a:ext cx="5695315" cy="5123180"/>
            <a:chOff x="838200" y="1027906"/>
            <a:chExt cx="5695315" cy="5123180"/>
          </a:xfrm>
        </p:grpSpPr>
        <p:pic>
          <p:nvPicPr>
            <p:cNvPr id="5" name="Picture 4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1027906"/>
              <a:ext cx="5695315" cy="512318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t="13664" r="19659" b="30293"/>
            <a:stretch/>
          </p:blipFill>
          <p:spPr>
            <a:xfrm>
              <a:off x="2526951" y="2125980"/>
              <a:ext cx="521049" cy="2819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1429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507437" y="954400"/>
            <a:ext cx="5622775" cy="4392042"/>
            <a:chOff x="507437" y="954400"/>
            <a:chExt cx="5622775" cy="4392042"/>
          </a:xfrm>
        </p:grpSpPr>
        <p:sp>
          <p:nvSpPr>
            <p:cNvPr id="10" name="Rectangle 9"/>
            <p:cNvSpPr/>
            <p:nvPr/>
          </p:nvSpPr>
          <p:spPr>
            <a:xfrm>
              <a:off x="507437" y="961054"/>
              <a:ext cx="5622775" cy="438538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/>
            <a:srcRect l="6746" t="6942"/>
            <a:stretch/>
          </p:blipFill>
          <p:spPr>
            <a:xfrm>
              <a:off x="636814" y="3368060"/>
              <a:ext cx="3046144" cy="185737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814" y="1165951"/>
              <a:ext cx="3046144" cy="200675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3361" y="3301385"/>
              <a:ext cx="2098577" cy="1924050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5"/>
            <a:srcRect r="7729" b="4816"/>
            <a:stretch/>
          </p:blipFill>
          <p:spPr>
            <a:xfrm>
              <a:off x="3812335" y="981928"/>
              <a:ext cx="2224571" cy="2190479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537761" y="4916606"/>
              <a:ext cx="31771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812335" y="4916606"/>
              <a:ext cx="3097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682958" y="954400"/>
              <a:ext cx="99053" cy="43920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678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3486</TotalTime>
  <Words>113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M. D. Anderson Cancer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Anderson,Brian M</dc:creator>
  <cp:lastModifiedBy>Anderson,Brian M</cp:lastModifiedBy>
  <cp:revision>18</cp:revision>
  <dcterms:created xsi:type="dcterms:W3CDTF">2020-11-24T13:26:25Z</dcterms:created>
  <dcterms:modified xsi:type="dcterms:W3CDTF">2021-01-27T20:47:20Z</dcterms:modified>
</cp:coreProperties>
</file>