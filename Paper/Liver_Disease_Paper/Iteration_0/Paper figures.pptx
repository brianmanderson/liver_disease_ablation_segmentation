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61" r:id="rId3"/>
    <p:sldId id="259" r:id="rId4"/>
    <p:sldId id="260" r:id="rId5"/>
    <p:sldId id="268" r:id="rId6"/>
    <p:sldId id="269" r:id="rId7"/>
    <p:sldId id="270" r:id="rId8"/>
    <p:sldId id="271" r:id="rId9"/>
    <p:sldId id="272" r:id="rId10"/>
    <p:sldId id="273" r:id="rId11"/>
    <p:sldId id="263" r:id="rId12"/>
    <p:sldId id="264" r:id="rId13"/>
    <p:sldId id="265" r:id="rId14"/>
    <p:sldId id="266" r:id="rId15"/>
    <p:sldId id="267" r:id="rId16"/>
    <p:sldId id="274" r:id="rId17"/>
  </p:sldIdLst>
  <p:sldSz cx="18288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51" autoAdjust="0"/>
    <p:restoredTop sz="94660"/>
  </p:normalViewPr>
  <p:slideViewPr>
    <p:cSldViewPr snapToGrid="0">
      <p:cViewPr>
        <p:scale>
          <a:sx n="150" d="100"/>
          <a:sy n="150" d="100"/>
        </p:scale>
        <p:origin x="-7344" y="-66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H:\Modular_Projects\Liver_Disease_Ablation_Segmentation\Deep_Learning\Evaluate_Model\Test_Output_New_Whole_Patient_93\Final_Prediction_93_wp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H:\Modular_Projects\Liver_Disease_Ablation_Segmentation\Deep_Learning\Evaluate_Model\Test_Output_New_Whole_Patient_93\Final_Prediction_93_wp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H:\Modular_Projects\Liver_Disease_Ablation_Segmentation\Deep_Learning\Evaluate_Model\Test_Output_93\Final_Prediction_93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H:\Modular_Projects\Liver_Disease_Ablation_Segmentation\Deep_Learning\Evaluate_Model\Test_Output_93\Final_Prediction_93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CLM Site Likert Score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GTV!$E$1</c:f>
              <c:strCache>
                <c:ptCount val="1"/>
                <c:pt idx="0">
                  <c:v>Reviewer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GTV!$E$2:$E$25</c:f>
              <c:numCache>
                <c:formatCode>General</c:formatCode>
                <c:ptCount val="24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5</c:v>
                </c:pt>
                <c:pt idx="12">
                  <c:v>5</c:v>
                </c:pt>
                <c:pt idx="13">
                  <c:v>5</c:v>
                </c:pt>
                <c:pt idx="14">
                  <c:v>5</c:v>
                </c:pt>
                <c:pt idx="15">
                  <c:v>5</c:v>
                </c:pt>
                <c:pt idx="16">
                  <c:v>5</c:v>
                </c:pt>
                <c:pt idx="17">
                  <c:v>5</c:v>
                </c:pt>
                <c:pt idx="18">
                  <c:v>5</c:v>
                </c:pt>
                <c:pt idx="19">
                  <c:v>5</c:v>
                </c:pt>
                <c:pt idx="20">
                  <c:v>5</c:v>
                </c:pt>
                <c:pt idx="21">
                  <c:v>5</c:v>
                </c:pt>
                <c:pt idx="22">
                  <c:v>5</c:v>
                </c:pt>
                <c:pt idx="2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85-4746-B3FE-843F733C8855}"/>
            </c:ext>
          </c:extLst>
        </c:ser>
        <c:ser>
          <c:idx val="1"/>
          <c:order val="1"/>
          <c:tx>
            <c:strRef>
              <c:f>GTV!$F$1</c:f>
              <c:strCache>
                <c:ptCount val="1"/>
                <c:pt idx="0">
                  <c:v>Reviewer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GTV!$F$2:$F$25</c:f>
              <c:numCache>
                <c:formatCode>General</c:formatCode>
                <c:ptCount val="24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4</c:v>
                </c:pt>
                <c:pt idx="9">
                  <c:v>4</c:v>
                </c:pt>
                <c:pt idx="10">
                  <c:v>5</c:v>
                </c:pt>
                <c:pt idx="11">
                  <c:v>4</c:v>
                </c:pt>
                <c:pt idx="12">
                  <c:v>5</c:v>
                </c:pt>
                <c:pt idx="13">
                  <c:v>5</c:v>
                </c:pt>
                <c:pt idx="14">
                  <c:v>5</c:v>
                </c:pt>
                <c:pt idx="15">
                  <c:v>5</c:v>
                </c:pt>
                <c:pt idx="16">
                  <c:v>5</c:v>
                </c:pt>
                <c:pt idx="17">
                  <c:v>5</c:v>
                </c:pt>
                <c:pt idx="18">
                  <c:v>4</c:v>
                </c:pt>
                <c:pt idx="19">
                  <c:v>5</c:v>
                </c:pt>
                <c:pt idx="20">
                  <c:v>4</c:v>
                </c:pt>
                <c:pt idx="21">
                  <c:v>5</c:v>
                </c:pt>
                <c:pt idx="22">
                  <c:v>5</c:v>
                </c:pt>
                <c:pt idx="2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185-4746-B3FE-843F733C8855}"/>
            </c:ext>
          </c:extLst>
        </c:ser>
        <c:ser>
          <c:idx val="2"/>
          <c:order val="2"/>
          <c:tx>
            <c:strRef>
              <c:f>GTV!$G$1</c:f>
              <c:strCache>
                <c:ptCount val="1"/>
                <c:pt idx="0">
                  <c:v>Reviewer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GTV!$G$2:$G$25</c:f>
              <c:numCache>
                <c:formatCode>General</c:formatCode>
                <c:ptCount val="24"/>
                <c:pt idx="0">
                  <c:v>4</c:v>
                </c:pt>
                <c:pt idx="1">
                  <c:v>4</c:v>
                </c:pt>
                <c:pt idx="2">
                  <c:v>5</c:v>
                </c:pt>
                <c:pt idx="3">
                  <c:v>5</c:v>
                </c:pt>
                <c:pt idx="4">
                  <c:v>4</c:v>
                </c:pt>
                <c:pt idx="5">
                  <c:v>5</c:v>
                </c:pt>
                <c:pt idx="6">
                  <c:v>4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  <c:pt idx="10">
                  <c:v>4</c:v>
                </c:pt>
                <c:pt idx="11">
                  <c:v>4</c:v>
                </c:pt>
                <c:pt idx="12">
                  <c:v>4</c:v>
                </c:pt>
                <c:pt idx="13">
                  <c:v>5</c:v>
                </c:pt>
                <c:pt idx="14">
                  <c:v>5</c:v>
                </c:pt>
                <c:pt idx="15">
                  <c:v>5</c:v>
                </c:pt>
                <c:pt idx="16">
                  <c:v>5</c:v>
                </c:pt>
                <c:pt idx="17">
                  <c:v>4</c:v>
                </c:pt>
                <c:pt idx="18">
                  <c:v>4</c:v>
                </c:pt>
                <c:pt idx="19">
                  <c:v>5</c:v>
                </c:pt>
                <c:pt idx="20">
                  <c:v>4</c:v>
                </c:pt>
                <c:pt idx="21">
                  <c:v>5</c:v>
                </c:pt>
                <c:pt idx="22">
                  <c:v>5</c:v>
                </c:pt>
                <c:pt idx="2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185-4746-B3FE-843F733C88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728639"/>
        <c:axId val="90738623"/>
      </c:barChart>
      <c:catAx>
        <c:axId val="9072863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/>
                  <a:t>CLM Site #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738623"/>
        <c:crosses val="autoZero"/>
        <c:auto val="1"/>
        <c:lblAlgn val="ctr"/>
        <c:lblOffset val="100"/>
        <c:noMultiLvlLbl val="0"/>
      </c:catAx>
      <c:valAx>
        <c:axId val="90738623"/>
        <c:scaling>
          <c:orientation val="minMax"/>
          <c:max val="5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/>
                  <a:t>Qualitative Score (1-5)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728639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Ablation Site Likert Score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Ablation!$E$1</c:f>
              <c:strCache>
                <c:ptCount val="1"/>
                <c:pt idx="0">
                  <c:v>Reviewer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Ablation!$E$2:$E$20</c:f>
              <c:numCache>
                <c:formatCode>General</c:formatCode>
                <c:ptCount val="19"/>
                <c:pt idx="0">
                  <c:v>5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4</c:v>
                </c:pt>
                <c:pt idx="6">
                  <c:v>3</c:v>
                </c:pt>
                <c:pt idx="7">
                  <c:v>5</c:v>
                </c:pt>
                <c:pt idx="8">
                  <c:v>5</c:v>
                </c:pt>
                <c:pt idx="9">
                  <c:v>4</c:v>
                </c:pt>
                <c:pt idx="10">
                  <c:v>5</c:v>
                </c:pt>
                <c:pt idx="11">
                  <c:v>5</c:v>
                </c:pt>
                <c:pt idx="12">
                  <c:v>4</c:v>
                </c:pt>
                <c:pt idx="13">
                  <c:v>4</c:v>
                </c:pt>
                <c:pt idx="14">
                  <c:v>4</c:v>
                </c:pt>
                <c:pt idx="15">
                  <c:v>5</c:v>
                </c:pt>
                <c:pt idx="16">
                  <c:v>5</c:v>
                </c:pt>
                <c:pt idx="17">
                  <c:v>5</c:v>
                </c:pt>
                <c:pt idx="18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95F-441A-B631-636CA358065F}"/>
            </c:ext>
          </c:extLst>
        </c:ser>
        <c:ser>
          <c:idx val="1"/>
          <c:order val="1"/>
          <c:tx>
            <c:strRef>
              <c:f>Ablation!$F$1</c:f>
              <c:strCache>
                <c:ptCount val="1"/>
                <c:pt idx="0">
                  <c:v>Reviewer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val>
            <c:numRef>
              <c:f>Ablation!$F$2:$F$20</c:f>
              <c:numCache>
                <c:formatCode>General</c:formatCode>
                <c:ptCount val="19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5</c:v>
                </c:pt>
                <c:pt idx="4">
                  <c:v>4</c:v>
                </c:pt>
                <c:pt idx="5">
                  <c:v>4</c:v>
                </c:pt>
                <c:pt idx="6">
                  <c:v>2</c:v>
                </c:pt>
                <c:pt idx="7">
                  <c:v>5</c:v>
                </c:pt>
                <c:pt idx="8">
                  <c:v>4</c:v>
                </c:pt>
                <c:pt idx="9">
                  <c:v>4</c:v>
                </c:pt>
                <c:pt idx="10">
                  <c:v>4</c:v>
                </c:pt>
                <c:pt idx="11">
                  <c:v>5</c:v>
                </c:pt>
                <c:pt idx="12">
                  <c:v>4</c:v>
                </c:pt>
                <c:pt idx="13">
                  <c:v>4</c:v>
                </c:pt>
                <c:pt idx="14">
                  <c:v>3</c:v>
                </c:pt>
                <c:pt idx="15">
                  <c:v>3</c:v>
                </c:pt>
                <c:pt idx="16">
                  <c:v>5</c:v>
                </c:pt>
                <c:pt idx="17">
                  <c:v>5</c:v>
                </c:pt>
                <c:pt idx="18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95F-441A-B631-636CA358065F}"/>
            </c:ext>
          </c:extLst>
        </c:ser>
        <c:ser>
          <c:idx val="2"/>
          <c:order val="2"/>
          <c:tx>
            <c:strRef>
              <c:f>Ablation!$G$1</c:f>
              <c:strCache>
                <c:ptCount val="1"/>
                <c:pt idx="0">
                  <c:v>Reviewer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val>
            <c:numRef>
              <c:f>Ablation!$G$2:$G$20</c:f>
              <c:numCache>
                <c:formatCode>General</c:formatCode>
                <c:ptCount val="19"/>
                <c:pt idx="0">
                  <c:v>4</c:v>
                </c:pt>
                <c:pt idx="1">
                  <c:v>4</c:v>
                </c:pt>
                <c:pt idx="2">
                  <c:v>3</c:v>
                </c:pt>
                <c:pt idx="3">
                  <c:v>5</c:v>
                </c:pt>
                <c:pt idx="4">
                  <c:v>4</c:v>
                </c:pt>
                <c:pt idx="5">
                  <c:v>4</c:v>
                </c:pt>
                <c:pt idx="6">
                  <c:v>2</c:v>
                </c:pt>
                <c:pt idx="7">
                  <c:v>4</c:v>
                </c:pt>
                <c:pt idx="8">
                  <c:v>4</c:v>
                </c:pt>
                <c:pt idx="9">
                  <c:v>3</c:v>
                </c:pt>
                <c:pt idx="10">
                  <c:v>4</c:v>
                </c:pt>
                <c:pt idx="11">
                  <c:v>5</c:v>
                </c:pt>
                <c:pt idx="12">
                  <c:v>4</c:v>
                </c:pt>
                <c:pt idx="13">
                  <c:v>4</c:v>
                </c:pt>
                <c:pt idx="14">
                  <c:v>2</c:v>
                </c:pt>
                <c:pt idx="15">
                  <c:v>3</c:v>
                </c:pt>
                <c:pt idx="16">
                  <c:v>5</c:v>
                </c:pt>
                <c:pt idx="17">
                  <c:v>5</c:v>
                </c:pt>
                <c:pt idx="18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95F-441A-B631-636CA35806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0753599"/>
        <c:axId val="90754431"/>
      </c:barChart>
      <c:catAx>
        <c:axId val="90753599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200"/>
                  <a:t>Ablation Site #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754431"/>
        <c:crosses val="autoZero"/>
        <c:auto val="1"/>
        <c:lblAlgn val="ctr"/>
        <c:lblOffset val="100"/>
        <c:noMultiLvlLbl val="0"/>
      </c:catAx>
      <c:valAx>
        <c:axId val="90754431"/>
        <c:scaling>
          <c:orientation val="minMax"/>
          <c:max val="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400"/>
                  <a:t>Qualitative Score (1-5)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0753599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Dice Similarity Coefficient and Volume (cc) vs Patient Number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DSC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Sheet1!$D$2:$D$26</c:f>
              <c:numCache>
                <c:formatCode>General</c:formatCode>
                <c:ptCount val="25"/>
                <c:pt idx="0">
                  <c:v>0.35153190509099291</c:v>
                </c:pt>
                <c:pt idx="1">
                  <c:v>0.26661739084525632</c:v>
                </c:pt>
                <c:pt idx="2">
                  <c:v>0.55947995666305517</c:v>
                </c:pt>
                <c:pt idx="3">
                  <c:v>0.14034062122452159</c:v>
                </c:pt>
                <c:pt idx="4">
                  <c:v>0.20566753393310561</c:v>
                </c:pt>
                <c:pt idx="5">
                  <c:v>4.2477205222587779E-2</c:v>
                </c:pt>
                <c:pt idx="6">
                  <c:v>0.76026515332157008</c:v>
                </c:pt>
                <c:pt idx="7">
                  <c:v>0.13553102063860481</c:v>
                </c:pt>
                <c:pt idx="8">
                  <c:v>0.45294912201710941</c:v>
                </c:pt>
                <c:pt idx="9">
                  <c:v>0.21133455210237659</c:v>
                </c:pt>
                <c:pt idx="10">
                  <c:v>0.25420853451650788</c:v>
                </c:pt>
                <c:pt idx="11">
                  <c:v>0.74341966729837861</c:v>
                </c:pt>
                <c:pt idx="12">
                  <c:v>0.76670001429183943</c:v>
                </c:pt>
                <c:pt idx="13">
                  <c:v>0.85296706742074346</c:v>
                </c:pt>
                <c:pt idx="14">
                  <c:v>0.60166873779513574</c:v>
                </c:pt>
                <c:pt idx="15">
                  <c:v>0.62983654760875207</c:v>
                </c:pt>
                <c:pt idx="16">
                  <c:v>0.77710688891479196</c:v>
                </c:pt>
                <c:pt idx="17">
                  <c:v>0.50200938760772984</c:v>
                </c:pt>
                <c:pt idx="18">
                  <c:v>0.89737831096865939</c:v>
                </c:pt>
                <c:pt idx="19">
                  <c:v>0.84071104429410615</c:v>
                </c:pt>
                <c:pt idx="20">
                  <c:v>0.86115639176425529</c:v>
                </c:pt>
                <c:pt idx="21">
                  <c:v>0.92999310314768246</c:v>
                </c:pt>
                <c:pt idx="22">
                  <c:v>0.91881198723241631</c:v>
                </c:pt>
                <c:pt idx="23">
                  <c:v>0.91379278000310393</c:v>
                </c:pt>
                <c:pt idx="24">
                  <c:v>0.88651279770052005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70B-4FBE-B907-FF7785176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83635695"/>
        <c:axId val="183651919"/>
      </c:barChart>
      <c:lineChart>
        <c:grouping val="standard"/>
        <c:varyColors val="0"/>
        <c:ser>
          <c:idx val="1"/>
          <c:order val="1"/>
          <c:tx>
            <c:strRef>
              <c:f>Sheet1!$B$1</c:f>
              <c:strCache>
                <c:ptCount val="1"/>
                <c:pt idx="0">
                  <c:v>Volume (cc)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Sheet1!$B$2:$B$26</c:f>
              <c:numCache>
                <c:formatCode>General</c:formatCode>
                <c:ptCount val="25"/>
                <c:pt idx="0">
                  <c:v>0.75302227168536051</c:v>
                </c:pt>
                <c:pt idx="1">
                  <c:v>1.4620907249450681</c:v>
                </c:pt>
                <c:pt idx="2">
                  <c:v>1.5590632438659671</c:v>
                </c:pt>
                <c:pt idx="3">
                  <c:v>3.664251911757018</c:v>
                </c:pt>
                <c:pt idx="4">
                  <c:v>4.6132278442382813</c:v>
                </c:pt>
                <c:pt idx="5">
                  <c:v>5.6914278474145252</c:v>
                </c:pt>
                <c:pt idx="6">
                  <c:v>5.7162810058593747</c:v>
                </c:pt>
                <c:pt idx="7">
                  <c:v>6.3111357029993087</c:v>
                </c:pt>
                <c:pt idx="8">
                  <c:v>6.4644763955862699</c:v>
                </c:pt>
                <c:pt idx="9">
                  <c:v>7.5197804218483038</c:v>
                </c:pt>
                <c:pt idx="10">
                  <c:v>14.5011157392595</c:v>
                </c:pt>
                <c:pt idx="11">
                  <c:v>17.05710504150391</c:v>
                </c:pt>
                <c:pt idx="12">
                  <c:v>18.340905761718751</c:v>
                </c:pt>
                <c:pt idx="13">
                  <c:v>20.555955562591549</c:v>
                </c:pt>
                <c:pt idx="14">
                  <c:v>21.619601585662121</c:v>
                </c:pt>
                <c:pt idx="15">
                  <c:v>27.566293749176658</c:v>
                </c:pt>
                <c:pt idx="16">
                  <c:v>34.439978560630259</c:v>
                </c:pt>
                <c:pt idx="17">
                  <c:v>41.603180938230551</c:v>
                </c:pt>
                <c:pt idx="18">
                  <c:v>86.106643676757813</c:v>
                </c:pt>
                <c:pt idx="19">
                  <c:v>130.3364744699812</c:v>
                </c:pt>
                <c:pt idx="20">
                  <c:v>143.1534977944255</c:v>
                </c:pt>
                <c:pt idx="21">
                  <c:v>224.0138386165971</c:v>
                </c:pt>
                <c:pt idx="22">
                  <c:v>552.39395093128951</c:v>
                </c:pt>
                <c:pt idx="23">
                  <c:v>690.27792794037646</c:v>
                </c:pt>
                <c:pt idx="24">
                  <c:v>1035.732231447708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0B-4FBE-B907-FF7785176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3639023"/>
        <c:axId val="183629039"/>
      </c:lineChart>
      <c:catAx>
        <c:axId val="18363569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Patient Number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51919"/>
        <c:crosses val="autoZero"/>
        <c:auto val="1"/>
        <c:lblAlgn val="ctr"/>
        <c:lblOffset val="100"/>
        <c:noMultiLvlLbl val="0"/>
      </c:catAx>
      <c:valAx>
        <c:axId val="18365191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Dice Similarity Coefficient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35695"/>
        <c:crosses val="autoZero"/>
        <c:crossBetween val="between"/>
      </c:valAx>
      <c:valAx>
        <c:axId val="183629039"/>
        <c:scaling>
          <c:logBase val="10"/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Volume (cc)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39023"/>
        <c:crosses val="max"/>
        <c:crossBetween val="between"/>
      </c:valAx>
      <c:catAx>
        <c:axId val="183639023"/>
        <c:scaling>
          <c:orientation val="minMax"/>
        </c:scaling>
        <c:delete val="1"/>
        <c:axPos val="b"/>
        <c:majorTickMark val="none"/>
        <c:minorTickMark val="none"/>
        <c:tickLblPos val="nextTo"/>
        <c:crossAx val="183629039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 dirty="0"/>
              <a:t>Median Surface </a:t>
            </a:r>
            <a:r>
              <a:rPr lang="en-US" sz="1600" dirty="0" smtClean="0"/>
              <a:t>Distance (mm) </a:t>
            </a:r>
            <a:r>
              <a:rPr lang="en-US" sz="1600" dirty="0"/>
              <a:t>and Volume (cc) vs Patient Number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Sheet1!$I$1</c:f>
              <c:strCache>
                <c:ptCount val="1"/>
                <c:pt idx="0">
                  <c:v>Median Surface Distance (mm)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Sheet1!$I$2:$I$26</c:f>
              <c:numCache>
                <c:formatCode>General</c:formatCode>
                <c:ptCount val="25"/>
                <c:pt idx="0">
                  <c:v>1.870400667190552</c:v>
                </c:pt>
                <c:pt idx="1">
                  <c:v>61.091695785522461</c:v>
                </c:pt>
                <c:pt idx="2">
                  <c:v>1</c:v>
                </c:pt>
                <c:pt idx="3">
                  <c:v>72.0618896484375</c:v>
                </c:pt>
                <c:pt idx="4">
                  <c:v>65.9793701171875</c:v>
                </c:pt>
                <c:pt idx="5">
                  <c:v>46.143035888671882</c:v>
                </c:pt>
                <c:pt idx="6">
                  <c:v>0.671875</c:v>
                </c:pt>
                <c:pt idx="7">
                  <c:v>27.701068878173832</c:v>
                </c:pt>
                <c:pt idx="8">
                  <c:v>1.5940718650817871</c:v>
                </c:pt>
                <c:pt idx="9">
                  <c:v>108.6973876953125</c:v>
                </c:pt>
                <c:pt idx="10">
                  <c:v>45.002386093139648</c:v>
                </c:pt>
                <c:pt idx="11">
                  <c:v>1</c:v>
                </c:pt>
                <c:pt idx="12">
                  <c:v>1</c:v>
                </c:pt>
                <c:pt idx="13">
                  <c:v>0.748046875</c:v>
                </c:pt>
                <c:pt idx="14">
                  <c:v>2.35546875</c:v>
                </c:pt>
                <c:pt idx="15">
                  <c:v>2.1431841850280762</c:v>
                </c:pt>
                <c:pt idx="16">
                  <c:v>0.8359375</c:v>
                </c:pt>
                <c:pt idx="17">
                  <c:v>4.42144775390625</c:v>
                </c:pt>
                <c:pt idx="18">
                  <c:v>0.68359375</c:v>
                </c:pt>
                <c:pt idx="19">
                  <c:v>0.8000030517578125</c:v>
                </c:pt>
                <c:pt idx="20">
                  <c:v>0.99354457855224609</c:v>
                </c:pt>
                <c:pt idx="21">
                  <c:v>0.77734375</c:v>
                </c:pt>
                <c:pt idx="22">
                  <c:v>0.98939508199691772</c:v>
                </c:pt>
                <c:pt idx="23">
                  <c:v>0.99354457855224609</c:v>
                </c:pt>
                <c:pt idx="24">
                  <c:v>1.8046875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9D-416D-BBF1-89949F4D59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83635695"/>
        <c:axId val="183651919"/>
      </c:barChart>
      <c:lineChart>
        <c:grouping val="standard"/>
        <c:varyColors val="0"/>
        <c:ser>
          <c:idx val="1"/>
          <c:order val="1"/>
          <c:tx>
            <c:strRef>
              <c:f>Sheet1!$B$1</c:f>
              <c:strCache>
                <c:ptCount val="1"/>
                <c:pt idx="0">
                  <c:v>Volume (cc)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Sheet1!$B$2:$B$26</c:f>
              <c:numCache>
                <c:formatCode>General</c:formatCode>
                <c:ptCount val="25"/>
                <c:pt idx="0">
                  <c:v>0.75302227168536051</c:v>
                </c:pt>
                <c:pt idx="1">
                  <c:v>1.4620907249450681</c:v>
                </c:pt>
                <c:pt idx="2">
                  <c:v>1.5590632438659671</c:v>
                </c:pt>
                <c:pt idx="3">
                  <c:v>3.664251911757018</c:v>
                </c:pt>
                <c:pt idx="4">
                  <c:v>4.6132278442382813</c:v>
                </c:pt>
                <c:pt idx="5">
                  <c:v>5.6914278474145252</c:v>
                </c:pt>
                <c:pt idx="6">
                  <c:v>5.7162810058593747</c:v>
                </c:pt>
                <c:pt idx="7">
                  <c:v>6.3111357029993087</c:v>
                </c:pt>
                <c:pt idx="8">
                  <c:v>6.4644763955862699</c:v>
                </c:pt>
                <c:pt idx="9">
                  <c:v>7.5197804218483038</c:v>
                </c:pt>
                <c:pt idx="10">
                  <c:v>14.5011157392595</c:v>
                </c:pt>
                <c:pt idx="11">
                  <c:v>17.05710504150391</c:v>
                </c:pt>
                <c:pt idx="12">
                  <c:v>18.340905761718751</c:v>
                </c:pt>
                <c:pt idx="13">
                  <c:v>20.555955562591549</c:v>
                </c:pt>
                <c:pt idx="14">
                  <c:v>21.619601585662121</c:v>
                </c:pt>
                <c:pt idx="15">
                  <c:v>27.566293749176658</c:v>
                </c:pt>
                <c:pt idx="16">
                  <c:v>34.439978560630259</c:v>
                </c:pt>
                <c:pt idx="17">
                  <c:v>41.603180938230551</c:v>
                </c:pt>
                <c:pt idx="18">
                  <c:v>86.106643676757813</c:v>
                </c:pt>
                <c:pt idx="19">
                  <c:v>130.3364744699812</c:v>
                </c:pt>
                <c:pt idx="20">
                  <c:v>143.1534977944255</c:v>
                </c:pt>
                <c:pt idx="21">
                  <c:v>224.0138386165971</c:v>
                </c:pt>
                <c:pt idx="22">
                  <c:v>552.39395093128951</c:v>
                </c:pt>
                <c:pt idx="23">
                  <c:v>690.27792794037646</c:v>
                </c:pt>
                <c:pt idx="24">
                  <c:v>1035.732231447708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49D-416D-BBF1-89949F4D59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3639023"/>
        <c:axId val="183629039"/>
      </c:lineChart>
      <c:catAx>
        <c:axId val="18363569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Patient Number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51919"/>
        <c:crossesAt val="0.1"/>
        <c:auto val="1"/>
        <c:lblAlgn val="ctr"/>
        <c:lblOffset val="100"/>
        <c:noMultiLvlLbl val="0"/>
      </c:catAx>
      <c:valAx>
        <c:axId val="183651919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Median Surface Distance (mm)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35695"/>
        <c:crosses val="autoZero"/>
        <c:crossBetween val="between"/>
      </c:valAx>
      <c:valAx>
        <c:axId val="183629039"/>
        <c:scaling>
          <c:logBase val="10"/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Volume (cc)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3639023"/>
        <c:crosses val="max"/>
        <c:crossBetween val="between"/>
      </c:valAx>
      <c:catAx>
        <c:axId val="183639023"/>
        <c:scaling>
          <c:orientation val="minMax"/>
        </c:scaling>
        <c:delete val="1"/>
        <c:axPos val="b"/>
        <c:majorTickMark val="none"/>
        <c:minorTickMark val="none"/>
        <c:tickLblPos val="nextTo"/>
        <c:crossAx val="183629039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Dice Similarity Coefficient (DSC) and Volume (cc) vs Disease Site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Sheet1!$D$1</c:f>
              <c:strCache>
                <c:ptCount val="1"/>
                <c:pt idx="0">
                  <c:v>DSC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Sheet1!$D$2:$D$139</c:f>
              <c:numCache>
                <c:formatCode>General</c:formatCode>
                <c:ptCount val="138"/>
                <c:pt idx="0">
                  <c:v>7.2260600630112433E-6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2.620030130346499E-5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9.0090090090090091E-4</c:v>
                </c:pt>
                <c:pt idx="10">
                  <c:v>1.9552508260934749E-5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0.1240694789081886</c:v>
                </c:pt>
                <c:pt idx="23">
                  <c:v>0.81859410430839008</c:v>
                </c:pt>
                <c:pt idx="24">
                  <c:v>0</c:v>
                </c:pt>
                <c:pt idx="25">
                  <c:v>0</c:v>
                </c:pt>
                <c:pt idx="26">
                  <c:v>0.67269984917043746</c:v>
                </c:pt>
                <c:pt idx="27">
                  <c:v>0</c:v>
                </c:pt>
                <c:pt idx="28">
                  <c:v>2.9215956255027658E-3</c:v>
                </c:pt>
                <c:pt idx="29">
                  <c:v>0</c:v>
                </c:pt>
                <c:pt idx="30">
                  <c:v>0</c:v>
                </c:pt>
                <c:pt idx="31">
                  <c:v>0.59746835443037971</c:v>
                </c:pt>
                <c:pt idx="32">
                  <c:v>0.59687500000000004</c:v>
                </c:pt>
                <c:pt idx="33">
                  <c:v>0</c:v>
                </c:pt>
                <c:pt idx="34">
                  <c:v>0</c:v>
                </c:pt>
                <c:pt idx="35">
                  <c:v>0.65269943593875912</c:v>
                </c:pt>
                <c:pt idx="36">
                  <c:v>0.47800925925925919</c:v>
                </c:pt>
                <c:pt idx="37">
                  <c:v>0</c:v>
                </c:pt>
                <c:pt idx="38">
                  <c:v>0.2906746031746032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0.50826805918189732</c:v>
                </c:pt>
                <c:pt idx="43">
                  <c:v>0.23347107438016529</c:v>
                </c:pt>
                <c:pt idx="44">
                  <c:v>5.2889468889271906E-3</c:v>
                </c:pt>
                <c:pt idx="45">
                  <c:v>0</c:v>
                </c:pt>
                <c:pt idx="46">
                  <c:v>0</c:v>
                </c:pt>
                <c:pt idx="47">
                  <c:v>0.76724137931034475</c:v>
                </c:pt>
                <c:pt idx="48">
                  <c:v>0</c:v>
                </c:pt>
                <c:pt idx="49">
                  <c:v>0.67274622199062006</c:v>
                </c:pt>
                <c:pt idx="50">
                  <c:v>0.50062656641604009</c:v>
                </c:pt>
                <c:pt idx="51">
                  <c:v>0.76023391812865493</c:v>
                </c:pt>
                <c:pt idx="52">
                  <c:v>0.53638714444033986</c:v>
                </c:pt>
                <c:pt idx="53">
                  <c:v>1.636634220213172E-3</c:v>
                </c:pt>
                <c:pt idx="54">
                  <c:v>0</c:v>
                </c:pt>
                <c:pt idx="55">
                  <c:v>0</c:v>
                </c:pt>
                <c:pt idx="56">
                  <c:v>0.70694087403598971</c:v>
                </c:pt>
                <c:pt idx="57">
                  <c:v>0.45601436265709161</c:v>
                </c:pt>
                <c:pt idx="58">
                  <c:v>0.76239870340356564</c:v>
                </c:pt>
                <c:pt idx="59">
                  <c:v>0</c:v>
                </c:pt>
                <c:pt idx="60">
                  <c:v>0.71850564726324939</c:v>
                </c:pt>
                <c:pt idx="61">
                  <c:v>0.70117647058823529</c:v>
                </c:pt>
                <c:pt idx="62">
                  <c:v>0.77175697865353032</c:v>
                </c:pt>
                <c:pt idx="63">
                  <c:v>0.87617490805067433</c:v>
                </c:pt>
                <c:pt idx="64">
                  <c:v>0.6941223510595762</c:v>
                </c:pt>
                <c:pt idx="65">
                  <c:v>0.6651622002820875</c:v>
                </c:pt>
                <c:pt idx="66">
                  <c:v>0</c:v>
                </c:pt>
                <c:pt idx="67">
                  <c:v>0.52313789485954076</c:v>
                </c:pt>
                <c:pt idx="68">
                  <c:v>0</c:v>
                </c:pt>
                <c:pt idx="69">
                  <c:v>0.7354301572617945</c:v>
                </c:pt>
                <c:pt idx="70">
                  <c:v>0.72973677352097988</c:v>
                </c:pt>
                <c:pt idx="71">
                  <c:v>0.78352059925093631</c:v>
                </c:pt>
                <c:pt idx="72">
                  <c:v>0.69824632130618824</c:v>
                </c:pt>
                <c:pt idx="73">
                  <c:v>0.83910386965376782</c:v>
                </c:pt>
                <c:pt idx="74">
                  <c:v>0.82052505966587108</c:v>
                </c:pt>
                <c:pt idx="75">
                  <c:v>0.83609198769591331</c:v>
                </c:pt>
                <c:pt idx="76">
                  <c:v>0.82856499211534129</c:v>
                </c:pt>
                <c:pt idx="77">
                  <c:v>0</c:v>
                </c:pt>
                <c:pt idx="78">
                  <c:v>7.0084541215422139E-2</c:v>
                </c:pt>
                <c:pt idx="79">
                  <c:v>0.8026294165981922</c:v>
                </c:pt>
                <c:pt idx="80">
                  <c:v>0.68838219326818673</c:v>
                </c:pt>
                <c:pt idx="81">
                  <c:v>0.80971659919028349</c:v>
                </c:pt>
                <c:pt idx="82">
                  <c:v>0.44381223328591751</c:v>
                </c:pt>
                <c:pt idx="83">
                  <c:v>0.81335259187931308</c:v>
                </c:pt>
                <c:pt idx="84">
                  <c:v>0.50872148744489176</c:v>
                </c:pt>
                <c:pt idx="85">
                  <c:v>0</c:v>
                </c:pt>
                <c:pt idx="86">
                  <c:v>0.72056289488799552</c:v>
                </c:pt>
                <c:pt idx="87">
                  <c:v>1.4641775790073379E-2</c:v>
                </c:pt>
                <c:pt idx="88">
                  <c:v>0.70936749399519616</c:v>
                </c:pt>
                <c:pt idx="89">
                  <c:v>0.80280000000000007</c:v>
                </c:pt>
                <c:pt idx="90">
                  <c:v>0.80675675675675673</c:v>
                </c:pt>
                <c:pt idx="91">
                  <c:v>0.54723926380368093</c:v>
                </c:pt>
                <c:pt idx="92">
                  <c:v>0.38101582014987512</c:v>
                </c:pt>
                <c:pt idx="93">
                  <c:v>0.86290792540792538</c:v>
                </c:pt>
                <c:pt idx="94">
                  <c:v>0.78538102643856911</c:v>
                </c:pt>
                <c:pt idx="95">
                  <c:v>0.79758377023022575</c:v>
                </c:pt>
                <c:pt idx="96">
                  <c:v>3.6782680810238011E-3</c:v>
                </c:pt>
                <c:pt idx="97">
                  <c:v>0.81476238624873609</c:v>
                </c:pt>
                <c:pt idx="98">
                  <c:v>0.82832972248014036</c:v>
                </c:pt>
                <c:pt idx="99">
                  <c:v>0.82277530171766244</c:v>
                </c:pt>
                <c:pt idx="100">
                  <c:v>0.84875594073245741</c:v>
                </c:pt>
                <c:pt idx="101">
                  <c:v>0.8004016352291472</c:v>
                </c:pt>
                <c:pt idx="102">
                  <c:v>0.83047016274864383</c:v>
                </c:pt>
                <c:pt idx="103">
                  <c:v>0.27840874582447622</c:v>
                </c:pt>
                <c:pt idx="104">
                  <c:v>0.82811623471334006</c:v>
                </c:pt>
                <c:pt idx="105">
                  <c:v>0.83916008225998484</c:v>
                </c:pt>
                <c:pt idx="106">
                  <c:v>0.83441154516048766</c:v>
                </c:pt>
                <c:pt idx="107">
                  <c:v>0.50611071171818833</c:v>
                </c:pt>
                <c:pt idx="108">
                  <c:v>0.1239969935198164</c:v>
                </c:pt>
                <c:pt idx="109">
                  <c:v>0.78108941418293942</c:v>
                </c:pt>
                <c:pt idx="110">
                  <c:v>0.85292717753450742</c:v>
                </c:pt>
                <c:pt idx="111">
                  <c:v>0.84032870902182566</c:v>
                </c:pt>
                <c:pt idx="112">
                  <c:v>0.85974862047823408</c:v>
                </c:pt>
                <c:pt idx="113">
                  <c:v>0.87683325418331148</c:v>
                </c:pt>
                <c:pt idx="114">
                  <c:v>0.84468829347111984</c:v>
                </c:pt>
                <c:pt idx="115">
                  <c:v>1.7516586983833411E-2</c:v>
                </c:pt>
                <c:pt idx="116">
                  <c:v>0.66536934448611917</c:v>
                </c:pt>
                <c:pt idx="117">
                  <c:v>0.89693102638377831</c:v>
                </c:pt>
                <c:pt idx="118">
                  <c:v>0.85719876819132168</c:v>
                </c:pt>
                <c:pt idx="119">
                  <c:v>0.82882008845769717</c:v>
                </c:pt>
                <c:pt idx="120">
                  <c:v>0.80170426765383818</c:v>
                </c:pt>
                <c:pt idx="121">
                  <c:v>0.78799412756239462</c:v>
                </c:pt>
                <c:pt idx="122">
                  <c:v>0.88905546519576639</c:v>
                </c:pt>
                <c:pt idx="123">
                  <c:v>0.88221728732490612</c:v>
                </c:pt>
                <c:pt idx="124">
                  <c:v>0.81591301180141729</c:v>
                </c:pt>
                <c:pt idx="125">
                  <c:v>0.45200575027382262</c:v>
                </c:pt>
                <c:pt idx="126">
                  <c:v>0.66882177005687371</c:v>
                </c:pt>
                <c:pt idx="127">
                  <c:v>0.56853479677839969</c:v>
                </c:pt>
                <c:pt idx="128">
                  <c:v>0.84388954782862025</c:v>
                </c:pt>
                <c:pt idx="129">
                  <c:v>0.92859880807877992</c:v>
                </c:pt>
                <c:pt idx="130">
                  <c:v>0.90336311784779744</c:v>
                </c:pt>
                <c:pt idx="131">
                  <c:v>0.65802332113837847</c:v>
                </c:pt>
                <c:pt idx="132">
                  <c:v>0.32705601561072412</c:v>
                </c:pt>
                <c:pt idx="133">
                  <c:v>0.43275932951163198</c:v>
                </c:pt>
                <c:pt idx="134">
                  <c:v>0.58134524144328037</c:v>
                </c:pt>
                <c:pt idx="135">
                  <c:v>0.96624928324732295</c:v>
                </c:pt>
                <c:pt idx="136">
                  <c:v>0.92245079799407836</c:v>
                </c:pt>
                <c:pt idx="137">
                  <c:v>0.88376909031277573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900-43F7-BCF7-62B44F2137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116740751"/>
        <c:axId val="2116742831"/>
      </c:barChart>
      <c:lineChart>
        <c:grouping val="standard"/>
        <c:varyColors val="0"/>
        <c:ser>
          <c:idx val="1"/>
          <c:order val="1"/>
          <c:tx>
            <c:strRef>
              <c:f>Sheet1!$B$1</c:f>
              <c:strCache>
                <c:ptCount val="1"/>
                <c:pt idx="0">
                  <c:v>Volume (cc)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Sheet1!$B$2:$B$139</c:f>
              <c:numCache>
                <c:formatCode>General</c:formatCode>
                <c:ptCount val="138"/>
                <c:pt idx="0">
                  <c:v>3.47994607721148E-4</c:v>
                </c:pt>
                <c:pt idx="1">
                  <c:v>3.47994607721148E-4</c:v>
                </c:pt>
                <c:pt idx="2">
                  <c:v>3.47994607721148E-4</c:v>
                </c:pt>
                <c:pt idx="3">
                  <c:v>4.5234000060077049E-4</c:v>
                </c:pt>
                <c:pt idx="4">
                  <c:v>4.8796882991381939E-4</c:v>
                </c:pt>
                <c:pt idx="5">
                  <c:v>5.9217834472656246E-4</c:v>
                </c:pt>
                <c:pt idx="6">
                  <c:v>5.9217834472656246E-4</c:v>
                </c:pt>
                <c:pt idx="7">
                  <c:v>5.9217834472656246E-4</c:v>
                </c:pt>
                <c:pt idx="8">
                  <c:v>6.7291259765625002E-4</c:v>
                </c:pt>
                <c:pt idx="9">
                  <c:v>1.776535034179688E-3</c:v>
                </c:pt>
                <c:pt idx="10">
                  <c:v>1.172483547217981E-2</c:v>
                </c:pt>
                <c:pt idx="11">
                  <c:v>1.538050943054259E-2</c:v>
                </c:pt>
                <c:pt idx="12">
                  <c:v>2.1560790338435259E-2</c:v>
                </c:pt>
                <c:pt idx="13">
                  <c:v>4.248741434306158E-2</c:v>
                </c:pt>
                <c:pt idx="14">
                  <c:v>4.722839788419151E-2</c:v>
                </c:pt>
                <c:pt idx="15">
                  <c:v>6.0105821345938323E-2</c:v>
                </c:pt>
                <c:pt idx="16">
                  <c:v>6.878505606437102E-2</c:v>
                </c:pt>
                <c:pt idx="17">
                  <c:v>8.9388144565754432E-2</c:v>
                </c:pt>
                <c:pt idx="18">
                  <c:v>9.0734619140625E-2</c:v>
                </c:pt>
                <c:pt idx="19">
                  <c:v>9.3992002075538039E-2</c:v>
                </c:pt>
                <c:pt idx="20">
                  <c:v>9.5552844190978869E-2</c:v>
                </c:pt>
                <c:pt idx="21">
                  <c:v>0.1118069816846682</c:v>
                </c:pt>
                <c:pt idx="22">
                  <c:v>0.13870574156755</c:v>
                </c:pt>
                <c:pt idx="23">
                  <c:v>0.15092553236904679</c:v>
                </c:pt>
                <c:pt idx="24">
                  <c:v>0.16106811264762649</c:v>
                </c:pt>
                <c:pt idx="25">
                  <c:v>0.16193155978525681</c:v>
                </c:pt>
                <c:pt idx="26">
                  <c:v>0.1646517602186805</c:v>
                </c:pt>
                <c:pt idx="27">
                  <c:v>0.1691856037359685</c:v>
                </c:pt>
                <c:pt idx="28">
                  <c:v>0.17274096578949211</c:v>
                </c:pt>
                <c:pt idx="29">
                  <c:v>0.1794392766896635</c:v>
                </c:pt>
                <c:pt idx="30">
                  <c:v>0.186404093027079</c:v>
                </c:pt>
                <c:pt idx="31">
                  <c:v>0.18891359153676601</c:v>
                </c:pt>
                <c:pt idx="32">
                  <c:v>0.18926571327028799</c:v>
                </c:pt>
                <c:pt idx="33">
                  <c:v>0.19897192382812501</c:v>
                </c:pt>
                <c:pt idx="34">
                  <c:v>0.20343508763240661</c:v>
                </c:pt>
                <c:pt idx="35">
                  <c:v>0.21003428292216089</c:v>
                </c:pt>
                <c:pt idx="36">
                  <c:v>0.2322232627868652</c:v>
                </c:pt>
                <c:pt idx="37">
                  <c:v>0.25583503444681438</c:v>
                </c:pt>
                <c:pt idx="38">
                  <c:v>0.26877564632438589</c:v>
                </c:pt>
                <c:pt idx="39">
                  <c:v>0.27124678350987552</c:v>
                </c:pt>
                <c:pt idx="40">
                  <c:v>0.27343127876520162</c:v>
                </c:pt>
                <c:pt idx="41">
                  <c:v>0.32518790523058938</c:v>
                </c:pt>
                <c:pt idx="42">
                  <c:v>0.3425770020440268</c:v>
                </c:pt>
                <c:pt idx="43">
                  <c:v>0.36528709897538653</c:v>
                </c:pt>
                <c:pt idx="44">
                  <c:v>0.38549537563191738</c:v>
                </c:pt>
                <c:pt idx="45">
                  <c:v>0.3969025905826129</c:v>
                </c:pt>
                <c:pt idx="46">
                  <c:v>0.43224251107053541</c:v>
                </c:pt>
                <c:pt idx="47">
                  <c:v>0.44324707936275048</c:v>
                </c:pt>
                <c:pt idx="48">
                  <c:v>0.44880064668510478</c:v>
                </c:pt>
                <c:pt idx="49">
                  <c:v>0.45311883187441709</c:v>
                </c:pt>
                <c:pt idx="50">
                  <c:v>0.47315049743652338</c:v>
                </c:pt>
                <c:pt idx="51">
                  <c:v>0.48424662536097463</c:v>
                </c:pt>
                <c:pt idx="52">
                  <c:v>0.49257202148437501</c:v>
                </c:pt>
                <c:pt idx="53">
                  <c:v>0.50342734266409939</c:v>
                </c:pt>
                <c:pt idx="54">
                  <c:v>0.53718505859374999</c:v>
                </c:pt>
                <c:pt idx="55">
                  <c:v>0.54403474192605716</c:v>
                </c:pt>
                <c:pt idx="56">
                  <c:v>0.58119242605705446</c:v>
                </c:pt>
                <c:pt idx="57">
                  <c:v>0.58776289244101898</c:v>
                </c:pt>
                <c:pt idx="58">
                  <c:v>0.64381248543020508</c:v>
                </c:pt>
                <c:pt idx="59">
                  <c:v>0.65654051008640313</c:v>
                </c:pt>
                <c:pt idx="60">
                  <c:v>0.694610595703125</c:v>
                </c:pt>
                <c:pt idx="61">
                  <c:v>0.70133470329473679</c:v>
                </c:pt>
                <c:pt idx="62">
                  <c:v>0.74327046689104459</c:v>
                </c:pt>
                <c:pt idx="63">
                  <c:v>0.76577453613281254</c:v>
                </c:pt>
                <c:pt idx="64">
                  <c:v>0.7996314277648926</c:v>
                </c:pt>
                <c:pt idx="65">
                  <c:v>0.8074951171875</c:v>
                </c:pt>
                <c:pt idx="66">
                  <c:v>0.8337756243116059</c:v>
                </c:pt>
                <c:pt idx="67">
                  <c:v>0.84075497225429352</c:v>
                </c:pt>
                <c:pt idx="68">
                  <c:v>0.86771707370644435</c:v>
                </c:pt>
                <c:pt idx="69">
                  <c:v>0.91938029098510743</c:v>
                </c:pt>
                <c:pt idx="70">
                  <c:v>0.94947967529296873</c:v>
                </c:pt>
                <c:pt idx="71">
                  <c:v>0.96465852355957027</c:v>
                </c:pt>
                <c:pt idx="72">
                  <c:v>1.0084883731758869</c:v>
                </c:pt>
                <c:pt idx="73">
                  <c:v>1.0132171478271479</c:v>
                </c:pt>
                <c:pt idx="74">
                  <c:v>1.017305763244629</c:v>
                </c:pt>
                <c:pt idx="75">
                  <c:v>1.0486073269359619</c:v>
                </c:pt>
                <c:pt idx="76">
                  <c:v>1.1375683593749999</c:v>
                </c:pt>
                <c:pt idx="77">
                  <c:v>1.280122201700181</c:v>
                </c:pt>
                <c:pt idx="78">
                  <c:v>1.365824754928781</c:v>
                </c:pt>
                <c:pt idx="79">
                  <c:v>1.4620907249450681</c:v>
                </c:pt>
                <c:pt idx="80">
                  <c:v>1.5348049303986271</c:v>
                </c:pt>
                <c:pt idx="81">
                  <c:v>1.5590632438659671</c:v>
                </c:pt>
                <c:pt idx="82">
                  <c:v>1.569270088033677</c:v>
                </c:pt>
                <c:pt idx="83">
                  <c:v>1.5867272949218749</c:v>
                </c:pt>
                <c:pt idx="84">
                  <c:v>1.6504141091718341</c:v>
                </c:pt>
                <c:pt idx="85">
                  <c:v>1.7569393931889661</c:v>
                </c:pt>
                <c:pt idx="86">
                  <c:v>1.880267277883831</c:v>
                </c:pt>
                <c:pt idx="87">
                  <c:v>1.968387241934852</c:v>
                </c:pt>
                <c:pt idx="88">
                  <c:v>2.0074435347929058</c:v>
                </c:pt>
                <c:pt idx="89">
                  <c:v>2.0201086978212639</c:v>
                </c:pt>
                <c:pt idx="90">
                  <c:v>2.1090862454153321</c:v>
                </c:pt>
                <c:pt idx="91">
                  <c:v>2.1873331953099879</c:v>
                </c:pt>
                <c:pt idx="92">
                  <c:v>2.277315440484502</c:v>
                </c:pt>
                <c:pt idx="93">
                  <c:v>2.3044202923294419</c:v>
                </c:pt>
                <c:pt idx="94">
                  <c:v>2.322864006538663</c:v>
                </c:pt>
                <c:pt idx="95">
                  <c:v>2.3640656738281249</c:v>
                </c:pt>
                <c:pt idx="96">
                  <c:v>2.4179216262628569</c:v>
                </c:pt>
                <c:pt idx="97">
                  <c:v>2.8076204950942221</c:v>
                </c:pt>
                <c:pt idx="98">
                  <c:v>2.8429442117679629</c:v>
                </c:pt>
                <c:pt idx="99">
                  <c:v>2.9797701385886279</c:v>
                </c:pt>
                <c:pt idx="100">
                  <c:v>3.6552238464355469</c:v>
                </c:pt>
                <c:pt idx="101">
                  <c:v>3.9186172485351558</c:v>
                </c:pt>
                <c:pt idx="102">
                  <c:v>4.1176336343413578</c:v>
                </c:pt>
                <c:pt idx="103">
                  <c:v>4.3050085505983207</c:v>
                </c:pt>
                <c:pt idx="104">
                  <c:v>4.3844884643554689</c:v>
                </c:pt>
                <c:pt idx="105">
                  <c:v>4.4016100845336918</c:v>
                </c:pt>
                <c:pt idx="106">
                  <c:v>4.6222366333007816</c:v>
                </c:pt>
                <c:pt idx="107">
                  <c:v>5.9505103338146252</c:v>
                </c:pt>
                <c:pt idx="108">
                  <c:v>6.4681757737129777</c:v>
                </c:pt>
                <c:pt idx="109">
                  <c:v>6.6688258646764904</c:v>
                </c:pt>
                <c:pt idx="110">
                  <c:v>7.3344513791107824</c:v>
                </c:pt>
                <c:pt idx="111">
                  <c:v>9.0544025745484014</c:v>
                </c:pt>
                <c:pt idx="112">
                  <c:v>10.019065414428709</c:v>
                </c:pt>
                <c:pt idx="113">
                  <c:v>10.70267486572266</c:v>
                </c:pt>
                <c:pt idx="114">
                  <c:v>10.779132974162559</c:v>
                </c:pt>
                <c:pt idx="115">
                  <c:v>10.815509343337411</c:v>
                </c:pt>
                <c:pt idx="116">
                  <c:v>13.05588943734004</c:v>
                </c:pt>
                <c:pt idx="117">
                  <c:v>13.18580473327637</c:v>
                </c:pt>
                <c:pt idx="118">
                  <c:v>14.51276712040276</c:v>
                </c:pt>
                <c:pt idx="119">
                  <c:v>22.775550704872519</c:v>
                </c:pt>
                <c:pt idx="120">
                  <c:v>25.62763497824389</c:v>
                </c:pt>
                <c:pt idx="121">
                  <c:v>30.322344926288899</c:v>
                </c:pt>
                <c:pt idx="122">
                  <c:v>33.913814495464472</c:v>
                </c:pt>
                <c:pt idx="123">
                  <c:v>39.791443419874668</c:v>
                </c:pt>
                <c:pt idx="124">
                  <c:v>41.393146655308392</c:v>
                </c:pt>
                <c:pt idx="125">
                  <c:v>43.86107827680366</c:v>
                </c:pt>
                <c:pt idx="126">
                  <c:v>58.736808056726453</c:v>
                </c:pt>
                <c:pt idx="127">
                  <c:v>65.077427606108728</c:v>
                </c:pt>
                <c:pt idx="128">
                  <c:v>70.919561080531352</c:v>
                </c:pt>
                <c:pt idx="129">
                  <c:v>78.259115351978096</c:v>
                </c:pt>
                <c:pt idx="130">
                  <c:v>82.451419830322266</c:v>
                </c:pt>
                <c:pt idx="131">
                  <c:v>94.065030434672636</c:v>
                </c:pt>
                <c:pt idx="132">
                  <c:v>98.314392589555553</c:v>
                </c:pt>
                <c:pt idx="133">
                  <c:v>128.61428308383589</c:v>
                </c:pt>
                <c:pt idx="134">
                  <c:v>180.8232180910243</c:v>
                </c:pt>
                <c:pt idx="135">
                  <c:v>224.0138386165971</c:v>
                </c:pt>
                <c:pt idx="136">
                  <c:v>546.36240539280402</c:v>
                </c:pt>
                <c:pt idx="137">
                  <c:v>1013.182115935964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900-43F7-BCF7-62B44F2137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6720367"/>
        <c:axId val="2116734511"/>
      </c:lineChart>
      <c:catAx>
        <c:axId val="211674075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Disease Site #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42831"/>
        <c:crosses val="autoZero"/>
        <c:auto val="1"/>
        <c:lblAlgn val="ctr"/>
        <c:lblOffset val="100"/>
        <c:noMultiLvlLbl val="0"/>
      </c:catAx>
      <c:valAx>
        <c:axId val="2116742831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Dice Similarity Coefficient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40751"/>
        <c:crosses val="autoZero"/>
        <c:crossBetween val="between"/>
      </c:valAx>
      <c:valAx>
        <c:axId val="2116734511"/>
        <c:scaling>
          <c:logBase val="10"/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Volume (cc)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20367"/>
        <c:crosses val="max"/>
        <c:crossBetween val="between"/>
      </c:valAx>
      <c:catAx>
        <c:axId val="2116720367"/>
        <c:scaling>
          <c:orientation val="minMax"/>
        </c:scaling>
        <c:delete val="1"/>
        <c:axPos val="b"/>
        <c:majorTickMark val="none"/>
        <c:minorTickMark val="none"/>
        <c:tickLblPos val="nextTo"/>
        <c:crossAx val="2116734511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807822295146288"/>
          <c:y val="0.90595496615554638"/>
          <c:w val="0.22686344274915807"/>
          <c:h val="5.7553805774278217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/>
              <a:t>Median Surface</a:t>
            </a:r>
            <a:r>
              <a:rPr lang="en-US" sz="1600" baseline="0"/>
              <a:t> Distance (mm)</a:t>
            </a:r>
            <a:r>
              <a:rPr lang="en-US" sz="1600"/>
              <a:t> and Volume (cc) vs Disease Site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Sheet1!$I$1</c:f>
              <c:strCache>
                <c:ptCount val="1"/>
                <c:pt idx="0">
                  <c:v>Median Surface Distance (mm)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val>
            <c:numRef>
              <c:f>Sheet1!$I$2:$I$139</c:f>
              <c:numCache>
                <c:formatCode>General</c:formatCode>
                <c:ptCount val="138"/>
                <c:pt idx="0">
                  <c:v>49.814247131347663</c:v>
                </c:pt>
                <c:pt idx="1">
                  <c:v>44.972061157226563</c:v>
                </c:pt>
                <c:pt idx="2">
                  <c:v>12.51912307739258</c:v>
                </c:pt>
                <c:pt idx="3">
                  <c:v>27.828107833862301</c:v>
                </c:pt>
                <c:pt idx="4">
                  <c:v>36.161188125610352</c:v>
                </c:pt>
                <c:pt idx="5">
                  <c:v>10.38369846343994</c:v>
                </c:pt>
                <c:pt idx="6">
                  <c:v>9.8801116943359375</c:v>
                </c:pt>
                <c:pt idx="7">
                  <c:v>9.7684049606323242</c:v>
                </c:pt>
                <c:pt idx="8">
                  <c:v>9.2261924743652344</c:v>
                </c:pt>
                <c:pt idx="9">
                  <c:v>9.8844985961914063</c:v>
                </c:pt>
                <c:pt idx="10">
                  <c:v>72.403587341308594</c:v>
                </c:pt>
                <c:pt idx="11">
                  <c:v>3.5860588550567631</c:v>
                </c:pt>
                <c:pt idx="12">
                  <c:v>24.96844482421875</c:v>
                </c:pt>
                <c:pt idx="13">
                  <c:v>32.787639617919922</c:v>
                </c:pt>
                <c:pt idx="14">
                  <c:v>36.118076324462891</c:v>
                </c:pt>
                <c:pt idx="15">
                  <c:v>29.377811431884769</c:v>
                </c:pt>
                <c:pt idx="16">
                  <c:v>27.440340042114261</c:v>
                </c:pt>
                <c:pt idx="17">
                  <c:v>28.022886276245121</c:v>
                </c:pt>
                <c:pt idx="18">
                  <c:v>26.218715667724609</c:v>
                </c:pt>
                <c:pt idx="19">
                  <c:v>23.586151123046879</c:v>
                </c:pt>
                <c:pt idx="20">
                  <c:v>54.680564880371087</c:v>
                </c:pt>
                <c:pt idx="21">
                  <c:v>30.835391998291019</c:v>
                </c:pt>
                <c:pt idx="22">
                  <c:v>5.0612716674804688</c:v>
                </c:pt>
                <c:pt idx="23">
                  <c:v>0</c:v>
                </c:pt>
                <c:pt idx="24">
                  <c:v>29.47147369384766</c:v>
                </c:pt>
                <c:pt idx="25">
                  <c:v>17.878181457519531</c:v>
                </c:pt>
                <c:pt idx="26">
                  <c:v>0.751953125</c:v>
                </c:pt>
                <c:pt idx="27">
                  <c:v>29.44194412231445</c:v>
                </c:pt>
                <c:pt idx="28">
                  <c:v>48.746227264404297</c:v>
                </c:pt>
                <c:pt idx="29">
                  <c:v>74.526908874511719</c:v>
                </c:pt>
                <c:pt idx="30">
                  <c:v>58.037521362304688</c:v>
                </c:pt>
                <c:pt idx="31">
                  <c:v>0.69921875</c:v>
                </c:pt>
                <c:pt idx="32">
                  <c:v>0.699981689453125</c:v>
                </c:pt>
                <c:pt idx="33">
                  <c:v>15.59615516662598</c:v>
                </c:pt>
                <c:pt idx="34">
                  <c:v>32.905433654785163</c:v>
                </c:pt>
                <c:pt idx="35">
                  <c:v>0.85546875</c:v>
                </c:pt>
                <c:pt idx="36">
                  <c:v>1.248829126358032</c:v>
                </c:pt>
                <c:pt idx="37">
                  <c:v>53.002334594726563</c:v>
                </c:pt>
                <c:pt idx="38">
                  <c:v>1.870400667190552</c:v>
                </c:pt>
                <c:pt idx="39">
                  <c:v>40.628318786621087</c:v>
                </c:pt>
                <c:pt idx="40">
                  <c:v>13.11070346832275</c:v>
                </c:pt>
                <c:pt idx="41">
                  <c:v>63.452018737792969</c:v>
                </c:pt>
                <c:pt idx="42">
                  <c:v>0.98884463310241699</c:v>
                </c:pt>
                <c:pt idx="43">
                  <c:v>2.0979335308074951</c:v>
                </c:pt>
                <c:pt idx="44">
                  <c:v>60.747489929199219</c:v>
                </c:pt>
                <c:pt idx="45">
                  <c:v>18.417575836181641</c:v>
                </c:pt>
                <c:pt idx="46">
                  <c:v>16.779462814331051</c:v>
                </c:pt>
                <c:pt idx="47">
                  <c:v>0</c:v>
                </c:pt>
                <c:pt idx="48">
                  <c:v>62.800834655761719</c:v>
                </c:pt>
                <c:pt idx="49">
                  <c:v>0.98884463310241699</c:v>
                </c:pt>
                <c:pt idx="50">
                  <c:v>1.72072422504425</c:v>
                </c:pt>
                <c:pt idx="51">
                  <c:v>0</c:v>
                </c:pt>
                <c:pt idx="52">
                  <c:v>1.2934112548828121</c:v>
                </c:pt>
                <c:pt idx="53">
                  <c:v>62.438362121582031</c:v>
                </c:pt>
                <c:pt idx="54">
                  <c:v>11.351387977600099</c:v>
                </c:pt>
                <c:pt idx="55">
                  <c:v>41.219722747802727</c:v>
                </c:pt>
                <c:pt idx="56">
                  <c:v>0.78199958801269531</c:v>
                </c:pt>
                <c:pt idx="57">
                  <c:v>1.5743367671966551</c:v>
                </c:pt>
                <c:pt idx="58">
                  <c:v>0.7819976806640625</c:v>
                </c:pt>
                <c:pt idx="59">
                  <c:v>34.572586059570313</c:v>
                </c:pt>
                <c:pt idx="60">
                  <c:v>0.703125</c:v>
                </c:pt>
                <c:pt idx="61">
                  <c:v>0</c:v>
                </c:pt>
                <c:pt idx="62">
                  <c:v>0.64453125</c:v>
                </c:pt>
                <c:pt idx="63">
                  <c:v>0</c:v>
                </c:pt>
                <c:pt idx="64">
                  <c:v>0.748046875</c:v>
                </c:pt>
                <c:pt idx="65">
                  <c:v>0.8203125</c:v>
                </c:pt>
                <c:pt idx="66">
                  <c:v>41.127765655517578</c:v>
                </c:pt>
                <c:pt idx="67">
                  <c:v>1.41015625</c:v>
                </c:pt>
                <c:pt idx="68">
                  <c:v>38.029090881347663</c:v>
                </c:pt>
                <c:pt idx="69">
                  <c:v>0.748046875</c:v>
                </c:pt>
                <c:pt idx="70">
                  <c:v>0.91015625</c:v>
                </c:pt>
                <c:pt idx="71">
                  <c:v>0.76953125</c:v>
                </c:pt>
                <c:pt idx="72">
                  <c:v>0.6999969482421875</c:v>
                </c:pt>
                <c:pt idx="73">
                  <c:v>0</c:v>
                </c:pt>
                <c:pt idx="74">
                  <c:v>0.748046875</c:v>
                </c:pt>
                <c:pt idx="75">
                  <c:v>0.69921875</c:v>
                </c:pt>
                <c:pt idx="76">
                  <c:v>0</c:v>
                </c:pt>
                <c:pt idx="77">
                  <c:v>16.0262451171875</c:v>
                </c:pt>
                <c:pt idx="78">
                  <c:v>20.705145835876461</c:v>
                </c:pt>
                <c:pt idx="79">
                  <c:v>0</c:v>
                </c:pt>
                <c:pt idx="80">
                  <c:v>0</c:v>
                </c:pt>
                <c:pt idx="81">
                  <c:v>0.693359375</c:v>
                </c:pt>
                <c:pt idx="82">
                  <c:v>2.5500030517578121</c:v>
                </c:pt>
                <c:pt idx="83">
                  <c:v>0.671875</c:v>
                </c:pt>
                <c:pt idx="84">
                  <c:v>1.39996337890625</c:v>
                </c:pt>
                <c:pt idx="85">
                  <c:v>57.004371643066413</c:v>
                </c:pt>
                <c:pt idx="86">
                  <c:v>0.78125</c:v>
                </c:pt>
                <c:pt idx="87">
                  <c:v>54.606897354125977</c:v>
                </c:pt>
                <c:pt idx="88">
                  <c:v>0</c:v>
                </c:pt>
                <c:pt idx="89">
                  <c:v>0.6999969482421875</c:v>
                </c:pt>
                <c:pt idx="90">
                  <c:v>0</c:v>
                </c:pt>
                <c:pt idx="91">
                  <c:v>1.599998474121094</c:v>
                </c:pt>
                <c:pt idx="92">
                  <c:v>1.922913789749146</c:v>
                </c:pt>
                <c:pt idx="93">
                  <c:v>0.6999969482421875</c:v>
                </c:pt>
                <c:pt idx="94">
                  <c:v>0.705078125</c:v>
                </c:pt>
                <c:pt idx="95">
                  <c:v>0.671875</c:v>
                </c:pt>
                <c:pt idx="96">
                  <c:v>103.8153991699219</c:v>
                </c:pt>
                <c:pt idx="97">
                  <c:v>0.705078125</c:v>
                </c:pt>
                <c:pt idx="98">
                  <c:v>0.69921875</c:v>
                </c:pt>
                <c:pt idx="99">
                  <c:v>0.64453125</c:v>
                </c:pt>
                <c:pt idx="100">
                  <c:v>0</c:v>
                </c:pt>
                <c:pt idx="101">
                  <c:v>0.703125</c:v>
                </c:pt>
                <c:pt idx="102">
                  <c:v>0</c:v>
                </c:pt>
                <c:pt idx="103">
                  <c:v>16.690193176269531</c:v>
                </c:pt>
                <c:pt idx="104">
                  <c:v>0.76953125</c:v>
                </c:pt>
                <c:pt idx="105">
                  <c:v>0.748046875</c:v>
                </c:pt>
                <c:pt idx="106">
                  <c:v>0.8203125</c:v>
                </c:pt>
                <c:pt idx="107">
                  <c:v>1.6999969482421879</c:v>
                </c:pt>
                <c:pt idx="108">
                  <c:v>30.243874549865719</c:v>
                </c:pt>
                <c:pt idx="109">
                  <c:v>1.2059091329574581</c:v>
                </c:pt>
                <c:pt idx="110">
                  <c:v>0</c:v>
                </c:pt>
                <c:pt idx="111">
                  <c:v>0.78515625</c:v>
                </c:pt>
                <c:pt idx="112">
                  <c:v>0.76953125</c:v>
                </c:pt>
                <c:pt idx="113">
                  <c:v>0.8203125</c:v>
                </c:pt>
                <c:pt idx="114">
                  <c:v>0.705078125</c:v>
                </c:pt>
                <c:pt idx="115">
                  <c:v>82.758007049560547</c:v>
                </c:pt>
                <c:pt idx="116">
                  <c:v>0.79998779296875</c:v>
                </c:pt>
                <c:pt idx="117">
                  <c:v>0.748046875</c:v>
                </c:pt>
                <c:pt idx="118">
                  <c:v>0.99354457855224609</c:v>
                </c:pt>
                <c:pt idx="119">
                  <c:v>0.677734375</c:v>
                </c:pt>
                <c:pt idx="120">
                  <c:v>1.5619964599609379</c:v>
                </c:pt>
                <c:pt idx="121">
                  <c:v>0.8359375</c:v>
                </c:pt>
                <c:pt idx="122">
                  <c:v>0.705078125</c:v>
                </c:pt>
                <c:pt idx="123">
                  <c:v>0.99354457855224609</c:v>
                </c:pt>
                <c:pt idx="124">
                  <c:v>1.209815502166748</c:v>
                </c:pt>
                <c:pt idx="125">
                  <c:v>2.4697427749633789</c:v>
                </c:pt>
                <c:pt idx="126">
                  <c:v>1.363793730735779</c:v>
                </c:pt>
                <c:pt idx="127">
                  <c:v>1.574338555335999</c:v>
                </c:pt>
                <c:pt idx="128">
                  <c:v>0.99354457855224609</c:v>
                </c:pt>
                <c:pt idx="129">
                  <c:v>0.6999969482421875</c:v>
                </c:pt>
                <c:pt idx="130">
                  <c:v>0.68359375</c:v>
                </c:pt>
                <c:pt idx="131">
                  <c:v>1.41015625</c:v>
                </c:pt>
                <c:pt idx="132">
                  <c:v>33.306331634521477</c:v>
                </c:pt>
                <c:pt idx="133">
                  <c:v>16.415658950805661</c:v>
                </c:pt>
                <c:pt idx="134">
                  <c:v>2.6368074417114258</c:v>
                </c:pt>
                <c:pt idx="135">
                  <c:v>0</c:v>
                </c:pt>
                <c:pt idx="136">
                  <c:v>0.98939508199691772</c:v>
                </c:pt>
                <c:pt idx="137">
                  <c:v>1.8046875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F1-4652-B0C0-324FDE405A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116740751"/>
        <c:axId val="2116742831"/>
      </c:barChart>
      <c:lineChart>
        <c:grouping val="standard"/>
        <c:varyColors val="0"/>
        <c:ser>
          <c:idx val="1"/>
          <c:order val="1"/>
          <c:tx>
            <c:strRef>
              <c:f>Sheet1!$B$1</c:f>
              <c:strCache>
                <c:ptCount val="1"/>
                <c:pt idx="0">
                  <c:v>Volume (cc)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Sheet1!$B$2:$B$139</c:f>
              <c:numCache>
                <c:formatCode>General</c:formatCode>
                <c:ptCount val="138"/>
                <c:pt idx="0">
                  <c:v>3.47994607721148E-4</c:v>
                </c:pt>
                <c:pt idx="1">
                  <c:v>3.47994607721148E-4</c:v>
                </c:pt>
                <c:pt idx="2">
                  <c:v>3.47994607721148E-4</c:v>
                </c:pt>
                <c:pt idx="3">
                  <c:v>4.5234000060077049E-4</c:v>
                </c:pt>
                <c:pt idx="4">
                  <c:v>4.8796882991381939E-4</c:v>
                </c:pt>
                <c:pt idx="5">
                  <c:v>5.9217834472656246E-4</c:v>
                </c:pt>
                <c:pt idx="6">
                  <c:v>5.9217834472656246E-4</c:v>
                </c:pt>
                <c:pt idx="7">
                  <c:v>5.9217834472656246E-4</c:v>
                </c:pt>
                <c:pt idx="8">
                  <c:v>6.7291259765625002E-4</c:v>
                </c:pt>
                <c:pt idx="9">
                  <c:v>1.776535034179688E-3</c:v>
                </c:pt>
                <c:pt idx="10">
                  <c:v>1.172483547217981E-2</c:v>
                </c:pt>
                <c:pt idx="11">
                  <c:v>1.538050943054259E-2</c:v>
                </c:pt>
                <c:pt idx="12">
                  <c:v>2.1560790338435259E-2</c:v>
                </c:pt>
                <c:pt idx="13">
                  <c:v>4.248741434306158E-2</c:v>
                </c:pt>
                <c:pt idx="14">
                  <c:v>4.722839788419151E-2</c:v>
                </c:pt>
                <c:pt idx="15">
                  <c:v>6.0105821345938323E-2</c:v>
                </c:pt>
                <c:pt idx="16">
                  <c:v>6.878505606437102E-2</c:v>
                </c:pt>
                <c:pt idx="17">
                  <c:v>8.9388144565754432E-2</c:v>
                </c:pt>
                <c:pt idx="18">
                  <c:v>9.0734619140625E-2</c:v>
                </c:pt>
                <c:pt idx="19">
                  <c:v>9.3992002075538039E-2</c:v>
                </c:pt>
                <c:pt idx="20">
                  <c:v>9.5552844190978869E-2</c:v>
                </c:pt>
                <c:pt idx="21">
                  <c:v>0.1118069816846682</c:v>
                </c:pt>
                <c:pt idx="22">
                  <c:v>0.13870574156755</c:v>
                </c:pt>
                <c:pt idx="23">
                  <c:v>0.15092553236904679</c:v>
                </c:pt>
                <c:pt idx="24">
                  <c:v>0.16106811264762649</c:v>
                </c:pt>
                <c:pt idx="25">
                  <c:v>0.16193155978525681</c:v>
                </c:pt>
                <c:pt idx="26">
                  <c:v>0.1646517602186805</c:v>
                </c:pt>
                <c:pt idx="27">
                  <c:v>0.1691856037359685</c:v>
                </c:pt>
                <c:pt idx="28">
                  <c:v>0.17274096578949211</c:v>
                </c:pt>
                <c:pt idx="29">
                  <c:v>0.1794392766896635</c:v>
                </c:pt>
                <c:pt idx="30">
                  <c:v>0.186404093027079</c:v>
                </c:pt>
                <c:pt idx="31">
                  <c:v>0.18891359153676601</c:v>
                </c:pt>
                <c:pt idx="32">
                  <c:v>0.18926571327028799</c:v>
                </c:pt>
                <c:pt idx="33">
                  <c:v>0.19897192382812501</c:v>
                </c:pt>
                <c:pt idx="34">
                  <c:v>0.20343508763240661</c:v>
                </c:pt>
                <c:pt idx="35">
                  <c:v>0.21003428292216089</c:v>
                </c:pt>
                <c:pt idx="36">
                  <c:v>0.2322232627868652</c:v>
                </c:pt>
                <c:pt idx="37">
                  <c:v>0.25583503444681438</c:v>
                </c:pt>
                <c:pt idx="38">
                  <c:v>0.26877564632438589</c:v>
                </c:pt>
                <c:pt idx="39">
                  <c:v>0.27124678350987552</c:v>
                </c:pt>
                <c:pt idx="40">
                  <c:v>0.27343127876520162</c:v>
                </c:pt>
                <c:pt idx="41">
                  <c:v>0.32518790523058938</c:v>
                </c:pt>
                <c:pt idx="42">
                  <c:v>0.3425770020440268</c:v>
                </c:pt>
                <c:pt idx="43">
                  <c:v>0.36528709897538653</c:v>
                </c:pt>
                <c:pt idx="44">
                  <c:v>0.38549537563191738</c:v>
                </c:pt>
                <c:pt idx="45">
                  <c:v>0.3969025905826129</c:v>
                </c:pt>
                <c:pt idx="46">
                  <c:v>0.43224251107053541</c:v>
                </c:pt>
                <c:pt idx="47">
                  <c:v>0.44324707936275048</c:v>
                </c:pt>
                <c:pt idx="48">
                  <c:v>0.44880064668510478</c:v>
                </c:pt>
                <c:pt idx="49">
                  <c:v>0.45311883187441709</c:v>
                </c:pt>
                <c:pt idx="50">
                  <c:v>0.47315049743652338</c:v>
                </c:pt>
                <c:pt idx="51">
                  <c:v>0.48424662536097463</c:v>
                </c:pt>
                <c:pt idx="52">
                  <c:v>0.49257202148437501</c:v>
                </c:pt>
                <c:pt idx="53">
                  <c:v>0.50342734266409939</c:v>
                </c:pt>
                <c:pt idx="54">
                  <c:v>0.53718505859374999</c:v>
                </c:pt>
                <c:pt idx="55">
                  <c:v>0.54403474192605716</c:v>
                </c:pt>
                <c:pt idx="56">
                  <c:v>0.58119242605705446</c:v>
                </c:pt>
                <c:pt idx="57">
                  <c:v>0.58776289244101898</c:v>
                </c:pt>
                <c:pt idx="58">
                  <c:v>0.64381248543020508</c:v>
                </c:pt>
                <c:pt idx="59">
                  <c:v>0.65654051008640313</c:v>
                </c:pt>
                <c:pt idx="60">
                  <c:v>0.694610595703125</c:v>
                </c:pt>
                <c:pt idx="61">
                  <c:v>0.70133470329473679</c:v>
                </c:pt>
                <c:pt idx="62">
                  <c:v>0.74327046689104459</c:v>
                </c:pt>
                <c:pt idx="63">
                  <c:v>0.76577453613281254</c:v>
                </c:pt>
                <c:pt idx="64">
                  <c:v>0.7996314277648926</c:v>
                </c:pt>
                <c:pt idx="65">
                  <c:v>0.8074951171875</c:v>
                </c:pt>
                <c:pt idx="66">
                  <c:v>0.8337756243116059</c:v>
                </c:pt>
                <c:pt idx="67">
                  <c:v>0.84075497225429352</c:v>
                </c:pt>
                <c:pt idx="68">
                  <c:v>0.86771707370644435</c:v>
                </c:pt>
                <c:pt idx="69">
                  <c:v>0.91938029098510743</c:v>
                </c:pt>
                <c:pt idx="70">
                  <c:v>0.94947967529296873</c:v>
                </c:pt>
                <c:pt idx="71">
                  <c:v>0.96465852355957027</c:v>
                </c:pt>
                <c:pt idx="72">
                  <c:v>1.0084883731758869</c:v>
                </c:pt>
                <c:pt idx="73">
                  <c:v>1.0132171478271479</c:v>
                </c:pt>
                <c:pt idx="74">
                  <c:v>1.017305763244629</c:v>
                </c:pt>
                <c:pt idx="75">
                  <c:v>1.0486073269359619</c:v>
                </c:pt>
                <c:pt idx="76">
                  <c:v>1.1375683593749999</c:v>
                </c:pt>
                <c:pt idx="77">
                  <c:v>1.280122201700181</c:v>
                </c:pt>
                <c:pt idx="78">
                  <c:v>1.365824754928781</c:v>
                </c:pt>
                <c:pt idx="79">
                  <c:v>1.4620907249450681</c:v>
                </c:pt>
                <c:pt idx="80">
                  <c:v>1.5348049303986271</c:v>
                </c:pt>
                <c:pt idx="81">
                  <c:v>1.5590632438659671</c:v>
                </c:pt>
                <c:pt idx="82">
                  <c:v>1.569270088033677</c:v>
                </c:pt>
                <c:pt idx="83">
                  <c:v>1.5867272949218749</c:v>
                </c:pt>
                <c:pt idx="84">
                  <c:v>1.6504141091718341</c:v>
                </c:pt>
                <c:pt idx="85">
                  <c:v>1.7569393931889661</c:v>
                </c:pt>
                <c:pt idx="86">
                  <c:v>1.880267277883831</c:v>
                </c:pt>
                <c:pt idx="87">
                  <c:v>1.968387241934852</c:v>
                </c:pt>
                <c:pt idx="88">
                  <c:v>2.0074435347929058</c:v>
                </c:pt>
                <c:pt idx="89">
                  <c:v>2.0201086978212639</c:v>
                </c:pt>
                <c:pt idx="90">
                  <c:v>2.1090862454153321</c:v>
                </c:pt>
                <c:pt idx="91">
                  <c:v>2.1873331953099879</c:v>
                </c:pt>
                <c:pt idx="92">
                  <c:v>2.277315440484502</c:v>
                </c:pt>
                <c:pt idx="93">
                  <c:v>2.3044202923294419</c:v>
                </c:pt>
                <c:pt idx="94">
                  <c:v>2.322864006538663</c:v>
                </c:pt>
                <c:pt idx="95">
                  <c:v>2.3640656738281249</c:v>
                </c:pt>
                <c:pt idx="96">
                  <c:v>2.4179216262628569</c:v>
                </c:pt>
                <c:pt idx="97">
                  <c:v>2.8076204950942221</c:v>
                </c:pt>
                <c:pt idx="98">
                  <c:v>2.8429442117679629</c:v>
                </c:pt>
                <c:pt idx="99">
                  <c:v>2.9797701385886279</c:v>
                </c:pt>
                <c:pt idx="100">
                  <c:v>3.6552238464355469</c:v>
                </c:pt>
                <c:pt idx="101">
                  <c:v>3.9186172485351558</c:v>
                </c:pt>
                <c:pt idx="102">
                  <c:v>4.1176336343413578</c:v>
                </c:pt>
                <c:pt idx="103">
                  <c:v>4.3050085505983207</c:v>
                </c:pt>
                <c:pt idx="104">
                  <c:v>4.3844884643554689</c:v>
                </c:pt>
                <c:pt idx="105">
                  <c:v>4.4016100845336918</c:v>
                </c:pt>
                <c:pt idx="106">
                  <c:v>4.6222366333007816</c:v>
                </c:pt>
                <c:pt idx="107">
                  <c:v>5.9505103338146252</c:v>
                </c:pt>
                <c:pt idx="108">
                  <c:v>6.4681757737129777</c:v>
                </c:pt>
                <c:pt idx="109">
                  <c:v>6.6688258646764904</c:v>
                </c:pt>
                <c:pt idx="110">
                  <c:v>7.3344513791107824</c:v>
                </c:pt>
                <c:pt idx="111">
                  <c:v>9.0544025745484014</c:v>
                </c:pt>
                <c:pt idx="112">
                  <c:v>10.019065414428709</c:v>
                </c:pt>
                <c:pt idx="113">
                  <c:v>10.70267486572266</c:v>
                </c:pt>
                <c:pt idx="114">
                  <c:v>10.779132974162559</c:v>
                </c:pt>
                <c:pt idx="115">
                  <c:v>10.815509343337411</c:v>
                </c:pt>
                <c:pt idx="116">
                  <c:v>13.05588943734004</c:v>
                </c:pt>
                <c:pt idx="117">
                  <c:v>13.18580473327637</c:v>
                </c:pt>
                <c:pt idx="118">
                  <c:v>14.51276712040276</c:v>
                </c:pt>
                <c:pt idx="119">
                  <c:v>22.775550704872519</c:v>
                </c:pt>
                <c:pt idx="120">
                  <c:v>25.62763497824389</c:v>
                </c:pt>
                <c:pt idx="121">
                  <c:v>30.322344926288899</c:v>
                </c:pt>
                <c:pt idx="122">
                  <c:v>33.913814495464472</c:v>
                </c:pt>
                <c:pt idx="123">
                  <c:v>39.791443419874668</c:v>
                </c:pt>
                <c:pt idx="124">
                  <c:v>41.393146655308392</c:v>
                </c:pt>
                <c:pt idx="125">
                  <c:v>43.86107827680366</c:v>
                </c:pt>
                <c:pt idx="126">
                  <c:v>58.736808056726453</c:v>
                </c:pt>
                <c:pt idx="127">
                  <c:v>65.077427606108728</c:v>
                </c:pt>
                <c:pt idx="128">
                  <c:v>70.919561080531352</c:v>
                </c:pt>
                <c:pt idx="129">
                  <c:v>78.259115351978096</c:v>
                </c:pt>
                <c:pt idx="130">
                  <c:v>82.451419830322266</c:v>
                </c:pt>
                <c:pt idx="131">
                  <c:v>94.065030434672636</c:v>
                </c:pt>
                <c:pt idx="132">
                  <c:v>98.314392589555553</c:v>
                </c:pt>
                <c:pt idx="133">
                  <c:v>128.61428308383589</c:v>
                </c:pt>
                <c:pt idx="134">
                  <c:v>180.8232180910243</c:v>
                </c:pt>
                <c:pt idx="135">
                  <c:v>224.0138386165971</c:v>
                </c:pt>
                <c:pt idx="136">
                  <c:v>546.36240539280402</c:v>
                </c:pt>
                <c:pt idx="137">
                  <c:v>1013.182115935964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6F1-4652-B0C0-324FDE405A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6720367"/>
        <c:axId val="2116734511"/>
      </c:lineChart>
      <c:catAx>
        <c:axId val="211674075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Disease Site #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42831"/>
        <c:crossesAt val="0.1"/>
        <c:auto val="1"/>
        <c:lblAlgn val="ctr"/>
        <c:lblOffset val="100"/>
        <c:noMultiLvlLbl val="0"/>
      </c:catAx>
      <c:valAx>
        <c:axId val="2116742831"/>
        <c:scaling>
          <c:logBase val="10"/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Median Surface Distance (mm)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40751"/>
        <c:crosses val="autoZero"/>
        <c:crossBetween val="between"/>
      </c:valAx>
      <c:valAx>
        <c:axId val="2116734511"/>
        <c:scaling>
          <c:logBase val="10"/>
          <c:orientation val="minMax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/>
                  <a:t>Volume (cc)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6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16720367"/>
        <c:crosses val="max"/>
        <c:crossBetween val="between"/>
      </c:valAx>
      <c:catAx>
        <c:axId val="2116720367"/>
        <c:scaling>
          <c:orientation val="minMax"/>
        </c:scaling>
        <c:delete val="1"/>
        <c:axPos val="b"/>
        <c:majorTickMark val="none"/>
        <c:minorTickMark val="none"/>
        <c:tickLblPos val="nextTo"/>
        <c:crossAx val="2116734511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2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2992968"/>
            <a:ext cx="15544800" cy="6366933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86000" y="9605435"/>
            <a:ext cx="13716000" cy="4415365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11/4/2020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880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11/4/2020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976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47776" y="4559305"/>
            <a:ext cx="15773400" cy="7607299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47776" y="12238572"/>
            <a:ext cx="15773400" cy="4000499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/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11/4/2020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3416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4868333"/>
            <a:ext cx="7772400" cy="116035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58300" y="4868333"/>
            <a:ext cx="7772400" cy="116035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11/4/2020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588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973671"/>
            <a:ext cx="15773400" cy="353483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9684" y="4483101"/>
            <a:ext cx="7736680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9684" y="6680200"/>
            <a:ext cx="7736680" cy="98255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258301" y="4483101"/>
            <a:ext cx="7774782" cy="2197099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258301" y="6680200"/>
            <a:ext cx="7774782" cy="982556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11/4/2020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981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11/4/2020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0459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11/4/2020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056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74782" y="2633138"/>
            <a:ext cx="9258300" cy="12996333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11/4/2020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106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9682" y="1219200"/>
            <a:ext cx="5898356" cy="42672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774782" y="2633138"/>
            <a:ext cx="9258300" cy="12996333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59682" y="5486400"/>
            <a:ext cx="5898356" cy="10164235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11/4/2020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3884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11/4/2020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969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87351" y="973667"/>
            <a:ext cx="3943350" cy="1549823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1" y="973667"/>
            <a:ext cx="11601450" cy="15498235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7380E-2143-4096-B547-DE8B390321C5}" type="datetimeFigureOut">
              <a:rPr lang="en-US" smtClean="0"/>
              <a:t>11/4/2020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8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7300" y="973671"/>
            <a:ext cx="1577340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7300" y="4868333"/>
            <a:ext cx="1577340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73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7380E-2143-4096-B547-DE8B390321C5}" type="datetimeFigureOut">
              <a:rPr lang="en-US" smtClean="0"/>
              <a:t>11/4/2020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57900" y="16950271"/>
            <a:ext cx="61722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15900" y="16950271"/>
            <a:ext cx="41148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37313E-3D21-4FDB-97F5-80455362DD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629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chart" Target="../charts/chart2.xml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chart" Target="../charts/char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6.xml"/><Relationship Id="rId4" Type="http://schemas.openxmlformats.org/officeDocument/2006/relationships/chart" Target="../charts/char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7899672" y="4571445"/>
            <a:ext cx="3364707" cy="1438275"/>
            <a:chOff x="1683067" y="2631599"/>
            <a:chExt cx="6729413" cy="2876550"/>
          </a:xfrm>
        </p:grpSpPr>
        <p:pic>
          <p:nvPicPr>
            <p:cNvPr id="8" name="Content Placeholder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83067" y="2631599"/>
              <a:ext cx="3476625" cy="2876550"/>
            </a:xfrm>
            <a:prstGeom prst="rect">
              <a:avLst/>
            </a:prstGeom>
          </p:spPr>
        </p:pic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89070" y="2631599"/>
              <a:ext cx="2823410" cy="2870272"/>
            </a:xfrm>
            <a:prstGeom prst="rect">
              <a:avLst/>
            </a:prstGeom>
          </p:spPr>
        </p:pic>
      </p:grpSp>
      <p:grpSp>
        <p:nvGrpSpPr>
          <p:cNvPr id="13" name="Group 12"/>
          <p:cNvGrpSpPr/>
          <p:nvPr/>
        </p:nvGrpSpPr>
        <p:grpSpPr>
          <a:xfrm>
            <a:off x="1021012" y="925876"/>
            <a:ext cx="3948045" cy="2222314"/>
            <a:chOff x="2042024" y="1851751"/>
            <a:chExt cx="7896089" cy="4444628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42024" y="1851751"/>
              <a:ext cx="3927702" cy="4442569"/>
            </a:xfrm>
            <a:prstGeom prst="rect">
              <a:avLst/>
            </a:prstGeom>
          </p:spPr>
        </p:pic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41473" y="1851751"/>
              <a:ext cx="3596640" cy="4444628"/>
            </a:xfrm>
            <a:prstGeom prst="rect">
              <a:avLst/>
            </a:prstGeom>
          </p:spPr>
        </p:pic>
      </p:grpSp>
      <p:grpSp>
        <p:nvGrpSpPr>
          <p:cNvPr id="19" name="Group 18"/>
          <p:cNvGrpSpPr/>
          <p:nvPr/>
        </p:nvGrpSpPr>
        <p:grpSpPr>
          <a:xfrm>
            <a:off x="2336164" y="7480301"/>
            <a:ext cx="5563508" cy="2208953"/>
            <a:chOff x="12678173" y="17056101"/>
            <a:chExt cx="11127016" cy="4417906"/>
          </a:xfrm>
        </p:grpSpPr>
        <p:sp>
          <p:nvSpPr>
            <p:cNvPr id="20" name="Rectangle 19"/>
            <p:cNvSpPr/>
            <p:nvPr/>
          </p:nvSpPr>
          <p:spPr>
            <a:xfrm>
              <a:off x="16358112" y="17170738"/>
              <a:ext cx="3294786" cy="428067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21" name="Straight Arrow Connector 20"/>
            <p:cNvCxnSpPr>
              <a:stCxn id="31" idx="4"/>
            </p:cNvCxnSpPr>
            <p:nvPr/>
          </p:nvCxnSpPr>
          <p:spPr>
            <a:xfrm>
              <a:off x="17973650" y="21199687"/>
              <a:ext cx="0" cy="274320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/>
            <p:cNvSpPr/>
            <p:nvPr/>
          </p:nvSpPr>
          <p:spPr>
            <a:xfrm>
              <a:off x="16766169" y="1834513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6766168" y="1960951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17966318" y="19152314"/>
              <a:ext cx="1" cy="45719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/>
            <p:cNvCxnSpPr>
              <a:endCxn id="22" idx="0"/>
            </p:cNvCxnSpPr>
            <p:nvPr/>
          </p:nvCxnSpPr>
          <p:spPr>
            <a:xfrm>
              <a:off x="17966319" y="18017948"/>
              <a:ext cx="0" cy="327186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/>
            <p:cNvCxnSpPr>
              <a:stCxn id="23" idx="2"/>
              <a:endCxn id="31" idx="0"/>
            </p:cNvCxnSpPr>
            <p:nvPr/>
          </p:nvCxnSpPr>
          <p:spPr>
            <a:xfrm>
              <a:off x="17966318" y="20416693"/>
              <a:ext cx="7332" cy="325794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18134793" y="19152315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8262377" y="21072085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7660787" y="17622119"/>
              <a:ext cx="580928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/>
                <a:t>64-d</a:t>
              </a:r>
            </a:p>
          </p:txBody>
        </p:sp>
        <p:sp>
          <p:nvSpPr>
            <p:cNvPr id="30" name="Curved Up Arrow 29"/>
            <p:cNvSpPr/>
            <p:nvPr/>
          </p:nvSpPr>
          <p:spPr>
            <a:xfrm rot="16200000" flipH="1">
              <a:off x="17218595" y="18825687"/>
              <a:ext cx="3354040" cy="124832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17745050" y="20742487"/>
              <a:ext cx="457200" cy="457200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+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7350091" y="17056101"/>
              <a:ext cx="1415516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Residual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12678173" y="17159726"/>
              <a:ext cx="3294786" cy="423378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3086230" y="18321258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13086230" y="19887146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cxnSp>
          <p:nvCxnSpPr>
            <p:cNvPr id="36" name="Straight Arrow Connector 35"/>
            <p:cNvCxnSpPr>
              <a:stCxn id="34" idx="2"/>
              <a:endCxn id="35" idx="0"/>
            </p:cNvCxnSpPr>
            <p:nvPr/>
          </p:nvCxnSpPr>
          <p:spPr>
            <a:xfrm>
              <a:off x="14286380" y="19119597"/>
              <a:ext cx="0" cy="76754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/>
            <p:cNvCxnSpPr>
              <a:endCxn id="34" idx="0"/>
            </p:cNvCxnSpPr>
            <p:nvPr/>
          </p:nvCxnSpPr>
          <p:spPr>
            <a:xfrm>
              <a:off x="14286380" y="17997656"/>
              <a:ext cx="0" cy="323602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/>
            <p:cNvCxnSpPr>
              <a:stCxn id="35" idx="2"/>
            </p:cNvCxnSpPr>
            <p:nvPr/>
          </p:nvCxnSpPr>
          <p:spPr>
            <a:xfrm flipH="1">
              <a:off x="14286379" y="20685486"/>
              <a:ext cx="1" cy="704828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/>
            <p:cNvSpPr txBox="1"/>
            <p:nvPr/>
          </p:nvSpPr>
          <p:spPr>
            <a:xfrm>
              <a:off x="14439521" y="19178695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4561051" y="20786421"/>
              <a:ext cx="827792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450" dirty="0"/>
                <a:t>activation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3980847" y="17606163"/>
              <a:ext cx="580928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/>
                <a:t>64-d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3743869" y="17095829"/>
              <a:ext cx="1354474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‘Vanilla’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9950271" y="17174433"/>
              <a:ext cx="3854918" cy="42705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44" name="Straight Arrow Connector 43"/>
            <p:cNvCxnSpPr>
              <a:endCxn id="47" idx="0"/>
            </p:cNvCxnSpPr>
            <p:nvPr/>
          </p:nvCxnSpPr>
          <p:spPr>
            <a:xfrm>
              <a:off x="21442782" y="18306587"/>
              <a:ext cx="0" cy="50156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Curved Up Arrow 44"/>
            <p:cNvSpPr/>
            <p:nvPr/>
          </p:nvSpPr>
          <p:spPr>
            <a:xfrm rot="16200000" flipH="1">
              <a:off x="21958254" y="17957082"/>
              <a:ext cx="1309592" cy="891829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20718429" y="1938265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20718429" y="18808156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 err="1"/>
                <a:t>Concat</a:t>
              </a:r>
              <a:endParaRPr lang="en-US" sz="450" dirty="0"/>
            </a:p>
          </p:txBody>
        </p:sp>
        <p:cxnSp>
          <p:nvCxnSpPr>
            <p:cNvPr id="48" name="Straight Arrow Connector 47"/>
            <p:cNvCxnSpPr>
              <a:stCxn id="47" idx="2"/>
              <a:endCxn id="46" idx="0"/>
            </p:cNvCxnSpPr>
            <p:nvPr/>
          </p:nvCxnSpPr>
          <p:spPr>
            <a:xfrm>
              <a:off x="21442782" y="19076430"/>
              <a:ext cx="0" cy="306228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>
              <a:stCxn id="50" idx="2"/>
              <a:endCxn id="51" idx="0"/>
            </p:cNvCxnSpPr>
            <p:nvPr/>
          </p:nvCxnSpPr>
          <p:spPr>
            <a:xfrm>
              <a:off x="21427299" y="17927428"/>
              <a:ext cx="0" cy="306227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/>
            <p:cNvSpPr/>
            <p:nvPr/>
          </p:nvSpPr>
          <p:spPr>
            <a:xfrm>
              <a:off x="20702946" y="17659154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20702946" y="18233655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sp>
          <p:nvSpPr>
            <p:cNvPr id="52" name="Curved Up Arrow 51"/>
            <p:cNvSpPr/>
            <p:nvPr/>
          </p:nvSpPr>
          <p:spPr>
            <a:xfrm rot="16200000" flipH="1">
              <a:off x="21795027" y="18697967"/>
              <a:ext cx="1806657" cy="109340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/>
            <p:cNvCxnSpPr>
              <a:stCxn id="46" idx="2"/>
              <a:endCxn id="54" idx="0"/>
            </p:cNvCxnSpPr>
            <p:nvPr/>
          </p:nvCxnSpPr>
          <p:spPr>
            <a:xfrm>
              <a:off x="21442782" y="1965093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 53"/>
            <p:cNvSpPr/>
            <p:nvPr/>
          </p:nvSpPr>
          <p:spPr>
            <a:xfrm>
              <a:off x="20718429" y="1995182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 err="1"/>
                <a:t>Concat</a:t>
              </a:r>
              <a:endParaRPr lang="en-US" sz="450" dirty="0"/>
            </a:p>
          </p:txBody>
        </p:sp>
        <p:sp>
          <p:nvSpPr>
            <p:cNvPr id="55" name="Curved Up Arrow 54"/>
            <p:cNvSpPr/>
            <p:nvPr/>
          </p:nvSpPr>
          <p:spPr>
            <a:xfrm rot="16200000" flipH="1">
              <a:off x="21506987" y="18409930"/>
              <a:ext cx="2390480" cy="108566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20718429" y="2051286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/>
                <a:t>Convolution</a:t>
              </a:r>
            </a:p>
          </p:txBody>
        </p:sp>
        <p:cxnSp>
          <p:nvCxnSpPr>
            <p:cNvPr id="57" name="Straight Arrow Connector 56"/>
            <p:cNvCxnSpPr>
              <a:stCxn id="56" idx="2"/>
              <a:endCxn id="58" idx="0"/>
            </p:cNvCxnSpPr>
            <p:nvPr/>
          </p:nvCxnSpPr>
          <p:spPr>
            <a:xfrm>
              <a:off x="21442782" y="2078114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/>
            <p:cNvSpPr/>
            <p:nvPr/>
          </p:nvSpPr>
          <p:spPr>
            <a:xfrm>
              <a:off x="20718429" y="2108203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50" dirty="0" err="1"/>
                <a:t>Concat</a:t>
              </a:r>
              <a:endParaRPr lang="en-US" sz="450" dirty="0"/>
            </a:p>
          </p:txBody>
        </p:sp>
        <p:cxnSp>
          <p:nvCxnSpPr>
            <p:cNvPr id="59" name="Straight Arrow Connector 58"/>
            <p:cNvCxnSpPr>
              <a:stCxn id="54" idx="2"/>
              <a:endCxn id="56" idx="0"/>
            </p:cNvCxnSpPr>
            <p:nvPr/>
          </p:nvCxnSpPr>
          <p:spPr>
            <a:xfrm>
              <a:off x="21442782" y="20220095"/>
              <a:ext cx="0" cy="292773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Curved Up Arrow 59"/>
            <p:cNvSpPr/>
            <p:nvPr/>
          </p:nvSpPr>
          <p:spPr>
            <a:xfrm rot="16200000" flipH="1">
              <a:off x="21255689" y="19246636"/>
              <a:ext cx="3008964" cy="119837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61" name="Curved Up Arrow 60"/>
            <p:cNvSpPr/>
            <p:nvPr/>
          </p:nvSpPr>
          <p:spPr>
            <a:xfrm rot="16200000" flipH="1">
              <a:off x="21106326" y="18799469"/>
              <a:ext cx="3604554" cy="1497118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62" name="Curved Up Arrow 61"/>
            <p:cNvSpPr/>
            <p:nvPr/>
          </p:nvSpPr>
          <p:spPr>
            <a:xfrm rot="16200000" flipH="1">
              <a:off x="21972418" y="19665559"/>
              <a:ext cx="1856244" cy="1513251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0807819" y="17184995"/>
              <a:ext cx="1148392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Dense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0097417" y="17938505"/>
              <a:ext cx="14080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/>
                <a:t>BN, Activation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20135165" y="19075657"/>
              <a:ext cx="14080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/>
                <a:t>BN, Activation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0137583" y="20195149"/>
              <a:ext cx="14080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/>
                <a:t>BN, Activation</a:t>
              </a:r>
            </a:p>
          </p:txBody>
        </p:sp>
      </p:grpSp>
      <p:grpSp>
        <p:nvGrpSpPr>
          <p:cNvPr id="95" name="Group 94"/>
          <p:cNvGrpSpPr/>
          <p:nvPr/>
        </p:nvGrpSpPr>
        <p:grpSpPr>
          <a:xfrm>
            <a:off x="635843" y="4305958"/>
            <a:ext cx="3513248" cy="2068388"/>
            <a:chOff x="1271685" y="8611915"/>
            <a:chExt cx="7026495" cy="4136775"/>
          </a:xfrm>
        </p:grpSpPr>
        <p:pic>
          <p:nvPicPr>
            <p:cNvPr id="84" name="Picture 8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71685" y="8613697"/>
              <a:ext cx="3400643" cy="4131152"/>
            </a:xfrm>
            <a:prstGeom prst="rect">
              <a:avLst/>
            </a:prstGeom>
          </p:spPr>
        </p:pic>
        <p:pic>
          <p:nvPicPr>
            <p:cNvPr id="87" name="Picture 86"/>
            <p:cNvPicPr>
              <a:picLocks/>
            </p:cNvPicPr>
            <p:nvPr/>
          </p:nvPicPr>
          <p:blipFill rotWithShape="1">
            <a:blip r:embed="rId7"/>
            <a:srcRect l="9604" r="14434"/>
            <a:stretch/>
          </p:blipFill>
          <p:spPr>
            <a:xfrm>
              <a:off x="7018020" y="8611915"/>
              <a:ext cx="1280160" cy="1280160"/>
            </a:xfrm>
            <a:prstGeom prst="rect">
              <a:avLst/>
            </a:prstGeom>
          </p:spPr>
        </p:pic>
        <p:pic>
          <p:nvPicPr>
            <p:cNvPr id="88" name="Picture 87"/>
            <p:cNvPicPr>
              <a:picLocks/>
            </p:cNvPicPr>
            <p:nvPr/>
          </p:nvPicPr>
          <p:blipFill rotWithShape="1">
            <a:blip r:embed="rId8"/>
            <a:srcRect l="3316" r="4289"/>
            <a:stretch/>
          </p:blipFill>
          <p:spPr>
            <a:xfrm>
              <a:off x="7018020" y="10040223"/>
              <a:ext cx="1280160" cy="1280160"/>
            </a:xfrm>
            <a:prstGeom prst="rect">
              <a:avLst/>
            </a:prstGeom>
          </p:spPr>
        </p:pic>
        <p:pic>
          <p:nvPicPr>
            <p:cNvPr id="92" name="Content Placeholder 9"/>
            <p:cNvPicPr>
              <a:picLocks/>
            </p:cNvPicPr>
            <p:nvPr/>
          </p:nvPicPr>
          <p:blipFill rotWithShape="1">
            <a:blip r:embed="rId9"/>
            <a:srcRect l="2612" r="2040"/>
            <a:stretch/>
          </p:blipFill>
          <p:spPr>
            <a:xfrm>
              <a:off x="7018020" y="11468530"/>
              <a:ext cx="1280160" cy="1280160"/>
            </a:xfrm>
            <a:prstGeom prst="rect">
              <a:avLst/>
            </a:prstGeom>
          </p:spPr>
        </p:pic>
        <p:sp>
          <p:nvSpPr>
            <p:cNvPr id="93" name="Right Arrow 92"/>
            <p:cNvSpPr/>
            <p:nvPr/>
          </p:nvSpPr>
          <p:spPr>
            <a:xfrm>
              <a:off x="4976111" y="10210177"/>
              <a:ext cx="1691640" cy="831691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</p:grpSp>
      <p:grpSp>
        <p:nvGrpSpPr>
          <p:cNvPr id="7" name="Group 6"/>
          <p:cNvGrpSpPr/>
          <p:nvPr/>
        </p:nvGrpSpPr>
        <p:grpSpPr>
          <a:xfrm>
            <a:off x="3725960" y="10511367"/>
            <a:ext cx="7540713" cy="8185153"/>
            <a:chOff x="7451919" y="21022733"/>
            <a:chExt cx="15081425" cy="16370306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10"/>
            <a:srcRect l="1052" r="449"/>
            <a:stretch/>
          </p:blipFill>
          <p:spPr>
            <a:xfrm>
              <a:off x="7451919" y="29239639"/>
              <a:ext cx="15076838" cy="8153400"/>
            </a:xfrm>
            <a:prstGeom prst="rect">
              <a:avLst/>
            </a:prstGeom>
          </p:spPr>
        </p:pic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521944" y="21022733"/>
              <a:ext cx="15011400" cy="8143875"/>
            </a:xfrm>
            <a:prstGeom prst="rect">
              <a:avLst/>
            </a:prstGeom>
          </p:spPr>
        </p:pic>
      </p:grpSp>
      <p:pic>
        <p:nvPicPr>
          <p:cNvPr id="15" name="Picture 14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74441" y="9342821"/>
            <a:ext cx="2926086" cy="2194565"/>
          </a:xfrm>
          <a:prstGeom prst="rect">
            <a:avLst/>
          </a:prstGeom>
        </p:spPr>
      </p:pic>
      <p:grpSp>
        <p:nvGrpSpPr>
          <p:cNvPr id="68" name="Group 67"/>
          <p:cNvGrpSpPr/>
          <p:nvPr/>
        </p:nvGrpSpPr>
        <p:grpSpPr>
          <a:xfrm>
            <a:off x="10558526" y="7278685"/>
            <a:ext cx="2926086" cy="2194565"/>
            <a:chOff x="21117052" y="14557370"/>
            <a:chExt cx="5852172" cy="4389129"/>
          </a:xfrm>
        </p:grpSpPr>
        <p:pic>
          <p:nvPicPr>
            <p:cNvPr id="14" name="Picture 13"/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117052" y="14557370"/>
              <a:ext cx="5852172" cy="4389129"/>
            </a:xfrm>
            <a:prstGeom prst="rect">
              <a:avLst/>
            </a:prstGeom>
          </p:spPr>
        </p:pic>
        <p:cxnSp>
          <p:nvCxnSpPr>
            <p:cNvPr id="17" name="Straight Connector 16"/>
            <p:cNvCxnSpPr/>
            <p:nvPr/>
          </p:nvCxnSpPr>
          <p:spPr>
            <a:xfrm flipH="1">
              <a:off x="22821900" y="15977627"/>
              <a:ext cx="0" cy="246888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/>
            <p:cNvCxnSpPr/>
            <p:nvPr/>
          </p:nvCxnSpPr>
          <p:spPr>
            <a:xfrm flipH="1">
              <a:off x="24866600" y="16007040"/>
              <a:ext cx="0" cy="2468880"/>
            </a:xfrm>
            <a:prstGeom prst="lin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Box 66"/>
            <p:cNvSpPr txBox="1"/>
            <p:nvPr/>
          </p:nvSpPr>
          <p:spPr>
            <a:xfrm>
              <a:off x="22459830" y="15551160"/>
              <a:ext cx="693140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/>
                <a:t>Min LR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24433886" y="15551160"/>
              <a:ext cx="712376" cy="323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50" dirty="0">
                  <a:solidFill>
                    <a:srgbClr val="FF0000"/>
                  </a:solidFill>
                </a:rPr>
                <a:t>Max LR</a:t>
              </a:r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8208962" y="596923"/>
            <a:ext cx="8448675" cy="7427915"/>
            <a:chOff x="8208962" y="596923"/>
            <a:chExt cx="8448675" cy="7427915"/>
          </a:xfrm>
        </p:grpSpPr>
        <p:graphicFrame>
          <p:nvGraphicFramePr>
            <p:cNvPr id="74" name="Chart 73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823700237"/>
                </p:ext>
              </p:extLst>
            </p:nvPr>
          </p:nvGraphicFramePr>
          <p:xfrm>
            <a:off x="8208962" y="596923"/>
            <a:ext cx="8448675" cy="402907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4"/>
            </a:graphicData>
          </a:graphic>
        </p:graphicFrame>
        <p:graphicFrame>
          <p:nvGraphicFramePr>
            <p:cNvPr id="77" name="Chart 76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371022864"/>
                </p:ext>
              </p:extLst>
            </p:nvPr>
          </p:nvGraphicFramePr>
          <p:xfrm>
            <a:off x="8208962" y="4662513"/>
            <a:ext cx="8448675" cy="336232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9619365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2305806" y="1786042"/>
            <a:ext cx="8111621" cy="13693947"/>
            <a:chOff x="2305806" y="1786042"/>
            <a:chExt cx="8111621" cy="13693947"/>
          </a:xfrm>
        </p:grpSpPr>
        <p:sp>
          <p:nvSpPr>
            <p:cNvPr id="21" name="Rectangle 20"/>
            <p:cNvSpPr/>
            <p:nvPr/>
          </p:nvSpPr>
          <p:spPr>
            <a:xfrm>
              <a:off x="2305806" y="11585944"/>
              <a:ext cx="8088150" cy="379613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/>
            <p:cNvSpPr/>
            <p:nvPr/>
          </p:nvSpPr>
          <p:spPr>
            <a:xfrm>
              <a:off x="2305806" y="1786042"/>
              <a:ext cx="8088150" cy="468811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2" descr="image001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585" b="57645"/>
            <a:stretch/>
          </p:blipFill>
          <p:spPr bwMode="auto">
            <a:xfrm>
              <a:off x="6496685" y="1917356"/>
              <a:ext cx="3787779" cy="187595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5" name="Picture 2" descr="image001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2926"/>
            <a:stretch/>
          </p:blipFill>
          <p:spPr bwMode="auto">
            <a:xfrm>
              <a:off x="2333321" y="1917356"/>
              <a:ext cx="4366810" cy="44291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6" name="Picture 2" descr="image001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0165" t="55113"/>
            <a:stretch/>
          </p:blipFill>
          <p:spPr bwMode="auto">
            <a:xfrm>
              <a:off x="6920167" y="3924621"/>
              <a:ext cx="3420944" cy="23232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Rectangle 7"/>
            <p:cNvSpPr/>
            <p:nvPr/>
          </p:nvSpPr>
          <p:spPr>
            <a:xfrm>
              <a:off x="6700132" y="1786042"/>
              <a:ext cx="165290" cy="46881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/>
            <p:cNvSpPr/>
            <p:nvPr/>
          </p:nvSpPr>
          <p:spPr>
            <a:xfrm>
              <a:off x="6713342" y="3858724"/>
              <a:ext cx="3666310" cy="1178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305806" y="6568667"/>
              <a:ext cx="8088150" cy="493498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5" name="Picture 1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48026" y="6894070"/>
              <a:ext cx="4075561" cy="4448439"/>
            </a:xfrm>
            <a:prstGeom prst="rect">
              <a:avLst/>
            </a:prstGeom>
          </p:spPr>
        </p:pic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0167" y="9753683"/>
              <a:ext cx="3252660" cy="1582638"/>
            </a:xfrm>
            <a:prstGeom prst="rect">
              <a:avLst/>
            </a:prstGeom>
          </p:spPr>
        </p:pic>
        <p:pic>
          <p:nvPicPr>
            <p:cNvPr id="17" name="Picture 1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20167" y="6894070"/>
              <a:ext cx="3252660" cy="2704922"/>
            </a:xfrm>
            <a:prstGeom prst="rect">
              <a:avLst/>
            </a:prstGeom>
          </p:spPr>
        </p:pic>
        <p:sp>
          <p:nvSpPr>
            <p:cNvPr id="19" name="Rectangle 18"/>
            <p:cNvSpPr/>
            <p:nvPr/>
          </p:nvSpPr>
          <p:spPr>
            <a:xfrm>
              <a:off x="6700131" y="6568667"/>
              <a:ext cx="165676" cy="493498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819253" y="9296061"/>
              <a:ext cx="3574703" cy="13684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" name="Picture 9"/>
            <p:cNvPicPr>
              <a:picLocks noChangeAspect="1"/>
            </p:cNvPicPr>
            <p:nvPr/>
          </p:nvPicPr>
          <p:blipFill rotWithShape="1">
            <a:blip r:embed="rId6"/>
            <a:srcRect l="10449" r="12131"/>
            <a:stretch/>
          </p:blipFill>
          <p:spPr>
            <a:xfrm>
              <a:off x="7452967" y="11641630"/>
              <a:ext cx="2307274" cy="1886833"/>
            </a:xfrm>
            <a:prstGeom prst="rect">
              <a:avLst/>
            </a:prstGeom>
          </p:spPr>
        </p:pic>
        <p:pic>
          <p:nvPicPr>
            <p:cNvPr id="11" name="Picture 10"/>
            <p:cNvPicPr>
              <a:picLocks noChangeAspect="1"/>
            </p:cNvPicPr>
            <p:nvPr/>
          </p:nvPicPr>
          <p:blipFill rotWithShape="1">
            <a:blip r:embed="rId7"/>
            <a:srcRect t="9091" b="13057"/>
            <a:stretch/>
          </p:blipFill>
          <p:spPr>
            <a:xfrm>
              <a:off x="7210505" y="13610431"/>
              <a:ext cx="2962322" cy="1756160"/>
            </a:xfrm>
            <a:prstGeom prst="rect">
              <a:avLst/>
            </a:prstGeom>
          </p:spPr>
        </p:pic>
        <p:sp>
          <p:nvSpPr>
            <p:cNvPr id="22" name="Rectangle 21"/>
            <p:cNvSpPr/>
            <p:nvPr/>
          </p:nvSpPr>
          <p:spPr>
            <a:xfrm>
              <a:off x="6700131" y="13527165"/>
              <a:ext cx="3717296" cy="8326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/>
            <p:cNvPicPr>
              <a:picLocks noChangeAspect="1"/>
            </p:cNvPicPr>
            <p:nvPr/>
          </p:nvPicPr>
          <p:blipFill rotWithShape="1">
            <a:blip r:embed="rId8"/>
            <a:srcRect t="6503" r="2327" b="6320"/>
            <a:stretch/>
          </p:blipFill>
          <p:spPr>
            <a:xfrm>
              <a:off x="2329277" y="11667912"/>
              <a:ext cx="4397871" cy="3714169"/>
            </a:xfrm>
            <a:prstGeom prst="rect">
              <a:avLst/>
            </a:prstGeom>
          </p:spPr>
        </p:pic>
        <p:sp>
          <p:nvSpPr>
            <p:cNvPr id="23" name="Rectangle 22"/>
            <p:cNvSpPr/>
            <p:nvPr/>
          </p:nvSpPr>
          <p:spPr>
            <a:xfrm>
              <a:off x="6703350" y="10545002"/>
              <a:ext cx="165676" cy="493498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469656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/>
        </p:nvGrpSpPr>
        <p:grpSpPr>
          <a:xfrm>
            <a:off x="2690257" y="1018560"/>
            <a:ext cx="12300549" cy="5353765"/>
            <a:chOff x="3200708" y="5540991"/>
            <a:chExt cx="12300549" cy="5353765"/>
          </a:xfrm>
        </p:grpSpPr>
        <p:sp>
          <p:nvSpPr>
            <p:cNvPr id="7" name="Rectangle 6"/>
            <p:cNvSpPr/>
            <p:nvPr/>
          </p:nvSpPr>
          <p:spPr>
            <a:xfrm>
              <a:off x="5580729" y="6008556"/>
              <a:ext cx="582711" cy="1730524"/>
            </a:xfrm>
            <a:prstGeom prst="rect">
              <a:avLst/>
            </a:prstGeom>
            <a:noFill/>
            <a:ln w="1397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/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6290121" y="800777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121" name="TextBox 120"/>
            <p:cNvSpPr txBox="1"/>
            <p:nvPr/>
          </p:nvSpPr>
          <p:spPr>
            <a:xfrm>
              <a:off x="6735357" y="800777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grpSp>
          <p:nvGrpSpPr>
            <p:cNvPr id="130" name="Group 129"/>
            <p:cNvGrpSpPr/>
            <p:nvPr/>
          </p:nvGrpSpPr>
          <p:grpSpPr>
            <a:xfrm>
              <a:off x="5370261" y="6037068"/>
              <a:ext cx="873051" cy="2092145"/>
              <a:chOff x="18350689" y="8312592"/>
              <a:chExt cx="1746101" cy="4184289"/>
            </a:xfrm>
          </p:grpSpPr>
          <p:sp>
            <p:nvSpPr>
              <p:cNvPr id="219" name="Down Arrow 218"/>
              <p:cNvSpPr/>
              <p:nvPr/>
            </p:nvSpPr>
            <p:spPr>
              <a:xfrm>
                <a:off x="19472222" y="11716617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0" name="Rectangle 219"/>
              <p:cNvSpPr/>
              <p:nvPr/>
            </p:nvSpPr>
            <p:spPr>
              <a:xfrm>
                <a:off x="18997888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2" name="TextBox 221"/>
              <p:cNvSpPr txBox="1"/>
              <p:nvPr/>
            </p:nvSpPr>
            <p:spPr>
              <a:xfrm>
                <a:off x="18350689" y="8312592"/>
                <a:ext cx="532840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3</a:t>
                </a:r>
              </a:p>
            </p:txBody>
          </p:sp>
          <p:sp>
            <p:nvSpPr>
              <p:cNvPr id="223" name="TextBox 222"/>
              <p:cNvSpPr txBox="1"/>
              <p:nvPr/>
            </p:nvSpPr>
            <p:spPr>
              <a:xfrm>
                <a:off x="18835093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224" name="TextBox 223"/>
              <p:cNvSpPr txBox="1"/>
              <p:nvPr/>
            </p:nvSpPr>
            <p:spPr>
              <a:xfrm>
                <a:off x="19400446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225" name="Right Arrow 224"/>
              <p:cNvSpPr/>
              <p:nvPr/>
            </p:nvSpPr>
            <p:spPr>
              <a:xfrm>
                <a:off x="18612464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6" name="Right Arrow 225"/>
              <p:cNvSpPr/>
              <p:nvPr/>
            </p:nvSpPr>
            <p:spPr>
              <a:xfrm>
                <a:off x="19177818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7" name="Rectangle 226"/>
              <p:cNvSpPr/>
              <p:nvPr/>
            </p:nvSpPr>
            <p:spPr>
              <a:xfrm>
                <a:off x="19563243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28" name="Rectangle 227"/>
              <p:cNvSpPr/>
              <p:nvPr/>
            </p:nvSpPr>
            <p:spPr>
              <a:xfrm>
                <a:off x="18432534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32" name="Right Arrow 131"/>
            <p:cNvSpPr/>
            <p:nvPr/>
          </p:nvSpPr>
          <p:spPr>
            <a:xfrm>
              <a:off x="6097835" y="8815287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3" name="Right Arrow 132"/>
            <p:cNvSpPr/>
            <p:nvPr/>
          </p:nvSpPr>
          <p:spPr>
            <a:xfrm>
              <a:off x="6542456" y="8815287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5972618" y="8250645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6325799" y="8250645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6770420" y="8250645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53" name="Down Arrow 152"/>
            <p:cNvSpPr/>
            <p:nvPr/>
          </p:nvSpPr>
          <p:spPr>
            <a:xfrm flipV="1">
              <a:off x="10671009" y="9743064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55" name="TextBox 154"/>
            <p:cNvSpPr txBox="1"/>
            <p:nvPr/>
          </p:nvSpPr>
          <p:spPr>
            <a:xfrm flipH="1">
              <a:off x="11569215" y="972283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159" name="Rectangle 158"/>
            <p:cNvSpPr/>
            <p:nvPr/>
          </p:nvSpPr>
          <p:spPr>
            <a:xfrm flipH="1">
              <a:off x="11606743" y="8305807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60" name="Rectangle 159"/>
            <p:cNvSpPr/>
            <p:nvPr/>
          </p:nvSpPr>
          <p:spPr>
            <a:xfrm flipH="1">
              <a:off x="11140445" y="8305807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61" name="Group 160"/>
            <p:cNvGrpSpPr/>
            <p:nvPr/>
          </p:nvGrpSpPr>
          <p:grpSpPr>
            <a:xfrm>
              <a:off x="10498921" y="8305807"/>
              <a:ext cx="365760" cy="1371600"/>
              <a:chOff x="28554490" y="16388363"/>
              <a:chExt cx="1463709" cy="2743200"/>
            </a:xfrm>
          </p:grpSpPr>
          <p:sp>
            <p:nvSpPr>
              <p:cNvPr id="211" name="Rectangle 210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12" name="Rectangle 211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62" name="Right Arrow 161"/>
            <p:cNvSpPr/>
            <p:nvPr/>
          </p:nvSpPr>
          <p:spPr>
            <a:xfrm>
              <a:off x="7431697" y="8606553"/>
              <a:ext cx="3015140" cy="589710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64" name="Down Arrow 163"/>
            <p:cNvSpPr/>
            <p:nvPr/>
          </p:nvSpPr>
          <p:spPr>
            <a:xfrm flipV="1">
              <a:off x="11585076" y="7887116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65" name="TextBox 164"/>
            <p:cNvSpPr txBox="1"/>
            <p:nvPr/>
          </p:nvSpPr>
          <p:spPr>
            <a:xfrm flipH="1">
              <a:off x="11585076" y="6163803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167" name="Right Arrow 166"/>
            <p:cNvSpPr/>
            <p:nvPr/>
          </p:nvSpPr>
          <p:spPr>
            <a:xfrm>
              <a:off x="11810468" y="6954192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0" name="Rectangle 169"/>
            <p:cNvSpPr/>
            <p:nvPr/>
          </p:nvSpPr>
          <p:spPr>
            <a:xfrm flipH="1">
              <a:off x="12041839" y="6389550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71" name="Group 170"/>
            <p:cNvGrpSpPr/>
            <p:nvPr/>
          </p:nvGrpSpPr>
          <p:grpSpPr>
            <a:xfrm>
              <a:off x="11590404" y="6389550"/>
              <a:ext cx="182880" cy="1371600"/>
              <a:chOff x="28554490" y="16388363"/>
              <a:chExt cx="1463709" cy="2743200"/>
            </a:xfrm>
          </p:grpSpPr>
          <p:sp>
            <p:nvSpPr>
              <p:cNvPr id="209" name="Rectangle 208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10" name="Rectangle 209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72" name="TextBox 171"/>
            <p:cNvSpPr txBox="1"/>
            <p:nvPr/>
          </p:nvSpPr>
          <p:spPr>
            <a:xfrm flipH="1">
              <a:off x="11949082" y="6163803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174" name="Right Arrow 173"/>
            <p:cNvSpPr/>
            <p:nvPr/>
          </p:nvSpPr>
          <p:spPr>
            <a:xfrm>
              <a:off x="12176495" y="6954192"/>
              <a:ext cx="194187" cy="242316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5" name="Rectangle 174"/>
            <p:cNvSpPr/>
            <p:nvPr/>
          </p:nvSpPr>
          <p:spPr>
            <a:xfrm flipH="1">
              <a:off x="12407866" y="6389550"/>
              <a:ext cx="45720" cy="1371600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6" name="TextBox 175"/>
            <p:cNvSpPr txBox="1"/>
            <p:nvPr/>
          </p:nvSpPr>
          <p:spPr>
            <a:xfrm flipH="1">
              <a:off x="12347243" y="6163803"/>
              <a:ext cx="266420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2</a:t>
              </a:r>
            </a:p>
          </p:txBody>
        </p:sp>
        <p:sp>
          <p:nvSpPr>
            <p:cNvPr id="177" name="Right Arrow 176"/>
            <p:cNvSpPr/>
            <p:nvPr/>
          </p:nvSpPr>
          <p:spPr>
            <a:xfrm>
              <a:off x="6241546" y="6632388"/>
              <a:ext cx="5264543" cy="671762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78" name="Group 177"/>
            <p:cNvGrpSpPr/>
            <p:nvPr/>
          </p:nvGrpSpPr>
          <p:grpSpPr>
            <a:xfrm>
              <a:off x="12148459" y="8430434"/>
              <a:ext cx="3157418" cy="2236322"/>
              <a:chOff x="19111384" y="19891693"/>
              <a:chExt cx="6314836" cy="4472643"/>
            </a:xfrm>
          </p:grpSpPr>
          <p:sp>
            <p:nvSpPr>
              <p:cNvPr id="198" name="Right Arrow 197"/>
              <p:cNvSpPr/>
              <p:nvPr/>
            </p:nvSpPr>
            <p:spPr>
              <a:xfrm>
                <a:off x="19364127" y="20059290"/>
                <a:ext cx="1034989" cy="548595"/>
              </a:xfrm>
              <a:prstGeom prst="rightArrow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199" name="Down Arrow 198"/>
              <p:cNvSpPr/>
              <p:nvPr/>
            </p:nvSpPr>
            <p:spPr>
              <a:xfrm flipV="1">
                <a:off x="19698940" y="20798442"/>
                <a:ext cx="409094" cy="780264"/>
              </a:xfrm>
              <a:prstGeom prst="downArrow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0" name="Down Arrow 199"/>
              <p:cNvSpPr/>
              <p:nvPr/>
            </p:nvSpPr>
            <p:spPr>
              <a:xfrm>
                <a:off x="19698940" y="21761300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1" name="Right Arrow 200"/>
              <p:cNvSpPr/>
              <p:nvPr/>
            </p:nvSpPr>
            <p:spPr>
              <a:xfrm>
                <a:off x="19491200" y="22609360"/>
                <a:ext cx="1003225" cy="592809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2" name="Right Arrow 201"/>
              <p:cNvSpPr/>
              <p:nvPr/>
            </p:nvSpPr>
            <p:spPr>
              <a:xfrm>
                <a:off x="19518358" y="23436481"/>
                <a:ext cx="1003225" cy="592809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03" name="TextBox 202"/>
              <p:cNvSpPr txBox="1"/>
              <p:nvPr/>
            </p:nvSpPr>
            <p:spPr>
              <a:xfrm>
                <a:off x="20579984" y="19957909"/>
                <a:ext cx="332591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Concat</a:t>
                </a:r>
                <a:r>
                  <a:rPr lang="en-US" sz="2000" dirty="0"/>
                  <a:t> or Add</a:t>
                </a:r>
              </a:p>
            </p:txBody>
          </p:sp>
          <p:sp>
            <p:nvSpPr>
              <p:cNvPr id="204" name="TextBox 203"/>
              <p:cNvSpPr txBox="1"/>
              <p:nvPr/>
            </p:nvSpPr>
            <p:spPr>
              <a:xfrm>
                <a:off x="20673026" y="20843901"/>
                <a:ext cx="4400436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UpSampling</a:t>
                </a:r>
                <a:r>
                  <a:rPr lang="en-US" sz="2000" dirty="0"/>
                  <a:t> +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205" name="TextBox 204"/>
              <p:cNvSpPr txBox="1"/>
              <p:nvPr/>
            </p:nvSpPr>
            <p:spPr>
              <a:xfrm>
                <a:off x="20679924" y="21729895"/>
                <a:ext cx="302185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Strided</a:t>
                </a:r>
                <a:r>
                  <a:rPr lang="en-US" sz="2000" dirty="0"/>
                  <a:t>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206" name="TextBox 205"/>
              <p:cNvSpPr txBox="1"/>
              <p:nvPr/>
            </p:nvSpPr>
            <p:spPr>
              <a:xfrm>
                <a:off x="20683772" y="22537092"/>
                <a:ext cx="399391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3x3x3, </a:t>
                </a:r>
                <a:r>
                  <a:rPr lang="en-US" sz="2000" dirty="0" err="1"/>
                  <a:t>ReLu</a:t>
                </a:r>
                <a:endParaRPr lang="en-US" sz="2000" dirty="0"/>
              </a:p>
            </p:txBody>
          </p:sp>
          <p:sp>
            <p:nvSpPr>
              <p:cNvPr id="207" name="TextBox 206"/>
              <p:cNvSpPr txBox="1"/>
              <p:nvPr/>
            </p:nvSpPr>
            <p:spPr>
              <a:xfrm>
                <a:off x="20685220" y="23378228"/>
                <a:ext cx="465858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1x1x1, </a:t>
                </a:r>
                <a:r>
                  <a:rPr lang="en-US" sz="2000" dirty="0" err="1"/>
                  <a:t>softmax</a:t>
                </a:r>
                <a:endParaRPr lang="en-US" sz="2000" dirty="0"/>
              </a:p>
            </p:txBody>
          </p:sp>
          <p:sp>
            <p:nvSpPr>
              <p:cNvPr id="208" name="Rectangle 207"/>
              <p:cNvSpPr/>
              <p:nvPr/>
            </p:nvSpPr>
            <p:spPr>
              <a:xfrm>
                <a:off x="19111384" y="19891693"/>
                <a:ext cx="6314836" cy="4472643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79" name="Down Arrow 178"/>
            <p:cNvSpPr/>
            <p:nvPr/>
          </p:nvSpPr>
          <p:spPr>
            <a:xfrm>
              <a:off x="7203173" y="9743064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80" name="Rectangle 179"/>
            <p:cNvSpPr/>
            <p:nvPr/>
          </p:nvSpPr>
          <p:spPr>
            <a:xfrm>
              <a:off x="6868109" y="10180269"/>
              <a:ext cx="9144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182" name="Right Arrow 181"/>
            <p:cNvSpPr/>
            <p:nvPr/>
          </p:nvSpPr>
          <p:spPr>
            <a:xfrm>
              <a:off x="7868702" y="10230561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83" name="Rectangle 182"/>
            <p:cNvSpPr/>
            <p:nvPr/>
          </p:nvSpPr>
          <p:spPr>
            <a:xfrm>
              <a:off x="8412095" y="10180269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186" name="TextBox 185"/>
            <p:cNvSpPr txBox="1"/>
            <p:nvPr/>
          </p:nvSpPr>
          <p:spPr>
            <a:xfrm>
              <a:off x="8841373" y="1059057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187" name="Right Arrow 186"/>
            <p:cNvSpPr/>
            <p:nvPr/>
          </p:nvSpPr>
          <p:spPr>
            <a:xfrm>
              <a:off x="9641288" y="10239453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10184681" y="10171901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189" name="TextBox 188"/>
            <p:cNvSpPr txBox="1"/>
            <p:nvPr/>
          </p:nvSpPr>
          <p:spPr>
            <a:xfrm>
              <a:off x="10610444" y="10558236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231" name="TextBox 230"/>
            <p:cNvSpPr txBox="1"/>
            <p:nvPr/>
          </p:nvSpPr>
          <p:spPr>
            <a:xfrm>
              <a:off x="7178328" y="800101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232" name="Right Arrow 231"/>
            <p:cNvSpPr/>
            <p:nvPr/>
          </p:nvSpPr>
          <p:spPr>
            <a:xfrm>
              <a:off x="6987077" y="8813118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3" name="Rectangle 232"/>
            <p:cNvSpPr/>
            <p:nvPr/>
          </p:nvSpPr>
          <p:spPr>
            <a:xfrm>
              <a:off x="7215040" y="8248476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4" name="TextBox 233"/>
            <p:cNvSpPr txBox="1"/>
            <p:nvPr/>
          </p:nvSpPr>
          <p:spPr>
            <a:xfrm>
              <a:off x="7181307" y="10523169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239" name="TextBox 238"/>
            <p:cNvSpPr txBox="1"/>
            <p:nvPr/>
          </p:nvSpPr>
          <p:spPr>
            <a:xfrm flipH="1">
              <a:off x="11102759" y="9724304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242" name="TextBox 241"/>
            <p:cNvSpPr txBox="1"/>
            <p:nvPr/>
          </p:nvSpPr>
          <p:spPr>
            <a:xfrm>
              <a:off x="4391877" y="6775908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0</a:t>
              </a:r>
            </a:p>
          </p:txBody>
        </p:sp>
        <p:sp>
          <p:nvSpPr>
            <p:cNvPr id="243" name="TextBox 242"/>
            <p:cNvSpPr txBox="1"/>
            <p:nvPr/>
          </p:nvSpPr>
          <p:spPr>
            <a:xfrm>
              <a:off x="4392294" y="8473826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1</a:t>
              </a:r>
            </a:p>
          </p:txBody>
        </p:sp>
        <p:sp>
          <p:nvSpPr>
            <p:cNvPr id="244" name="TextBox 243"/>
            <p:cNvSpPr txBox="1"/>
            <p:nvPr/>
          </p:nvSpPr>
          <p:spPr>
            <a:xfrm>
              <a:off x="4391877" y="10171743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2</a:t>
              </a:r>
            </a:p>
          </p:txBody>
        </p:sp>
        <p:sp>
          <p:nvSpPr>
            <p:cNvPr id="3" name="TextBox 2"/>
            <p:cNvSpPr txBox="1"/>
            <p:nvPr/>
          </p:nvSpPr>
          <p:spPr>
            <a:xfrm>
              <a:off x="3200708" y="8129213"/>
              <a:ext cx="36260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 smtClean="0"/>
                <a:t>A</a:t>
              </a:r>
              <a:endParaRPr lang="en-US" sz="2400" dirty="0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115379" y="5722213"/>
              <a:ext cx="11385878" cy="51725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Down Arrow 5"/>
            <p:cNvSpPr/>
            <p:nvPr/>
          </p:nvSpPr>
          <p:spPr>
            <a:xfrm rot="4733698">
              <a:off x="8592327" y="3468812"/>
              <a:ext cx="1062585" cy="5206944"/>
            </a:xfrm>
            <a:prstGeom prst="down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2700" dirty="0"/>
                <a:t># of Convolution Blocks</a:t>
              </a:r>
            </a:p>
          </p:txBody>
        </p:sp>
      </p:grpSp>
      <p:sp>
        <p:nvSpPr>
          <p:cNvPr id="216" name="TextBox 215"/>
          <p:cNvSpPr txBox="1"/>
          <p:nvPr/>
        </p:nvSpPr>
        <p:spPr>
          <a:xfrm>
            <a:off x="2767991" y="8354998"/>
            <a:ext cx="351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smtClean="0"/>
              <a:t>B</a:t>
            </a:r>
            <a:endParaRPr lang="en-US" sz="2400" dirty="0"/>
          </a:p>
        </p:txBody>
      </p:sp>
      <p:grpSp>
        <p:nvGrpSpPr>
          <p:cNvPr id="335" name="Group 334"/>
          <p:cNvGrpSpPr/>
          <p:nvPr/>
        </p:nvGrpSpPr>
        <p:grpSpPr>
          <a:xfrm>
            <a:off x="4711251" y="6701496"/>
            <a:ext cx="9771684" cy="3559335"/>
            <a:chOff x="12678173" y="17126927"/>
            <a:chExt cx="11127016" cy="4359855"/>
          </a:xfrm>
        </p:grpSpPr>
        <p:sp>
          <p:nvSpPr>
            <p:cNvPr id="336" name="Rectangle 335"/>
            <p:cNvSpPr/>
            <p:nvPr/>
          </p:nvSpPr>
          <p:spPr>
            <a:xfrm>
              <a:off x="16358112" y="17170738"/>
              <a:ext cx="3294786" cy="428067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337" name="Straight Arrow Connector 336"/>
            <p:cNvCxnSpPr>
              <a:stCxn id="347" idx="4"/>
            </p:cNvCxnSpPr>
            <p:nvPr/>
          </p:nvCxnSpPr>
          <p:spPr>
            <a:xfrm>
              <a:off x="17973650" y="21199687"/>
              <a:ext cx="0" cy="274320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8" name="Rectangle 337"/>
            <p:cNvSpPr/>
            <p:nvPr/>
          </p:nvSpPr>
          <p:spPr>
            <a:xfrm>
              <a:off x="16766169" y="1834513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</a:p>
          </p:txBody>
        </p:sp>
        <p:sp>
          <p:nvSpPr>
            <p:cNvPr id="339" name="Rectangle 338"/>
            <p:cNvSpPr/>
            <p:nvPr/>
          </p:nvSpPr>
          <p:spPr>
            <a:xfrm>
              <a:off x="16766168" y="19609514"/>
              <a:ext cx="2400300" cy="8071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</a:p>
          </p:txBody>
        </p:sp>
        <p:cxnSp>
          <p:nvCxnSpPr>
            <p:cNvPr id="340" name="Straight Arrow Connector 339"/>
            <p:cNvCxnSpPr>
              <a:stCxn id="338" idx="2"/>
              <a:endCxn id="339" idx="0"/>
            </p:cNvCxnSpPr>
            <p:nvPr/>
          </p:nvCxnSpPr>
          <p:spPr>
            <a:xfrm flipH="1">
              <a:off x="17966318" y="19152314"/>
              <a:ext cx="1" cy="45719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Arrow Connector 340"/>
            <p:cNvCxnSpPr>
              <a:endCxn id="338" idx="0"/>
            </p:cNvCxnSpPr>
            <p:nvPr/>
          </p:nvCxnSpPr>
          <p:spPr>
            <a:xfrm>
              <a:off x="17966319" y="18017948"/>
              <a:ext cx="0" cy="327186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Arrow Connector 341"/>
            <p:cNvCxnSpPr>
              <a:stCxn id="339" idx="2"/>
              <a:endCxn id="347" idx="0"/>
            </p:cNvCxnSpPr>
            <p:nvPr/>
          </p:nvCxnSpPr>
          <p:spPr>
            <a:xfrm>
              <a:off x="17966318" y="20416693"/>
              <a:ext cx="7332" cy="325794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3" name="TextBox 342"/>
            <p:cNvSpPr txBox="1"/>
            <p:nvPr/>
          </p:nvSpPr>
          <p:spPr>
            <a:xfrm>
              <a:off x="17978162" y="19152315"/>
              <a:ext cx="1141056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</a:p>
          </p:txBody>
        </p:sp>
        <p:sp>
          <p:nvSpPr>
            <p:cNvPr id="344" name="TextBox 343"/>
            <p:cNvSpPr txBox="1"/>
            <p:nvPr/>
          </p:nvSpPr>
          <p:spPr>
            <a:xfrm>
              <a:off x="18105748" y="21072085"/>
              <a:ext cx="1141056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</a:p>
          </p:txBody>
        </p:sp>
        <p:sp>
          <p:nvSpPr>
            <p:cNvPr id="345" name="TextBox 344"/>
            <p:cNvSpPr txBox="1"/>
            <p:nvPr/>
          </p:nvSpPr>
          <p:spPr>
            <a:xfrm>
              <a:off x="17650782" y="17673033"/>
              <a:ext cx="641060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64-d</a:t>
              </a:r>
            </a:p>
          </p:txBody>
        </p:sp>
        <p:sp>
          <p:nvSpPr>
            <p:cNvPr id="346" name="Curved Up Arrow 345"/>
            <p:cNvSpPr/>
            <p:nvPr/>
          </p:nvSpPr>
          <p:spPr>
            <a:xfrm rot="16200000" flipH="1">
              <a:off x="17218595" y="18825687"/>
              <a:ext cx="3354040" cy="124832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47" name="Oval 346"/>
            <p:cNvSpPr/>
            <p:nvPr/>
          </p:nvSpPr>
          <p:spPr>
            <a:xfrm>
              <a:off x="17745050" y="20742487"/>
              <a:ext cx="457200" cy="457200"/>
            </a:xfrm>
            <a:prstGeom prst="ellips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+</a:t>
              </a:r>
            </a:p>
          </p:txBody>
        </p:sp>
        <p:sp>
          <p:nvSpPr>
            <p:cNvPr id="348" name="TextBox 347"/>
            <p:cNvSpPr txBox="1"/>
            <p:nvPr/>
          </p:nvSpPr>
          <p:spPr>
            <a:xfrm>
              <a:off x="17357975" y="17221345"/>
              <a:ext cx="1207280" cy="4900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Residual</a:t>
              </a:r>
            </a:p>
          </p:txBody>
        </p:sp>
        <p:sp>
          <p:nvSpPr>
            <p:cNvPr id="349" name="Rectangle 348"/>
            <p:cNvSpPr/>
            <p:nvPr/>
          </p:nvSpPr>
          <p:spPr>
            <a:xfrm>
              <a:off x="12678173" y="17159726"/>
              <a:ext cx="3294786" cy="423378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50" name="Rectangle 349"/>
            <p:cNvSpPr/>
            <p:nvPr/>
          </p:nvSpPr>
          <p:spPr>
            <a:xfrm>
              <a:off x="13086230" y="18321258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  <a:endParaRPr lang="en-US" sz="450" dirty="0"/>
            </a:p>
          </p:txBody>
        </p:sp>
        <p:sp>
          <p:nvSpPr>
            <p:cNvPr id="351" name="Rectangle 350"/>
            <p:cNvSpPr/>
            <p:nvPr/>
          </p:nvSpPr>
          <p:spPr>
            <a:xfrm>
              <a:off x="13086230" y="19887146"/>
              <a:ext cx="2400300" cy="79833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/>
                <a:t>Convolution</a:t>
              </a:r>
              <a:endParaRPr lang="en-US" sz="450" dirty="0"/>
            </a:p>
          </p:txBody>
        </p:sp>
        <p:cxnSp>
          <p:nvCxnSpPr>
            <p:cNvPr id="352" name="Straight Arrow Connector 351"/>
            <p:cNvCxnSpPr>
              <a:stCxn id="350" idx="2"/>
              <a:endCxn id="351" idx="0"/>
            </p:cNvCxnSpPr>
            <p:nvPr/>
          </p:nvCxnSpPr>
          <p:spPr>
            <a:xfrm>
              <a:off x="14286380" y="19119597"/>
              <a:ext cx="0" cy="76754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Arrow Connector 352"/>
            <p:cNvCxnSpPr>
              <a:endCxn id="350" idx="0"/>
            </p:cNvCxnSpPr>
            <p:nvPr/>
          </p:nvCxnSpPr>
          <p:spPr>
            <a:xfrm>
              <a:off x="14286380" y="17997656"/>
              <a:ext cx="0" cy="323602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Arrow Connector 353"/>
            <p:cNvCxnSpPr>
              <a:stCxn id="351" idx="2"/>
            </p:cNvCxnSpPr>
            <p:nvPr/>
          </p:nvCxnSpPr>
          <p:spPr>
            <a:xfrm flipH="1">
              <a:off x="14286379" y="20685486"/>
              <a:ext cx="1" cy="704828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5" name="TextBox 354"/>
            <p:cNvSpPr txBox="1"/>
            <p:nvPr/>
          </p:nvSpPr>
          <p:spPr>
            <a:xfrm>
              <a:off x="14282892" y="19178695"/>
              <a:ext cx="1141057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  <a:endParaRPr lang="en-US" sz="450" dirty="0"/>
            </a:p>
          </p:txBody>
        </p:sp>
        <p:sp>
          <p:nvSpPr>
            <p:cNvPr id="356" name="TextBox 355"/>
            <p:cNvSpPr txBox="1"/>
            <p:nvPr/>
          </p:nvSpPr>
          <p:spPr>
            <a:xfrm>
              <a:off x="14404420" y="20786421"/>
              <a:ext cx="1141056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activation</a:t>
              </a:r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13949763" y="17550171"/>
              <a:ext cx="641060" cy="4146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64-d</a:t>
              </a:r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13599978" y="17126927"/>
              <a:ext cx="1279636" cy="4900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Standard</a:t>
              </a:r>
              <a:endParaRPr lang="en-US" sz="1600" dirty="0"/>
            </a:p>
          </p:txBody>
        </p:sp>
        <p:sp>
          <p:nvSpPr>
            <p:cNvPr id="359" name="Rectangle 358"/>
            <p:cNvSpPr/>
            <p:nvPr/>
          </p:nvSpPr>
          <p:spPr>
            <a:xfrm>
              <a:off x="19950271" y="17174433"/>
              <a:ext cx="3854918" cy="427053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cxnSp>
          <p:nvCxnSpPr>
            <p:cNvPr id="360" name="Straight Arrow Connector 359"/>
            <p:cNvCxnSpPr>
              <a:endCxn id="363" idx="0"/>
            </p:cNvCxnSpPr>
            <p:nvPr/>
          </p:nvCxnSpPr>
          <p:spPr>
            <a:xfrm>
              <a:off x="21442782" y="18306587"/>
              <a:ext cx="0" cy="50156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1" name="Curved Up Arrow 360"/>
            <p:cNvSpPr/>
            <p:nvPr/>
          </p:nvSpPr>
          <p:spPr>
            <a:xfrm rot="16200000" flipH="1">
              <a:off x="21958254" y="17957082"/>
              <a:ext cx="1309592" cy="891829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62" name="Rectangle 361"/>
            <p:cNvSpPr/>
            <p:nvPr/>
          </p:nvSpPr>
          <p:spPr>
            <a:xfrm>
              <a:off x="20718429" y="1938265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</a:p>
          </p:txBody>
        </p:sp>
        <p:sp>
          <p:nvSpPr>
            <p:cNvPr id="363" name="Rectangle 362"/>
            <p:cNvSpPr/>
            <p:nvPr/>
          </p:nvSpPr>
          <p:spPr>
            <a:xfrm>
              <a:off x="20718429" y="18808156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/>
                <a:t>Concat</a:t>
              </a:r>
              <a:endParaRPr lang="en-US" sz="1600" dirty="0"/>
            </a:p>
          </p:txBody>
        </p:sp>
        <p:cxnSp>
          <p:nvCxnSpPr>
            <p:cNvPr id="364" name="Straight Arrow Connector 363"/>
            <p:cNvCxnSpPr>
              <a:stCxn id="363" idx="2"/>
              <a:endCxn id="362" idx="0"/>
            </p:cNvCxnSpPr>
            <p:nvPr/>
          </p:nvCxnSpPr>
          <p:spPr>
            <a:xfrm>
              <a:off x="21442782" y="19076430"/>
              <a:ext cx="0" cy="306228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Arrow Connector 364"/>
            <p:cNvCxnSpPr>
              <a:stCxn id="366" idx="2"/>
              <a:endCxn id="367" idx="0"/>
            </p:cNvCxnSpPr>
            <p:nvPr/>
          </p:nvCxnSpPr>
          <p:spPr>
            <a:xfrm>
              <a:off x="21427299" y="17927428"/>
              <a:ext cx="0" cy="306227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6" name="Rectangle 365"/>
            <p:cNvSpPr/>
            <p:nvPr/>
          </p:nvSpPr>
          <p:spPr>
            <a:xfrm>
              <a:off x="20702946" y="17659154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  <a:endParaRPr lang="en-US" sz="800" dirty="0"/>
            </a:p>
          </p:txBody>
        </p:sp>
        <p:sp>
          <p:nvSpPr>
            <p:cNvPr id="367" name="Rectangle 366"/>
            <p:cNvSpPr/>
            <p:nvPr/>
          </p:nvSpPr>
          <p:spPr>
            <a:xfrm>
              <a:off x="20702946" y="18233655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</a:p>
          </p:txBody>
        </p:sp>
        <p:sp>
          <p:nvSpPr>
            <p:cNvPr id="368" name="Curved Up Arrow 367"/>
            <p:cNvSpPr/>
            <p:nvPr/>
          </p:nvSpPr>
          <p:spPr>
            <a:xfrm rot="16200000" flipH="1">
              <a:off x="21795027" y="18697967"/>
              <a:ext cx="1806657" cy="109340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cxnSp>
          <p:nvCxnSpPr>
            <p:cNvPr id="369" name="Straight Arrow Connector 368"/>
            <p:cNvCxnSpPr>
              <a:stCxn id="362" idx="2"/>
              <a:endCxn id="370" idx="0"/>
            </p:cNvCxnSpPr>
            <p:nvPr/>
          </p:nvCxnSpPr>
          <p:spPr>
            <a:xfrm>
              <a:off x="21442782" y="1965093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0" name="Rectangle 369"/>
            <p:cNvSpPr/>
            <p:nvPr/>
          </p:nvSpPr>
          <p:spPr>
            <a:xfrm>
              <a:off x="20718429" y="1995182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/>
                <a:t>Concat</a:t>
              </a:r>
              <a:endParaRPr lang="en-US" sz="1600" dirty="0"/>
            </a:p>
          </p:txBody>
        </p:sp>
        <p:sp>
          <p:nvSpPr>
            <p:cNvPr id="371" name="Curved Up Arrow 370"/>
            <p:cNvSpPr/>
            <p:nvPr/>
          </p:nvSpPr>
          <p:spPr>
            <a:xfrm rot="16200000" flipH="1">
              <a:off x="21506987" y="18409930"/>
              <a:ext cx="2390480" cy="1085660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2" name="Rectangle 371"/>
            <p:cNvSpPr/>
            <p:nvPr/>
          </p:nvSpPr>
          <p:spPr>
            <a:xfrm>
              <a:off x="20718429" y="20512868"/>
              <a:ext cx="1448706" cy="2682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Convolution</a:t>
              </a:r>
            </a:p>
          </p:txBody>
        </p:sp>
        <p:cxnSp>
          <p:nvCxnSpPr>
            <p:cNvPr id="373" name="Straight Arrow Connector 372"/>
            <p:cNvCxnSpPr>
              <a:stCxn id="372" idx="2"/>
              <a:endCxn id="374" idx="0"/>
            </p:cNvCxnSpPr>
            <p:nvPr/>
          </p:nvCxnSpPr>
          <p:spPr>
            <a:xfrm>
              <a:off x="21442782" y="20781142"/>
              <a:ext cx="0" cy="300889"/>
            </a:xfrm>
            <a:prstGeom prst="straightConnector1">
              <a:avLst/>
            </a:prstGeom>
            <a:ln w="508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4" name="Rectangle 373"/>
            <p:cNvSpPr/>
            <p:nvPr/>
          </p:nvSpPr>
          <p:spPr>
            <a:xfrm>
              <a:off x="20718429" y="21082031"/>
              <a:ext cx="1448706" cy="268274"/>
            </a:xfrm>
            <a:prstGeom prst="rect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 err="1"/>
                <a:t>Concat</a:t>
              </a:r>
              <a:endParaRPr lang="en-US" sz="1600" dirty="0"/>
            </a:p>
          </p:txBody>
        </p:sp>
        <p:cxnSp>
          <p:nvCxnSpPr>
            <p:cNvPr id="375" name="Straight Arrow Connector 374"/>
            <p:cNvCxnSpPr>
              <a:stCxn id="370" idx="2"/>
              <a:endCxn id="372" idx="0"/>
            </p:cNvCxnSpPr>
            <p:nvPr/>
          </p:nvCxnSpPr>
          <p:spPr>
            <a:xfrm>
              <a:off x="21442782" y="20220095"/>
              <a:ext cx="0" cy="292773"/>
            </a:xfrm>
            <a:prstGeom prst="straightConnector1">
              <a:avLst/>
            </a:prstGeom>
            <a:ln w="50800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6" name="Curved Up Arrow 375"/>
            <p:cNvSpPr/>
            <p:nvPr/>
          </p:nvSpPr>
          <p:spPr>
            <a:xfrm rot="16200000" flipH="1">
              <a:off x="21255689" y="19246636"/>
              <a:ext cx="3008964" cy="1198373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7" name="Curved Up Arrow 376"/>
            <p:cNvSpPr/>
            <p:nvPr/>
          </p:nvSpPr>
          <p:spPr>
            <a:xfrm rot="16200000" flipH="1">
              <a:off x="21106326" y="18799469"/>
              <a:ext cx="3604554" cy="1497118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8" name="Curved Up Arrow 377"/>
            <p:cNvSpPr/>
            <p:nvPr/>
          </p:nvSpPr>
          <p:spPr>
            <a:xfrm rot="16200000" flipH="1">
              <a:off x="21972418" y="19665559"/>
              <a:ext cx="1856244" cy="1513251"/>
            </a:xfrm>
            <a:prstGeom prst="curvedUpArrow">
              <a:avLst>
                <a:gd name="adj1" fmla="val 7684"/>
                <a:gd name="adj2" fmla="val 19964"/>
                <a:gd name="adj3" fmla="val 22348"/>
              </a:avLst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79" name="TextBox 378"/>
            <p:cNvSpPr txBox="1"/>
            <p:nvPr/>
          </p:nvSpPr>
          <p:spPr>
            <a:xfrm>
              <a:off x="20907244" y="17184995"/>
              <a:ext cx="949541" cy="4900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/>
                <a:t>Dense</a:t>
              </a:r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20052942" y="17897319"/>
              <a:ext cx="1390033" cy="376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</a:p>
          </p:txBody>
        </p:sp>
        <p:sp>
          <p:nvSpPr>
            <p:cNvPr id="381" name="TextBox 380"/>
            <p:cNvSpPr txBox="1"/>
            <p:nvPr/>
          </p:nvSpPr>
          <p:spPr>
            <a:xfrm>
              <a:off x="19987741" y="19046228"/>
              <a:ext cx="1390033" cy="376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</a:p>
          </p:txBody>
        </p:sp>
        <p:sp>
          <p:nvSpPr>
            <p:cNvPr id="382" name="TextBox 381"/>
            <p:cNvSpPr txBox="1"/>
            <p:nvPr/>
          </p:nvSpPr>
          <p:spPr>
            <a:xfrm>
              <a:off x="19980983" y="20196408"/>
              <a:ext cx="1390033" cy="376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BN, Activation</a:t>
              </a:r>
            </a:p>
          </p:txBody>
        </p:sp>
      </p:grpSp>
      <p:sp>
        <p:nvSpPr>
          <p:cNvPr id="383" name="Rectangle 382"/>
          <p:cNvSpPr/>
          <p:nvPr/>
        </p:nvSpPr>
        <p:spPr>
          <a:xfrm flipH="1">
            <a:off x="4266892" y="6550073"/>
            <a:ext cx="10444053" cy="3908494"/>
          </a:xfrm>
          <a:prstGeom prst="rect">
            <a:avLst/>
          </a:prstGeom>
          <a:noFill/>
          <a:ln w="139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/>
          </a:p>
        </p:txBody>
      </p:sp>
      <p:grpSp>
        <p:nvGrpSpPr>
          <p:cNvPr id="26" name="Group 25"/>
          <p:cNvGrpSpPr/>
          <p:nvPr/>
        </p:nvGrpSpPr>
        <p:grpSpPr>
          <a:xfrm>
            <a:off x="2592300" y="11061581"/>
            <a:ext cx="12041735" cy="4939426"/>
            <a:chOff x="2592300" y="11061581"/>
            <a:chExt cx="12041735" cy="4939426"/>
          </a:xfrm>
        </p:grpSpPr>
        <p:sp>
          <p:nvSpPr>
            <p:cNvPr id="217" name="Right Arrow 216"/>
            <p:cNvSpPr/>
            <p:nvPr/>
          </p:nvSpPr>
          <p:spPr>
            <a:xfrm>
              <a:off x="4028537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18" name="Rectangle 217"/>
            <p:cNvSpPr/>
            <p:nvPr/>
          </p:nvSpPr>
          <p:spPr>
            <a:xfrm>
              <a:off x="379641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Image</a:t>
              </a:r>
            </a:p>
          </p:txBody>
        </p:sp>
        <p:sp>
          <p:nvSpPr>
            <p:cNvPr id="221" name="Down Arrow 220"/>
            <p:cNvSpPr/>
            <p:nvPr/>
          </p:nvSpPr>
          <p:spPr>
            <a:xfrm flipV="1">
              <a:off x="11355615" y="13456692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29" name="Down Arrow 228"/>
            <p:cNvSpPr/>
            <p:nvPr/>
          </p:nvSpPr>
          <p:spPr>
            <a:xfrm>
              <a:off x="11355615" y="14088209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0" name="Right Arrow 229"/>
            <p:cNvSpPr/>
            <p:nvPr/>
          </p:nvSpPr>
          <p:spPr>
            <a:xfrm>
              <a:off x="11254974" y="14627060"/>
              <a:ext cx="4572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5" name="Right Arrow 234"/>
            <p:cNvSpPr/>
            <p:nvPr/>
          </p:nvSpPr>
          <p:spPr>
            <a:xfrm>
              <a:off x="11254463" y="15045856"/>
              <a:ext cx="4572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6" name="TextBox 235"/>
            <p:cNvSpPr txBox="1"/>
            <p:nvPr/>
          </p:nvSpPr>
          <p:spPr>
            <a:xfrm>
              <a:off x="11693038" y="13342835"/>
              <a:ext cx="215026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 smtClean="0"/>
                <a:t>Bilinear </a:t>
              </a:r>
              <a:r>
                <a:rPr lang="en-US" sz="2000" dirty="0" err="1" smtClean="0"/>
                <a:t>Upsample</a:t>
              </a:r>
              <a:r>
                <a:rPr lang="en-US" sz="2000" dirty="0" smtClean="0"/>
                <a:t>,</a:t>
              </a:r>
            </a:p>
            <a:p>
              <a:pPr algn="ctr"/>
              <a:r>
                <a:rPr lang="en-US" sz="2000" dirty="0" smtClean="0"/>
                <a:t>Convolution 3x3x3</a:t>
              </a:r>
              <a:endParaRPr lang="en-US" sz="2000" dirty="0"/>
            </a:p>
          </p:txBody>
        </p:sp>
        <p:sp>
          <p:nvSpPr>
            <p:cNvPr id="237" name="TextBox 236"/>
            <p:cNvSpPr txBox="1"/>
            <p:nvPr/>
          </p:nvSpPr>
          <p:spPr>
            <a:xfrm>
              <a:off x="11713235" y="14079505"/>
              <a:ext cx="29208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/>
                <a:t>Strided</a:t>
              </a:r>
              <a:r>
                <a:rPr lang="en-US" sz="2000" dirty="0"/>
                <a:t> </a:t>
              </a:r>
              <a:r>
                <a:rPr lang="en-US" sz="2000" dirty="0" smtClean="0"/>
                <a:t>Convolution 2x2x2</a:t>
              </a:r>
              <a:endParaRPr lang="en-US" sz="2000" dirty="0"/>
            </a:p>
          </p:txBody>
        </p:sp>
        <p:sp>
          <p:nvSpPr>
            <p:cNvPr id="238" name="TextBox 237"/>
            <p:cNvSpPr txBox="1"/>
            <p:nvPr/>
          </p:nvSpPr>
          <p:spPr>
            <a:xfrm>
              <a:off x="11848031" y="14559927"/>
              <a:ext cx="21112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Convolution </a:t>
              </a:r>
              <a:r>
                <a:rPr lang="en-US" sz="2000" dirty="0"/>
                <a:t>3x3x3</a:t>
              </a:r>
            </a:p>
          </p:txBody>
        </p:sp>
        <p:sp>
          <p:nvSpPr>
            <p:cNvPr id="240" name="TextBox 239"/>
            <p:cNvSpPr txBox="1"/>
            <p:nvPr/>
          </p:nvSpPr>
          <p:spPr>
            <a:xfrm>
              <a:off x="11848754" y="14980495"/>
              <a:ext cx="21112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Convolution 1x1x1</a:t>
              </a:r>
              <a:endParaRPr lang="en-US" sz="2000" dirty="0"/>
            </a:p>
          </p:txBody>
        </p:sp>
        <p:sp>
          <p:nvSpPr>
            <p:cNvPr id="241" name="Rectangle 240"/>
            <p:cNvSpPr/>
            <p:nvPr/>
          </p:nvSpPr>
          <p:spPr>
            <a:xfrm>
              <a:off x="11061836" y="13237228"/>
              <a:ext cx="3572199" cy="2763779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46" name="TextBox 245"/>
            <p:cNvSpPr txBox="1"/>
            <p:nvPr/>
          </p:nvSpPr>
          <p:spPr>
            <a:xfrm>
              <a:off x="2592300" y="12105286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0</a:t>
              </a:r>
            </a:p>
          </p:txBody>
        </p:sp>
        <p:sp>
          <p:nvSpPr>
            <p:cNvPr id="247" name="TextBox 246"/>
            <p:cNvSpPr txBox="1"/>
            <p:nvPr/>
          </p:nvSpPr>
          <p:spPr>
            <a:xfrm>
              <a:off x="4010679" y="13878030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1</a:t>
              </a:r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425996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4492087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50" name="Right Arrow 249"/>
            <p:cNvSpPr/>
            <p:nvPr/>
          </p:nvSpPr>
          <p:spPr>
            <a:xfrm>
              <a:off x="4728315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51" name="Rectangle 250"/>
            <p:cNvSpPr/>
            <p:nvPr/>
          </p:nvSpPr>
          <p:spPr>
            <a:xfrm>
              <a:off x="495956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2" name="Rectangle 251"/>
            <p:cNvSpPr/>
            <p:nvPr/>
          </p:nvSpPr>
          <p:spPr>
            <a:xfrm>
              <a:off x="5202664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3" name="Right Arrow 252"/>
            <p:cNvSpPr/>
            <p:nvPr/>
          </p:nvSpPr>
          <p:spPr>
            <a:xfrm>
              <a:off x="5663639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5906443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5" name="Rectangle 254"/>
            <p:cNvSpPr/>
            <p:nvPr/>
          </p:nvSpPr>
          <p:spPr>
            <a:xfrm>
              <a:off x="6141907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56" name="Right Arrow 255"/>
            <p:cNvSpPr/>
            <p:nvPr/>
          </p:nvSpPr>
          <p:spPr>
            <a:xfrm>
              <a:off x="6370507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6605416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683335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706129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0" name="Right Arrow 259"/>
            <p:cNvSpPr/>
            <p:nvPr/>
          </p:nvSpPr>
          <p:spPr>
            <a:xfrm>
              <a:off x="7294864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61" name="Rectangle 260"/>
            <p:cNvSpPr/>
            <p:nvPr/>
          </p:nvSpPr>
          <p:spPr>
            <a:xfrm>
              <a:off x="7528143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2" name="Rectangle 261"/>
            <p:cNvSpPr/>
            <p:nvPr/>
          </p:nvSpPr>
          <p:spPr>
            <a:xfrm>
              <a:off x="7763607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5435039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5190789" y="1340767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5" name="Rectangle 264"/>
            <p:cNvSpPr/>
            <p:nvPr/>
          </p:nvSpPr>
          <p:spPr>
            <a:xfrm>
              <a:off x="5419389" y="13407674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66" name="Right Arrow 265"/>
            <p:cNvSpPr/>
            <p:nvPr/>
          </p:nvSpPr>
          <p:spPr>
            <a:xfrm>
              <a:off x="5658743" y="13953657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5880471" y="1340309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8" name="Rectangle 267"/>
            <p:cNvSpPr/>
            <p:nvPr/>
          </p:nvSpPr>
          <p:spPr>
            <a:xfrm>
              <a:off x="6123567" y="1340309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69" name="Rectangle 268"/>
            <p:cNvSpPr/>
            <p:nvPr/>
          </p:nvSpPr>
          <p:spPr>
            <a:xfrm>
              <a:off x="6355942" y="1340309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70" name="Right Arrow 269"/>
            <p:cNvSpPr/>
            <p:nvPr/>
          </p:nvSpPr>
          <p:spPr>
            <a:xfrm>
              <a:off x="6585295" y="13980945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6828099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7063563" y="134094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73" name="Right Arrow 272"/>
            <p:cNvSpPr/>
            <p:nvPr/>
          </p:nvSpPr>
          <p:spPr>
            <a:xfrm>
              <a:off x="7299122" y="13972978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7539113" y="13411379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5" name="Rectangle 274"/>
            <p:cNvSpPr/>
            <p:nvPr/>
          </p:nvSpPr>
          <p:spPr>
            <a:xfrm>
              <a:off x="7759135" y="13411379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7994994" y="13411379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7" name="Right Arrow 276"/>
            <p:cNvSpPr/>
            <p:nvPr/>
          </p:nvSpPr>
          <p:spPr>
            <a:xfrm>
              <a:off x="8236305" y="1397459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8479109" y="1340309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8714573" y="1340309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80" name="Right Arrow 279"/>
            <p:cNvSpPr/>
            <p:nvPr/>
          </p:nvSpPr>
          <p:spPr>
            <a:xfrm>
              <a:off x="8941040" y="13971044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81" name="Rectangle 280"/>
            <p:cNvSpPr/>
            <p:nvPr/>
          </p:nvSpPr>
          <p:spPr>
            <a:xfrm>
              <a:off x="9181031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2" name="Rectangle 281"/>
            <p:cNvSpPr/>
            <p:nvPr/>
          </p:nvSpPr>
          <p:spPr>
            <a:xfrm>
              <a:off x="9401053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9636912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9864614" y="134094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5" name="Right Arrow 284"/>
            <p:cNvSpPr/>
            <p:nvPr/>
          </p:nvSpPr>
          <p:spPr>
            <a:xfrm>
              <a:off x="10104805" y="13991224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86" name="Rectangle 285"/>
            <p:cNvSpPr/>
            <p:nvPr/>
          </p:nvSpPr>
          <p:spPr>
            <a:xfrm>
              <a:off x="10347609" y="1341972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87" name="Rectangle 286"/>
            <p:cNvSpPr/>
            <p:nvPr/>
          </p:nvSpPr>
          <p:spPr>
            <a:xfrm>
              <a:off x="10583073" y="13419724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844139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0" name="Rectangle 289"/>
            <p:cNvSpPr/>
            <p:nvPr/>
          </p:nvSpPr>
          <p:spPr>
            <a:xfrm>
              <a:off x="8673517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91" name="Right Arrow 290"/>
            <p:cNvSpPr/>
            <p:nvPr/>
          </p:nvSpPr>
          <p:spPr>
            <a:xfrm>
              <a:off x="8909745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92" name="Rectangle 291"/>
            <p:cNvSpPr/>
            <p:nvPr/>
          </p:nvSpPr>
          <p:spPr>
            <a:xfrm>
              <a:off x="9140998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9380382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4" name="Right Arrow 293"/>
            <p:cNvSpPr/>
            <p:nvPr/>
          </p:nvSpPr>
          <p:spPr>
            <a:xfrm>
              <a:off x="10574043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95" name="Rectangle 294"/>
            <p:cNvSpPr/>
            <p:nvPr/>
          </p:nvSpPr>
          <p:spPr>
            <a:xfrm>
              <a:off x="10807322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6" name="Rectangle 295"/>
            <p:cNvSpPr/>
            <p:nvPr/>
          </p:nvSpPr>
          <p:spPr>
            <a:xfrm>
              <a:off x="11042786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297" name="Right Arrow 296"/>
            <p:cNvSpPr/>
            <p:nvPr/>
          </p:nvSpPr>
          <p:spPr>
            <a:xfrm>
              <a:off x="11280911" y="12271211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98" name="Right Arrow 297"/>
            <p:cNvSpPr/>
            <p:nvPr/>
          </p:nvSpPr>
          <p:spPr>
            <a:xfrm>
              <a:off x="12699898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12942702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0" name="Rectangle 299"/>
            <p:cNvSpPr/>
            <p:nvPr/>
          </p:nvSpPr>
          <p:spPr>
            <a:xfrm>
              <a:off x="13178166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301" name="Rectangle 300"/>
            <p:cNvSpPr/>
            <p:nvPr/>
          </p:nvSpPr>
          <p:spPr>
            <a:xfrm>
              <a:off x="10333000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9619766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9859150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5" name="Rectangle 304"/>
            <p:cNvSpPr/>
            <p:nvPr/>
          </p:nvSpPr>
          <p:spPr>
            <a:xfrm>
              <a:off x="1151393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6" name="Rectangle 305"/>
            <p:cNvSpPr/>
            <p:nvPr/>
          </p:nvSpPr>
          <p:spPr>
            <a:xfrm>
              <a:off x="11747725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7" name="Rectangle 306"/>
            <p:cNvSpPr/>
            <p:nvPr/>
          </p:nvSpPr>
          <p:spPr>
            <a:xfrm>
              <a:off x="11986642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1222476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12463195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10" name="Rectangle 309"/>
            <p:cNvSpPr/>
            <p:nvPr/>
          </p:nvSpPr>
          <p:spPr>
            <a:xfrm>
              <a:off x="10098534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11" name="Right Arrow 310"/>
            <p:cNvSpPr/>
            <p:nvPr/>
          </p:nvSpPr>
          <p:spPr>
            <a:xfrm>
              <a:off x="13413853" y="12271211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12" name="Rectangle 311"/>
            <p:cNvSpPr/>
            <p:nvPr/>
          </p:nvSpPr>
          <p:spPr>
            <a:xfrm>
              <a:off x="13656657" y="11699711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13" name="Rectangle 312"/>
            <p:cNvSpPr/>
            <p:nvPr/>
          </p:nvSpPr>
          <p:spPr>
            <a:xfrm>
              <a:off x="13892121" y="11699711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err="1" smtClean="0">
                  <a:solidFill>
                    <a:schemeClr val="tx1"/>
                  </a:solidFill>
                </a:rPr>
                <a:t>Softmax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314" name="Curved Down Arrow 313"/>
            <p:cNvSpPr/>
            <p:nvPr/>
          </p:nvSpPr>
          <p:spPr>
            <a:xfrm>
              <a:off x="11254463" y="15419275"/>
              <a:ext cx="497599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5" name="TextBox 314"/>
            <p:cNvSpPr txBox="1"/>
            <p:nvPr/>
          </p:nvSpPr>
          <p:spPr>
            <a:xfrm>
              <a:off x="11848031" y="15364004"/>
              <a:ext cx="1701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Concatenation</a:t>
              </a:r>
              <a:endParaRPr lang="en-US" sz="2000" dirty="0"/>
            </a:p>
          </p:txBody>
        </p:sp>
        <p:sp>
          <p:nvSpPr>
            <p:cNvPr id="316" name="Curved Down Arrow 315"/>
            <p:cNvSpPr/>
            <p:nvPr/>
          </p:nvSpPr>
          <p:spPr>
            <a:xfrm>
              <a:off x="8487943" y="11320179"/>
              <a:ext cx="4284673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7" name="Curved Down Arrow 316"/>
            <p:cNvSpPr/>
            <p:nvPr/>
          </p:nvSpPr>
          <p:spPr>
            <a:xfrm>
              <a:off x="6655779" y="11233518"/>
              <a:ext cx="5849615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8" name="Curved Down Arrow 317"/>
            <p:cNvSpPr/>
            <p:nvPr/>
          </p:nvSpPr>
          <p:spPr>
            <a:xfrm>
              <a:off x="5026892" y="11149519"/>
              <a:ext cx="7249902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19" name="Curved Down Arrow 318"/>
            <p:cNvSpPr/>
            <p:nvPr/>
          </p:nvSpPr>
          <p:spPr>
            <a:xfrm>
              <a:off x="4328432" y="11061581"/>
              <a:ext cx="7709934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0" name="Curved Down Arrow 319"/>
            <p:cNvSpPr/>
            <p:nvPr/>
          </p:nvSpPr>
          <p:spPr>
            <a:xfrm>
              <a:off x="8488781" y="11311003"/>
              <a:ext cx="1859923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1" name="Curved Down Arrow 320"/>
            <p:cNvSpPr/>
            <p:nvPr/>
          </p:nvSpPr>
          <p:spPr>
            <a:xfrm>
              <a:off x="6655853" y="11236940"/>
              <a:ext cx="3450673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2" name="Curved Down Arrow 321"/>
            <p:cNvSpPr/>
            <p:nvPr/>
          </p:nvSpPr>
          <p:spPr>
            <a:xfrm>
              <a:off x="5026892" y="11148774"/>
              <a:ext cx="4845168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3" name="Curved Down Arrow 322"/>
            <p:cNvSpPr/>
            <p:nvPr/>
          </p:nvSpPr>
          <p:spPr>
            <a:xfrm>
              <a:off x="4329423" y="11061581"/>
              <a:ext cx="5326635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4" name="Curved Down Arrow 323"/>
            <p:cNvSpPr/>
            <p:nvPr/>
          </p:nvSpPr>
          <p:spPr>
            <a:xfrm>
              <a:off x="5026893" y="11148774"/>
              <a:ext cx="2282054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5" name="Curved Down Arrow 324"/>
            <p:cNvSpPr/>
            <p:nvPr/>
          </p:nvSpPr>
          <p:spPr>
            <a:xfrm>
              <a:off x="4326291" y="11061620"/>
              <a:ext cx="2754056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6" name="Curved Down Arrow 325"/>
            <p:cNvSpPr/>
            <p:nvPr/>
          </p:nvSpPr>
          <p:spPr>
            <a:xfrm>
              <a:off x="4329424" y="11061620"/>
              <a:ext cx="1142882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7" name="Curved Down Arrow 326"/>
            <p:cNvSpPr/>
            <p:nvPr/>
          </p:nvSpPr>
          <p:spPr>
            <a:xfrm flipV="1">
              <a:off x="7615285" y="14791324"/>
              <a:ext cx="2471579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8" name="Curved Down Arrow 327"/>
            <p:cNvSpPr/>
            <p:nvPr/>
          </p:nvSpPr>
          <p:spPr>
            <a:xfrm flipV="1">
              <a:off x="5944730" y="14777430"/>
              <a:ext cx="3914432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29" name="Curved Down Arrow 328"/>
            <p:cNvSpPr/>
            <p:nvPr/>
          </p:nvSpPr>
          <p:spPr>
            <a:xfrm flipV="1">
              <a:off x="5249240" y="14784974"/>
              <a:ext cx="4374063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30" name="Curved Down Arrow 329"/>
            <p:cNvSpPr/>
            <p:nvPr/>
          </p:nvSpPr>
          <p:spPr>
            <a:xfrm flipV="1">
              <a:off x="5944730" y="14783605"/>
              <a:ext cx="2292473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31" name="Curved Down Arrow 330"/>
            <p:cNvSpPr/>
            <p:nvPr/>
          </p:nvSpPr>
          <p:spPr>
            <a:xfrm flipV="1">
              <a:off x="5249240" y="14791324"/>
              <a:ext cx="2745754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332" name="Curved Down Arrow 331"/>
            <p:cNvSpPr/>
            <p:nvPr/>
          </p:nvSpPr>
          <p:spPr>
            <a:xfrm flipV="1">
              <a:off x="5249240" y="14784974"/>
              <a:ext cx="1102927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cxnSp>
          <p:nvCxnSpPr>
            <p:cNvPr id="21" name="Curved Connector 20"/>
            <p:cNvCxnSpPr>
              <a:stCxn id="262" idx="2"/>
              <a:endCxn id="264" idx="0"/>
            </p:cNvCxnSpPr>
            <p:nvPr/>
          </p:nvCxnSpPr>
          <p:spPr>
            <a:xfrm rot="5400000">
              <a:off x="6423317" y="11953083"/>
              <a:ext cx="336363" cy="2572818"/>
            </a:xfrm>
            <a:prstGeom prst="curvedConnector3">
              <a:avLst/>
            </a:prstGeom>
            <a:ln w="349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urved Connector 23"/>
            <p:cNvCxnSpPr>
              <a:stCxn id="287" idx="0"/>
              <a:endCxn id="289" idx="2"/>
            </p:cNvCxnSpPr>
            <p:nvPr/>
          </p:nvCxnSpPr>
          <p:spPr>
            <a:xfrm rot="16200000" flipV="1">
              <a:off x="9452330" y="12174680"/>
              <a:ext cx="348413" cy="2141675"/>
            </a:xfrm>
            <a:prstGeom prst="curvedConnector3">
              <a:avLst/>
            </a:prstGeom>
            <a:ln w="3492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820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8" name="Right Arrow 67"/>
          <p:cNvSpPr/>
          <p:nvPr/>
        </p:nvSpPr>
        <p:spPr>
          <a:xfrm>
            <a:off x="7244164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71" name="Rectangle 70"/>
          <p:cNvSpPr/>
          <p:nvPr/>
        </p:nvSpPr>
        <p:spPr>
          <a:xfrm>
            <a:off x="701204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49" name="Down Arrow 48"/>
          <p:cNvSpPr/>
          <p:nvPr/>
        </p:nvSpPr>
        <p:spPr>
          <a:xfrm flipV="1">
            <a:off x="14571242" y="9622285"/>
            <a:ext cx="204547" cy="390132"/>
          </a:xfrm>
          <a:prstGeom prst="down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0" name="Down Arrow 49"/>
          <p:cNvSpPr/>
          <p:nvPr/>
        </p:nvSpPr>
        <p:spPr>
          <a:xfrm>
            <a:off x="14571242" y="10253802"/>
            <a:ext cx="204547" cy="390132"/>
          </a:xfrm>
          <a:prstGeom prst="downArrow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1" name="Right Arrow 50"/>
          <p:cNvSpPr/>
          <p:nvPr/>
        </p:nvSpPr>
        <p:spPr>
          <a:xfrm>
            <a:off x="14470601" y="10792653"/>
            <a:ext cx="4572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2" name="Right Arrow 51"/>
          <p:cNvSpPr/>
          <p:nvPr/>
        </p:nvSpPr>
        <p:spPr>
          <a:xfrm>
            <a:off x="14470090" y="11211449"/>
            <a:ext cx="4572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54" name="TextBox 53"/>
          <p:cNvSpPr txBox="1"/>
          <p:nvPr/>
        </p:nvSpPr>
        <p:spPr>
          <a:xfrm>
            <a:off x="14908665" y="9508428"/>
            <a:ext cx="215026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 smtClean="0"/>
              <a:t>Bilinear </a:t>
            </a:r>
            <a:r>
              <a:rPr lang="en-US" sz="2000" dirty="0" err="1" smtClean="0"/>
              <a:t>Upsample</a:t>
            </a:r>
            <a:r>
              <a:rPr lang="en-US" sz="2000" dirty="0" smtClean="0"/>
              <a:t>,</a:t>
            </a:r>
          </a:p>
          <a:p>
            <a:pPr algn="ctr"/>
            <a:r>
              <a:rPr lang="en-US" sz="2000" dirty="0" smtClean="0"/>
              <a:t>Convolution 3x3x3</a:t>
            </a:r>
            <a:endParaRPr lang="en-US" sz="2000" dirty="0"/>
          </a:p>
        </p:txBody>
      </p:sp>
      <p:sp>
        <p:nvSpPr>
          <p:cNvPr id="55" name="TextBox 54"/>
          <p:cNvSpPr txBox="1"/>
          <p:nvPr/>
        </p:nvSpPr>
        <p:spPr>
          <a:xfrm>
            <a:off x="14928862" y="10245098"/>
            <a:ext cx="29208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/>
              <a:t>Strided</a:t>
            </a:r>
            <a:r>
              <a:rPr lang="en-US" sz="2000" dirty="0"/>
              <a:t> </a:t>
            </a:r>
            <a:r>
              <a:rPr lang="en-US" sz="2000" dirty="0" smtClean="0"/>
              <a:t>Convolution 2x2x2</a:t>
            </a:r>
            <a:endParaRPr lang="en-US" sz="2000" dirty="0"/>
          </a:p>
        </p:txBody>
      </p:sp>
      <p:sp>
        <p:nvSpPr>
          <p:cNvPr id="56" name="TextBox 55"/>
          <p:cNvSpPr txBox="1"/>
          <p:nvPr/>
        </p:nvSpPr>
        <p:spPr>
          <a:xfrm>
            <a:off x="15063658" y="10725520"/>
            <a:ext cx="21112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Convolution </a:t>
            </a:r>
            <a:r>
              <a:rPr lang="en-US" sz="2000" dirty="0"/>
              <a:t>3x3x3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064381" y="11146088"/>
            <a:ext cx="211128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Convolution 1x1x1</a:t>
            </a:r>
            <a:endParaRPr lang="en-US" sz="2000" dirty="0"/>
          </a:p>
        </p:txBody>
      </p:sp>
      <p:sp>
        <p:nvSpPr>
          <p:cNvPr id="58" name="Rectangle 57"/>
          <p:cNvSpPr/>
          <p:nvPr/>
        </p:nvSpPr>
        <p:spPr>
          <a:xfrm>
            <a:off x="14277463" y="9402821"/>
            <a:ext cx="3572199" cy="2763779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45" name="TextBox 44"/>
          <p:cNvSpPr txBox="1"/>
          <p:nvPr/>
        </p:nvSpPr>
        <p:spPr>
          <a:xfrm>
            <a:off x="5807927" y="8270879"/>
            <a:ext cx="10030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Layer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6306" y="10043623"/>
            <a:ext cx="10030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/>
              <a:t>Layer 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47559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0" name="Rectangle 79"/>
          <p:cNvSpPr/>
          <p:nvPr/>
        </p:nvSpPr>
        <p:spPr>
          <a:xfrm>
            <a:off x="7707714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7943942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94" name="Rectangle 93"/>
          <p:cNvSpPr/>
          <p:nvPr/>
        </p:nvSpPr>
        <p:spPr>
          <a:xfrm>
            <a:off x="817519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8418291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6" name="Right Arrow 95"/>
          <p:cNvSpPr/>
          <p:nvPr/>
        </p:nvSpPr>
        <p:spPr>
          <a:xfrm>
            <a:off x="8879266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97" name="Rectangle 96"/>
          <p:cNvSpPr/>
          <p:nvPr/>
        </p:nvSpPr>
        <p:spPr>
          <a:xfrm>
            <a:off x="9122070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9357534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9586134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0" name="Rectangle 99"/>
          <p:cNvSpPr/>
          <p:nvPr/>
        </p:nvSpPr>
        <p:spPr>
          <a:xfrm>
            <a:off x="9821043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1004898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4" name="Rectangle 103"/>
          <p:cNvSpPr/>
          <p:nvPr/>
        </p:nvSpPr>
        <p:spPr>
          <a:xfrm>
            <a:off x="1027692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6" name="Right Arrow 105"/>
          <p:cNvSpPr/>
          <p:nvPr/>
        </p:nvSpPr>
        <p:spPr>
          <a:xfrm>
            <a:off x="10510491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07" name="Rectangle 106"/>
          <p:cNvSpPr/>
          <p:nvPr/>
        </p:nvSpPr>
        <p:spPr>
          <a:xfrm>
            <a:off x="10743770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08" name="Rectangle 107"/>
          <p:cNvSpPr/>
          <p:nvPr/>
        </p:nvSpPr>
        <p:spPr>
          <a:xfrm>
            <a:off x="10979234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50666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406416" y="9573267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8635016" y="9573267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14" name="Right Arrow 113"/>
          <p:cNvSpPr/>
          <p:nvPr/>
        </p:nvSpPr>
        <p:spPr>
          <a:xfrm>
            <a:off x="8874370" y="10119250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15" name="Rectangle 114"/>
          <p:cNvSpPr/>
          <p:nvPr/>
        </p:nvSpPr>
        <p:spPr>
          <a:xfrm>
            <a:off x="9096098" y="956868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6" name="Rectangle 115"/>
          <p:cNvSpPr/>
          <p:nvPr/>
        </p:nvSpPr>
        <p:spPr>
          <a:xfrm>
            <a:off x="9339194" y="956868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9571569" y="956868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19" name="Right Arrow 118"/>
          <p:cNvSpPr/>
          <p:nvPr/>
        </p:nvSpPr>
        <p:spPr>
          <a:xfrm>
            <a:off x="9800922" y="10146538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20" name="Rectangle 119"/>
          <p:cNvSpPr/>
          <p:nvPr/>
        </p:nvSpPr>
        <p:spPr>
          <a:xfrm>
            <a:off x="10043726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10279190" y="9575038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10514749" y="10138571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23" name="Rectangle 122"/>
          <p:cNvSpPr/>
          <p:nvPr/>
        </p:nvSpPr>
        <p:spPr>
          <a:xfrm>
            <a:off x="10754740" y="9576972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4" name="Rectangle 123"/>
          <p:cNvSpPr/>
          <p:nvPr/>
        </p:nvSpPr>
        <p:spPr>
          <a:xfrm>
            <a:off x="10974762" y="9576972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11210621" y="9576972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28" name="Right Arrow 127"/>
          <p:cNvSpPr/>
          <p:nvPr/>
        </p:nvSpPr>
        <p:spPr>
          <a:xfrm>
            <a:off x="11451932" y="1014018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29" name="Rectangle 128"/>
          <p:cNvSpPr/>
          <p:nvPr/>
        </p:nvSpPr>
        <p:spPr>
          <a:xfrm>
            <a:off x="11694736" y="956868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0" name="Rectangle 129"/>
          <p:cNvSpPr/>
          <p:nvPr/>
        </p:nvSpPr>
        <p:spPr>
          <a:xfrm>
            <a:off x="11930200" y="956868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31" name="Right Arrow 130"/>
          <p:cNvSpPr/>
          <p:nvPr/>
        </p:nvSpPr>
        <p:spPr>
          <a:xfrm>
            <a:off x="12156667" y="10136637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32" name="Rectangle 131"/>
          <p:cNvSpPr/>
          <p:nvPr/>
        </p:nvSpPr>
        <p:spPr>
          <a:xfrm>
            <a:off x="12396658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12616680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4" name="Rectangle 133"/>
          <p:cNvSpPr/>
          <p:nvPr/>
        </p:nvSpPr>
        <p:spPr>
          <a:xfrm>
            <a:off x="12852539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8" name="Rectangle 137"/>
          <p:cNvSpPr/>
          <p:nvPr/>
        </p:nvSpPr>
        <p:spPr>
          <a:xfrm>
            <a:off x="13080241" y="9575038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9" name="Right Arrow 138"/>
          <p:cNvSpPr/>
          <p:nvPr/>
        </p:nvSpPr>
        <p:spPr>
          <a:xfrm>
            <a:off x="13320432" y="10156817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40" name="Rectangle 139"/>
          <p:cNvSpPr/>
          <p:nvPr/>
        </p:nvSpPr>
        <p:spPr>
          <a:xfrm>
            <a:off x="13563236" y="9585317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13798700" y="9585317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1165702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11889144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53" name="Right Arrow 152"/>
          <p:cNvSpPr/>
          <p:nvPr/>
        </p:nvSpPr>
        <p:spPr>
          <a:xfrm>
            <a:off x="12125372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54" name="Rectangle 153"/>
          <p:cNvSpPr/>
          <p:nvPr/>
        </p:nvSpPr>
        <p:spPr>
          <a:xfrm>
            <a:off x="12356625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2596009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6" name="Right Arrow 155"/>
          <p:cNvSpPr/>
          <p:nvPr/>
        </p:nvSpPr>
        <p:spPr>
          <a:xfrm>
            <a:off x="13789670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57" name="Rectangle 156"/>
          <p:cNvSpPr/>
          <p:nvPr/>
        </p:nvSpPr>
        <p:spPr>
          <a:xfrm>
            <a:off x="14022949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14258413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59" name="Right Arrow 158"/>
          <p:cNvSpPr/>
          <p:nvPr/>
        </p:nvSpPr>
        <p:spPr>
          <a:xfrm>
            <a:off x="14496538" y="8436804"/>
            <a:ext cx="2286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65" name="Right Arrow 164"/>
          <p:cNvSpPr/>
          <p:nvPr/>
        </p:nvSpPr>
        <p:spPr>
          <a:xfrm>
            <a:off x="15915525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66" name="Rectangle 165"/>
          <p:cNvSpPr/>
          <p:nvPr/>
        </p:nvSpPr>
        <p:spPr>
          <a:xfrm>
            <a:off x="16158329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16393793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13548627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Elu + BN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2835393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3074777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1" name="Rectangle 180"/>
          <p:cNvSpPr/>
          <p:nvPr/>
        </p:nvSpPr>
        <p:spPr>
          <a:xfrm>
            <a:off x="1472956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2" name="Rectangle 181"/>
          <p:cNvSpPr/>
          <p:nvPr/>
        </p:nvSpPr>
        <p:spPr>
          <a:xfrm>
            <a:off x="14963352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15202269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4" name="Rectangle 183"/>
          <p:cNvSpPr/>
          <p:nvPr/>
        </p:nvSpPr>
        <p:spPr>
          <a:xfrm>
            <a:off x="1544039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15678822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88" name="Rectangle 187"/>
          <p:cNvSpPr/>
          <p:nvPr/>
        </p:nvSpPr>
        <p:spPr>
          <a:xfrm>
            <a:off x="13314161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2" name="Right Arrow 191"/>
          <p:cNvSpPr/>
          <p:nvPr/>
        </p:nvSpPr>
        <p:spPr>
          <a:xfrm>
            <a:off x="16629480" y="8436804"/>
            <a:ext cx="228600" cy="228600"/>
          </a:xfrm>
          <a:prstGeom prst="right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193" name="Rectangle 192"/>
          <p:cNvSpPr/>
          <p:nvPr/>
        </p:nvSpPr>
        <p:spPr>
          <a:xfrm>
            <a:off x="16872284" y="786530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4" name="Rectangle 193"/>
          <p:cNvSpPr/>
          <p:nvPr/>
        </p:nvSpPr>
        <p:spPr>
          <a:xfrm>
            <a:off x="17107748" y="786530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Softmax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99" name="Curved Down Arrow 198"/>
          <p:cNvSpPr/>
          <p:nvPr/>
        </p:nvSpPr>
        <p:spPr>
          <a:xfrm>
            <a:off x="14470090" y="11584868"/>
            <a:ext cx="497599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200" name="TextBox 199"/>
          <p:cNvSpPr txBox="1"/>
          <p:nvPr/>
        </p:nvSpPr>
        <p:spPr>
          <a:xfrm>
            <a:off x="15063658" y="11529597"/>
            <a:ext cx="1701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smtClean="0"/>
              <a:t>Concatenation</a:t>
            </a:r>
            <a:endParaRPr lang="en-US" sz="2000" dirty="0"/>
          </a:p>
        </p:txBody>
      </p:sp>
      <p:sp>
        <p:nvSpPr>
          <p:cNvPr id="191" name="Curved Down Arrow 190"/>
          <p:cNvSpPr/>
          <p:nvPr/>
        </p:nvSpPr>
        <p:spPr>
          <a:xfrm>
            <a:off x="11703570" y="7485772"/>
            <a:ext cx="4284673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90" name="Curved Down Arrow 189"/>
          <p:cNvSpPr/>
          <p:nvPr/>
        </p:nvSpPr>
        <p:spPr>
          <a:xfrm>
            <a:off x="9871406" y="7399111"/>
            <a:ext cx="5849615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87" name="Curved Down Arrow 186"/>
          <p:cNvSpPr/>
          <p:nvPr/>
        </p:nvSpPr>
        <p:spPr>
          <a:xfrm>
            <a:off x="8242519" y="7315112"/>
            <a:ext cx="7249902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86" name="Curved Down Arrow 185"/>
          <p:cNvSpPr/>
          <p:nvPr/>
        </p:nvSpPr>
        <p:spPr>
          <a:xfrm>
            <a:off x="7544059" y="7227174"/>
            <a:ext cx="7709934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79" name="Curved Down Arrow 178"/>
          <p:cNvSpPr/>
          <p:nvPr/>
        </p:nvSpPr>
        <p:spPr>
          <a:xfrm>
            <a:off x="11704408" y="7476596"/>
            <a:ext cx="1859923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89" name="Curved Down Arrow 188"/>
          <p:cNvSpPr/>
          <p:nvPr/>
        </p:nvSpPr>
        <p:spPr>
          <a:xfrm>
            <a:off x="9871480" y="7402533"/>
            <a:ext cx="3450673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78" name="Curved Down Arrow 177"/>
          <p:cNvSpPr/>
          <p:nvPr/>
        </p:nvSpPr>
        <p:spPr>
          <a:xfrm>
            <a:off x="8242519" y="7314367"/>
            <a:ext cx="4845168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77" name="Curved Down Arrow 176"/>
          <p:cNvSpPr/>
          <p:nvPr/>
        </p:nvSpPr>
        <p:spPr>
          <a:xfrm>
            <a:off x="7545050" y="7227174"/>
            <a:ext cx="5326635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05" name="Curved Down Arrow 104"/>
          <p:cNvSpPr/>
          <p:nvPr/>
        </p:nvSpPr>
        <p:spPr>
          <a:xfrm>
            <a:off x="8242520" y="7314367"/>
            <a:ext cx="2282054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01" name="Curved Down Arrow 100"/>
          <p:cNvSpPr/>
          <p:nvPr/>
        </p:nvSpPr>
        <p:spPr>
          <a:xfrm>
            <a:off x="7541918" y="7227213"/>
            <a:ext cx="2754056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83" name="Curved Down Arrow 82"/>
          <p:cNvSpPr/>
          <p:nvPr/>
        </p:nvSpPr>
        <p:spPr>
          <a:xfrm>
            <a:off x="7545051" y="7227213"/>
            <a:ext cx="1142882" cy="64008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7" name="Curved Down Arrow 136"/>
          <p:cNvSpPr/>
          <p:nvPr/>
        </p:nvSpPr>
        <p:spPr>
          <a:xfrm flipV="1">
            <a:off x="10830912" y="10956917"/>
            <a:ext cx="2471579" cy="36576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5" name="Curved Down Arrow 134"/>
          <p:cNvSpPr/>
          <p:nvPr/>
        </p:nvSpPr>
        <p:spPr>
          <a:xfrm flipV="1">
            <a:off x="9160357" y="10943023"/>
            <a:ext cx="3914432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36" name="Curved Down Arrow 135"/>
          <p:cNvSpPr/>
          <p:nvPr/>
        </p:nvSpPr>
        <p:spPr>
          <a:xfrm flipV="1">
            <a:off x="8464867" y="10950567"/>
            <a:ext cx="4374063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7" name="Curved Down Arrow 126"/>
          <p:cNvSpPr/>
          <p:nvPr/>
        </p:nvSpPr>
        <p:spPr>
          <a:xfrm flipV="1">
            <a:off x="9160357" y="10949198"/>
            <a:ext cx="2292473" cy="45720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26" name="Curved Down Arrow 125"/>
          <p:cNvSpPr/>
          <p:nvPr/>
        </p:nvSpPr>
        <p:spPr>
          <a:xfrm flipV="1">
            <a:off x="8464867" y="10956917"/>
            <a:ext cx="2745754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sp>
        <p:nvSpPr>
          <p:cNvPr id="118" name="Curved Down Arrow 117"/>
          <p:cNvSpPr/>
          <p:nvPr/>
        </p:nvSpPr>
        <p:spPr>
          <a:xfrm flipV="1">
            <a:off x="8464867" y="10950567"/>
            <a:ext cx="1102927" cy="548640"/>
          </a:xfrm>
          <a:prstGeom prst="curvedDownArrow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450">
              <a:solidFill>
                <a:schemeClr val="tx1"/>
              </a:solidFill>
            </a:endParaRPr>
          </a:p>
        </p:txBody>
      </p:sp>
      <p:cxnSp>
        <p:nvCxnSpPr>
          <p:cNvPr id="145" name="Curved Connector 144"/>
          <p:cNvCxnSpPr>
            <a:stCxn id="108" idx="2"/>
            <a:endCxn id="110" idx="0"/>
          </p:cNvCxnSpPr>
          <p:nvPr/>
        </p:nvCxnSpPr>
        <p:spPr>
          <a:xfrm rot="5400000">
            <a:off x="9638944" y="8118676"/>
            <a:ext cx="336363" cy="2572818"/>
          </a:xfrm>
          <a:prstGeom prst="curvedConnector3">
            <a:avLst>
              <a:gd name="adj1" fmla="val 50000"/>
            </a:avLst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urved Connector 145"/>
          <p:cNvCxnSpPr>
            <a:stCxn id="141" idx="0"/>
            <a:endCxn id="150" idx="2"/>
          </p:cNvCxnSpPr>
          <p:nvPr/>
        </p:nvCxnSpPr>
        <p:spPr>
          <a:xfrm rot="16200000" flipV="1">
            <a:off x="12667957" y="8340273"/>
            <a:ext cx="348413" cy="2141675"/>
          </a:xfrm>
          <a:prstGeom prst="curvedConnector3">
            <a:avLst>
              <a:gd name="adj1" fmla="val 50000"/>
            </a:avLst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46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2616982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2858025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099192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Image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349083" y="7483022"/>
            <a:ext cx="457200" cy="228600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50"/>
          </a:p>
        </p:txBody>
      </p:sp>
      <p:sp>
        <p:nvSpPr>
          <p:cNvPr id="8" name="Rectangle 7"/>
          <p:cNvSpPr/>
          <p:nvPr/>
        </p:nvSpPr>
        <p:spPr>
          <a:xfrm>
            <a:off x="3853946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DenseNet</a:t>
            </a:r>
            <a:r>
              <a:rPr lang="en-US" sz="1200" dirty="0" smtClean="0">
                <a:solidFill>
                  <a:schemeClr val="tx1"/>
                </a:solidFill>
              </a:rPr>
              <a:t> 0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44095" y="10079240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</a:rPr>
              <a:t>Dense Block 4</a:t>
            </a:r>
            <a:endParaRPr lang="en-US" sz="1200" dirty="0">
              <a:solidFill>
                <a:schemeClr val="tx1"/>
              </a:solidFill>
            </a:endParaRPr>
          </a:p>
        </p:txBody>
      </p:sp>
      <p:grpSp>
        <p:nvGrpSpPr>
          <p:cNvPr id="89" name="Group 88"/>
          <p:cNvGrpSpPr/>
          <p:nvPr/>
        </p:nvGrpSpPr>
        <p:grpSpPr>
          <a:xfrm>
            <a:off x="4949271" y="9224749"/>
            <a:ext cx="1023290" cy="1371600"/>
            <a:chOff x="5045981" y="10701544"/>
            <a:chExt cx="1023290" cy="1371600"/>
          </a:xfrm>
        </p:grpSpPr>
        <p:sp>
          <p:nvSpPr>
            <p:cNvPr id="12" name="Rectangle 11"/>
            <p:cNvSpPr/>
            <p:nvPr/>
          </p:nvSpPr>
          <p:spPr>
            <a:xfrm>
              <a:off x="5045981" y="1070154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smtClean="0">
                  <a:solidFill>
                    <a:schemeClr val="tx1"/>
                  </a:solidFill>
                </a:rPr>
                <a:t>Transition Block 3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840671" y="10701544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8" name="Down Arrow 17"/>
            <p:cNvSpPr/>
            <p:nvPr/>
          </p:nvSpPr>
          <p:spPr>
            <a:xfrm rot="16200000">
              <a:off x="5442318" y="11107847"/>
              <a:ext cx="230616" cy="566090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/>
          <p:cNvGrpSpPr/>
          <p:nvPr/>
        </p:nvGrpSpPr>
        <p:grpSpPr>
          <a:xfrm>
            <a:off x="4582353" y="8458193"/>
            <a:ext cx="1817980" cy="1371600"/>
            <a:chOff x="4648636" y="9469644"/>
            <a:chExt cx="1817980" cy="1371600"/>
          </a:xfrm>
        </p:grpSpPr>
        <p:sp>
          <p:nvSpPr>
            <p:cNvPr id="11" name="Rectangle 10"/>
            <p:cNvSpPr/>
            <p:nvPr/>
          </p:nvSpPr>
          <p:spPr>
            <a:xfrm>
              <a:off x="4648636" y="946964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smtClean="0">
                  <a:solidFill>
                    <a:schemeClr val="tx1"/>
                  </a:solidFill>
                </a:rPr>
                <a:t>Transition Block 2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238016" y="9469644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3" name="Down Arrow 22"/>
            <p:cNvSpPr/>
            <p:nvPr/>
          </p:nvSpPr>
          <p:spPr>
            <a:xfrm rot="16200000">
              <a:off x="5461193" y="9459377"/>
              <a:ext cx="196064" cy="1357581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7" name="Group 86"/>
          <p:cNvGrpSpPr/>
          <p:nvPr/>
        </p:nvGrpSpPr>
        <p:grpSpPr>
          <a:xfrm>
            <a:off x="4244861" y="7744811"/>
            <a:ext cx="2612670" cy="1371600"/>
            <a:chOff x="4251291" y="8271376"/>
            <a:chExt cx="2612670" cy="1371600"/>
          </a:xfrm>
        </p:grpSpPr>
        <p:sp>
          <p:nvSpPr>
            <p:cNvPr id="10" name="Rectangle 9"/>
            <p:cNvSpPr/>
            <p:nvPr/>
          </p:nvSpPr>
          <p:spPr>
            <a:xfrm>
              <a:off x="4251291" y="8271376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smtClean="0">
                  <a:solidFill>
                    <a:schemeClr val="tx1"/>
                  </a:solidFill>
                </a:rPr>
                <a:t>Transition Block 1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635361" y="8271376"/>
              <a:ext cx="228600" cy="137160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9" name="Down Arrow 28"/>
            <p:cNvSpPr/>
            <p:nvPr/>
          </p:nvSpPr>
          <p:spPr>
            <a:xfrm rot="16200000">
              <a:off x="5454027" y="7819418"/>
              <a:ext cx="228600" cy="2134072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/>
          <p:cNvSpPr/>
          <p:nvPr/>
        </p:nvSpPr>
        <p:spPr>
          <a:xfrm>
            <a:off x="7032706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</a:rPr>
              <a:t>2D Features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7261306" y="6978254"/>
            <a:ext cx="228600" cy="137160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smtClean="0">
                <a:solidFill>
                  <a:schemeClr val="tx1"/>
                </a:solidFill>
              </a:rPr>
              <a:t>Final Prediction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496770" y="6978254"/>
            <a:ext cx="228600" cy="137160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sz="1200" dirty="0" err="1" smtClean="0">
                <a:solidFill>
                  <a:schemeClr val="tx1"/>
                </a:solidFill>
              </a:rPr>
              <a:t>Softmax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36" name="Down Arrow 35"/>
          <p:cNvSpPr/>
          <p:nvPr/>
        </p:nvSpPr>
        <p:spPr>
          <a:xfrm rot="16200000">
            <a:off x="5439893" y="6158862"/>
            <a:ext cx="228600" cy="2943296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4" name="Group 93"/>
          <p:cNvGrpSpPr/>
          <p:nvPr/>
        </p:nvGrpSpPr>
        <p:grpSpPr>
          <a:xfrm>
            <a:off x="6930277" y="9224749"/>
            <a:ext cx="3164947" cy="2565399"/>
            <a:chOff x="8313122" y="9209859"/>
            <a:chExt cx="3164947" cy="2565399"/>
          </a:xfrm>
        </p:grpSpPr>
        <p:sp>
          <p:nvSpPr>
            <p:cNvPr id="50" name="Down Arrow 49"/>
            <p:cNvSpPr/>
            <p:nvPr/>
          </p:nvSpPr>
          <p:spPr>
            <a:xfrm flipV="1">
              <a:off x="8606901" y="9429323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1" name="Down Arrow 50"/>
            <p:cNvSpPr/>
            <p:nvPr/>
          </p:nvSpPr>
          <p:spPr>
            <a:xfrm>
              <a:off x="8606901" y="10060840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2" name="Right Arrow 51"/>
            <p:cNvSpPr/>
            <p:nvPr/>
          </p:nvSpPr>
          <p:spPr>
            <a:xfrm>
              <a:off x="8506260" y="10599691"/>
              <a:ext cx="4572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8781520" y="9424963"/>
              <a:ext cx="25141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 smtClean="0"/>
                <a:t>Bilinear </a:t>
              </a:r>
              <a:r>
                <a:rPr lang="en-US" sz="2000" dirty="0" err="1" smtClean="0"/>
                <a:t>Upsample</a:t>
              </a:r>
              <a:r>
                <a:rPr lang="en-US" sz="2000" dirty="0" smtClean="0"/>
                <a:t> 2x2</a:t>
              </a:r>
              <a:endParaRPr lang="en-US" sz="2000" dirty="0"/>
            </a:p>
          </p:txBody>
        </p:sp>
        <p:sp>
          <p:nvSpPr>
            <p:cNvPr id="55" name="TextBox 54"/>
            <p:cNvSpPr txBox="1"/>
            <p:nvPr/>
          </p:nvSpPr>
          <p:spPr>
            <a:xfrm>
              <a:off x="8964521" y="10052136"/>
              <a:ext cx="228088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Average Pooling 2x2</a:t>
              </a:r>
              <a:endParaRPr lang="en-US" sz="2000" dirty="0"/>
            </a:p>
          </p:txBody>
        </p:sp>
        <p:sp>
          <p:nvSpPr>
            <p:cNvPr id="56" name="TextBox 55"/>
            <p:cNvSpPr txBox="1"/>
            <p:nvPr/>
          </p:nvSpPr>
          <p:spPr>
            <a:xfrm>
              <a:off x="9099317" y="10532558"/>
              <a:ext cx="60305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Add</a:t>
              </a:r>
              <a:endParaRPr lang="en-US" sz="2000" dirty="0"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313122" y="9209859"/>
              <a:ext cx="3164947" cy="2565399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61" name="Rectangle 60"/>
            <p:cNvSpPr/>
            <p:nvPr/>
          </p:nvSpPr>
          <p:spPr>
            <a:xfrm>
              <a:off x="8590994" y="10975736"/>
              <a:ext cx="228600" cy="748231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9000215" y="10986276"/>
              <a:ext cx="2297232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Convolution 3x3, BN</a:t>
              </a:r>
              <a:br>
                <a:rPr lang="en-US" sz="2000" dirty="0" smtClean="0"/>
              </a:br>
              <a:r>
                <a:rPr lang="en-US" sz="2000" dirty="0" err="1" smtClean="0"/>
                <a:t>relu</a:t>
              </a:r>
              <a:r>
                <a:rPr lang="en-US" sz="2000" dirty="0" smtClean="0"/>
                <a:t> activation</a:t>
              </a:r>
              <a:endParaRPr lang="en-US" sz="2000" dirty="0"/>
            </a:p>
          </p:txBody>
        </p:sp>
      </p:grpSp>
      <p:cxnSp>
        <p:nvCxnSpPr>
          <p:cNvPr id="63" name="Curved Connector 62"/>
          <p:cNvCxnSpPr>
            <a:stCxn id="8" idx="2"/>
            <a:endCxn id="10" idx="1"/>
          </p:cNvCxnSpPr>
          <p:nvPr/>
        </p:nvCxnSpPr>
        <p:spPr>
          <a:xfrm rot="16200000" flipH="1">
            <a:off x="4066175" y="8251924"/>
            <a:ext cx="80757" cy="276615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urved Connector 63"/>
          <p:cNvCxnSpPr>
            <a:stCxn id="14" idx="3"/>
            <a:endCxn id="20" idx="2"/>
          </p:cNvCxnSpPr>
          <p:nvPr/>
        </p:nvCxnSpPr>
        <p:spPr>
          <a:xfrm flipV="1">
            <a:off x="5972561" y="9829793"/>
            <a:ext cx="313472" cy="80756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urved Connector 66"/>
          <p:cNvCxnSpPr>
            <a:stCxn id="10" idx="2"/>
            <a:endCxn id="11" idx="1"/>
          </p:cNvCxnSpPr>
          <p:nvPr/>
        </p:nvCxnSpPr>
        <p:spPr>
          <a:xfrm rot="16200000" flipH="1">
            <a:off x="4456966" y="9018606"/>
            <a:ext cx="27582" cy="223192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urved Connector 69"/>
          <p:cNvCxnSpPr>
            <a:stCxn id="11" idx="2"/>
            <a:endCxn id="12" idx="1"/>
          </p:cNvCxnSpPr>
          <p:nvPr/>
        </p:nvCxnSpPr>
        <p:spPr>
          <a:xfrm rot="16200000" flipH="1">
            <a:off x="4782584" y="9743862"/>
            <a:ext cx="80756" cy="252618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urved Connector 72"/>
          <p:cNvCxnSpPr>
            <a:stCxn id="12" idx="2"/>
            <a:endCxn id="13" idx="1"/>
          </p:cNvCxnSpPr>
          <p:nvPr/>
        </p:nvCxnSpPr>
        <p:spPr>
          <a:xfrm rot="16200000" flipH="1">
            <a:off x="5119488" y="10540432"/>
            <a:ext cx="168691" cy="280524"/>
          </a:xfrm>
          <a:prstGeom prst="curvedConnector2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urved Connector 75"/>
          <p:cNvCxnSpPr>
            <a:stCxn id="13" idx="3"/>
            <a:endCxn id="14" idx="2"/>
          </p:cNvCxnSpPr>
          <p:nvPr/>
        </p:nvCxnSpPr>
        <p:spPr>
          <a:xfrm flipV="1">
            <a:off x="5572695" y="10596349"/>
            <a:ext cx="285566" cy="168691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urved Connector 80"/>
          <p:cNvCxnSpPr>
            <a:stCxn id="20" idx="3"/>
            <a:endCxn id="25" idx="2"/>
          </p:cNvCxnSpPr>
          <p:nvPr/>
        </p:nvCxnSpPr>
        <p:spPr>
          <a:xfrm flipV="1">
            <a:off x="6400333" y="9116411"/>
            <a:ext cx="342898" cy="27582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urved Connector 83"/>
          <p:cNvCxnSpPr>
            <a:stCxn id="25" idx="3"/>
            <a:endCxn id="30" idx="2"/>
          </p:cNvCxnSpPr>
          <p:nvPr/>
        </p:nvCxnSpPr>
        <p:spPr>
          <a:xfrm flipV="1">
            <a:off x="6857531" y="8349854"/>
            <a:ext cx="289475" cy="80757"/>
          </a:xfrm>
          <a:prstGeom prst="curvedConnector2">
            <a:avLst/>
          </a:prstGeom>
          <a:ln w="3492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5" name="Content Placeholder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6636770"/>
              </p:ext>
            </p:extLst>
          </p:nvPr>
        </p:nvGraphicFramePr>
        <p:xfrm>
          <a:off x="8319522" y="5042536"/>
          <a:ext cx="8781528" cy="1875412"/>
        </p:xfrm>
        <a:graphic>
          <a:graphicData uri="http://schemas.openxmlformats.org/drawingml/2006/table">
            <a:tbl>
              <a:tblPr/>
              <a:tblGrid>
                <a:gridCol w="884365">
                  <a:extLst>
                    <a:ext uri="{9D8B030D-6E8A-4147-A177-3AD203B41FA5}">
                      <a16:colId xmlns:a16="http://schemas.microsoft.com/office/drawing/2014/main" val="2526115583"/>
                    </a:ext>
                  </a:extLst>
                </a:gridCol>
                <a:gridCol w="1059693">
                  <a:extLst>
                    <a:ext uri="{9D8B030D-6E8A-4147-A177-3AD203B41FA5}">
                      <a16:colId xmlns:a16="http://schemas.microsoft.com/office/drawing/2014/main" val="2285628955"/>
                    </a:ext>
                  </a:extLst>
                </a:gridCol>
                <a:gridCol w="993420">
                  <a:extLst>
                    <a:ext uri="{9D8B030D-6E8A-4147-A177-3AD203B41FA5}">
                      <a16:colId xmlns:a16="http://schemas.microsoft.com/office/drawing/2014/main" val="1238662616"/>
                    </a:ext>
                  </a:extLst>
                </a:gridCol>
                <a:gridCol w="757352">
                  <a:extLst>
                    <a:ext uri="{9D8B030D-6E8A-4147-A177-3AD203B41FA5}">
                      <a16:colId xmlns:a16="http://schemas.microsoft.com/office/drawing/2014/main" val="4117065220"/>
                    </a:ext>
                  </a:extLst>
                </a:gridCol>
                <a:gridCol w="1854764">
                  <a:extLst>
                    <a:ext uri="{9D8B030D-6E8A-4147-A177-3AD203B41FA5}">
                      <a16:colId xmlns:a16="http://schemas.microsoft.com/office/drawing/2014/main" val="4023691401"/>
                    </a:ext>
                  </a:extLst>
                </a:gridCol>
                <a:gridCol w="1078017">
                  <a:extLst>
                    <a:ext uri="{9D8B030D-6E8A-4147-A177-3AD203B41FA5}">
                      <a16:colId xmlns:a16="http://schemas.microsoft.com/office/drawing/2014/main" val="3347939785"/>
                    </a:ext>
                  </a:extLst>
                </a:gridCol>
                <a:gridCol w="803697">
                  <a:extLst>
                    <a:ext uri="{9D8B030D-6E8A-4147-A177-3AD203B41FA5}">
                      <a16:colId xmlns:a16="http://schemas.microsoft.com/office/drawing/2014/main" val="2025521324"/>
                    </a:ext>
                  </a:extLst>
                </a:gridCol>
                <a:gridCol w="1350220">
                  <a:extLst>
                    <a:ext uri="{9D8B030D-6E8A-4147-A177-3AD203B41FA5}">
                      <a16:colId xmlns:a16="http://schemas.microsoft.com/office/drawing/2014/main" val="1747339123"/>
                    </a:ext>
                  </a:extLst>
                </a:gridCol>
              </a:tblGrid>
              <a:tr h="539750">
                <a:tc rowSpan="2">
                  <a:txBody>
                    <a:bodyPr/>
                    <a:lstStyle/>
                    <a:p>
                      <a:pPr algn="ctr" fontAlgn="ctr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3D </a:t>
                      </a:r>
                      <a:r>
                        <a:rPr lang="en-US" sz="20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Unet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2D DenseUNet-121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Hybrid </a:t>
                      </a:r>
                      <a:r>
                        <a:rPr lang="en-US" sz="20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WNet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4348174"/>
                  </a:ext>
                </a:extLst>
              </a:tr>
              <a:tr h="795912">
                <a:tc vMerge="1">
                  <a:txBody>
                    <a:bodyPr/>
                    <a:lstStyle/>
                    <a:p>
                      <a:pPr algn="ctr" fontAlgn="ctr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Standard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Residual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Dense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Encoder</a:t>
                      </a:r>
                    </a:p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Frozen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</a:t>
                      </a:r>
                    </a:p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Trainable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2D</a:t>
                      </a:r>
                    </a:p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Frozen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</a:t>
                      </a:r>
                    </a:p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Trainable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1068072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Val</a:t>
                      </a:r>
                      <a:r>
                        <a:rPr lang="en-US" sz="20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Loss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0.041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69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C2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8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CC7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D78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C97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0.0092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BE7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37245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305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333314" y="5527701"/>
            <a:ext cx="17768013" cy="5866393"/>
            <a:chOff x="333314" y="5527701"/>
            <a:chExt cx="17768013" cy="5866393"/>
          </a:xfrm>
        </p:grpSpPr>
        <p:sp>
          <p:nvSpPr>
            <p:cNvPr id="40" name="Right Arrow 39"/>
            <p:cNvSpPr/>
            <p:nvPr/>
          </p:nvSpPr>
          <p:spPr>
            <a:xfrm>
              <a:off x="7685472" y="7393645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7462445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smtClean="0">
                  <a:solidFill>
                    <a:schemeClr val="tx1"/>
                  </a:solidFill>
                </a:rPr>
                <a:t>2D Features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42" name="Down Arrow 41"/>
            <p:cNvSpPr/>
            <p:nvPr/>
          </p:nvSpPr>
          <p:spPr>
            <a:xfrm flipV="1">
              <a:off x="14822907" y="8776681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43" name="Down Arrow 42"/>
            <p:cNvSpPr/>
            <p:nvPr/>
          </p:nvSpPr>
          <p:spPr>
            <a:xfrm>
              <a:off x="14822907" y="9408198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44" name="Right Arrow 43"/>
            <p:cNvSpPr/>
            <p:nvPr/>
          </p:nvSpPr>
          <p:spPr>
            <a:xfrm>
              <a:off x="14722266" y="9947049"/>
              <a:ext cx="4572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45" name="Right Arrow 44"/>
            <p:cNvSpPr/>
            <p:nvPr/>
          </p:nvSpPr>
          <p:spPr>
            <a:xfrm>
              <a:off x="14721755" y="10365845"/>
              <a:ext cx="4572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5160330" y="8662824"/>
              <a:ext cx="215026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dirty="0" smtClean="0"/>
                <a:t>Bilinear </a:t>
              </a:r>
              <a:r>
                <a:rPr lang="en-US" sz="2000" dirty="0" err="1" smtClean="0"/>
                <a:t>Upsample</a:t>
              </a:r>
              <a:r>
                <a:rPr lang="en-US" sz="2000" dirty="0" smtClean="0"/>
                <a:t>,</a:t>
              </a:r>
            </a:p>
            <a:p>
              <a:pPr algn="ctr"/>
              <a:r>
                <a:rPr lang="en-US" sz="2000" dirty="0" smtClean="0"/>
                <a:t>Convolution 3x3x3</a:t>
              </a:r>
              <a:endParaRPr lang="en-US" sz="2000" dirty="0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15180527" y="9399494"/>
              <a:ext cx="292080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/>
                <a:t>Strided</a:t>
              </a:r>
              <a:r>
                <a:rPr lang="en-US" sz="2000" dirty="0"/>
                <a:t> </a:t>
              </a:r>
              <a:r>
                <a:rPr lang="en-US" sz="2000" dirty="0" smtClean="0"/>
                <a:t>Convolution 2x2x2</a:t>
              </a:r>
              <a:endParaRPr lang="en-US" sz="2000" dirty="0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15315323" y="9879916"/>
              <a:ext cx="21112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Convolution </a:t>
              </a:r>
              <a:r>
                <a:rPr lang="en-US" sz="2000" dirty="0"/>
                <a:t>3x3x3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15316046" y="10300484"/>
              <a:ext cx="21112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Convolution 1x1x1</a:t>
              </a:r>
              <a:endParaRPr lang="en-US" sz="2000" dirty="0"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14529128" y="8557217"/>
              <a:ext cx="3572199" cy="2763779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7916903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8149022" y="68221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55" name="Right Arrow 54"/>
            <p:cNvSpPr/>
            <p:nvPr/>
          </p:nvSpPr>
          <p:spPr>
            <a:xfrm>
              <a:off x="8385250" y="7393645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8616503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8859599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58" name="Right Arrow 57"/>
            <p:cNvSpPr/>
            <p:nvPr/>
          </p:nvSpPr>
          <p:spPr>
            <a:xfrm>
              <a:off x="9320574" y="7393645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59" name="Rectangle 58"/>
            <p:cNvSpPr/>
            <p:nvPr/>
          </p:nvSpPr>
          <p:spPr>
            <a:xfrm>
              <a:off x="9563378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9798842" y="68221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61" name="Right Arrow 60"/>
            <p:cNvSpPr/>
            <p:nvPr/>
          </p:nvSpPr>
          <p:spPr>
            <a:xfrm>
              <a:off x="10027442" y="7393645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62" name="Rectangle 61"/>
            <p:cNvSpPr/>
            <p:nvPr/>
          </p:nvSpPr>
          <p:spPr>
            <a:xfrm>
              <a:off x="10262351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63" name="Rectangle 62"/>
            <p:cNvSpPr/>
            <p:nvPr/>
          </p:nvSpPr>
          <p:spPr>
            <a:xfrm>
              <a:off x="10490292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718232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65" name="Right Arrow 64"/>
            <p:cNvSpPr/>
            <p:nvPr/>
          </p:nvSpPr>
          <p:spPr>
            <a:xfrm>
              <a:off x="10951799" y="7393645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1185078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1420542" y="68221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68" name="Rectangle 67"/>
            <p:cNvSpPr/>
            <p:nvPr/>
          </p:nvSpPr>
          <p:spPr>
            <a:xfrm>
              <a:off x="9091974" y="68221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69" name="Rectangle 68"/>
            <p:cNvSpPr/>
            <p:nvPr/>
          </p:nvSpPr>
          <p:spPr>
            <a:xfrm>
              <a:off x="8764717" y="9145763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70" name="Rectangle 69"/>
            <p:cNvSpPr/>
            <p:nvPr/>
          </p:nvSpPr>
          <p:spPr>
            <a:xfrm>
              <a:off x="8993317" y="9145763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71" name="Right Arrow 70"/>
            <p:cNvSpPr/>
            <p:nvPr/>
          </p:nvSpPr>
          <p:spPr>
            <a:xfrm>
              <a:off x="9232671" y="9691746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9454399" y="9141180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 72"/>
            <p:cNvSpPr/>
            <p:nvPr/>
          </p:nvSpPr>
          <p:spPr>
            <a:xfrm>
              <a:off x="9697495" y="9141180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9929870" y="9141180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75" name="Right Arrow 74"/>
            <p:cNvSpPr/>
            <p:nvPr/>
          </p:nvSpPr>
          <p:spPr>
            <a:xfrm>
              <a:off x="10159223" y="9719034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10402027" y="914753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77" name="Rectangle 76"/>
            <p:cNvSpPr/>
            <p:nvPr/>
          </p:nvSpPr>
          <p:spPr>
            <a:xfrm>
              <a:off x="10637491" y="9147534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78" name="Right Arrow 77"/>
            <p:cNvSpPr/>
            <p:nvPr/>
          </p:nvSpPr>
          <p:spPr>
            <a:xfrm>
              <a:off x="10873050" y="9711067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11113041" y="9149468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80" name="Rectangle 79"/>
            <p:cNvSpPr/>
            <p:nvPr/>
          </p:nvSpPr>
          <p:spPr>
            <a:xfrm>
              <a:off x="11333063" y="9149468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81" name="Rectangle 80"/>
            <p:cNvSpPr/>
            <p:nvPr/>
          </p:nvSpPr>
          <p:spPr>
            <a:xfrm>
              <a:off x="11568922" y="9149468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82" name="Right Arrow 81"/>
            <p:cNvSpPr/>
            <p:nvPr/>
          </p:nvSpPr>
          <p:spPr>
            <a:xfrm>
              <a:off x="11810233" y="9712680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12053037" y="9141180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84" name="Rectangle 83"/>
            <p:cNvSpPr/>
            <p:nvPr/>
          </p:nvSpPr>
          <p:spPr>
            <a:xfrm>
              <a:off x="12288501" y="9141180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85" name="Right Arrow 84"/>
            <p:cNvSpPr/>
            <p:nvPr/>
          </p:nvSpPr>
          <p:spPr>
            <a:xfrm>
              <a:off x="12514968" y="9709133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86" name="Rectangle 85"/>
            <p:cNvSpPr/>
            <p:nvPr/>
          </p:nvSpPr>
          <p:spPr>
            <a:xfrm>
              <a:off x="12754959" y="914753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87" name="Rectangle 86"/>
            <p:cNvSpPr/>
            <p:nvPr/>
          </p:nvSpPr>
          <p:spPr>
            <a:xfrm>
              <a:off x="12974981" y="914753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88" name="Rectangle 87"/>
            <p:cNvSpPr/>
            <p:nvPr/>
          </p:nvSpPr>
          <p:spPr>
            <a:xfrm>
              <a:off x="13210840" y="914753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89" name="Rectangle 88"/>
            <p:cNvSpPr/>
            <p:nvPr/>
          </p:nvSpPr>
          <p:spPr>
            <a:xfrm>
              <a:off x="13438542" y="914753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90" name="Right Arrow 89"/>
            <p:cNvSpPr/>
            <p:nvPr/>
          </p:nvSpPr>
          <p:spPr>
            <a:xfrm>
              <a:off x="13678733" y="9729313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91" name="Rectangle 90"/>
            <p:cNvSpPr/>
            <p:nvPr/>
          </p:nvSpPr>
          <p:spPr>
            <a:xfrm>
              <a:off x="13921537" y="9157813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92" name="Rectangle 91"/>
            <p:cNvSpPr/>
            <p:nvPr/>
          </p:nvSpPr>
          <p:spPr>
            <a:xfrm>
              <a:off x="14157001" y="9157813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94" name="Rectangle 93"/>
            <p:cNvSpPr/>
            <p:nvPr/>
          </p:nvSpPr>
          <p:spPr>
            <a:xfrm>
              <a:off x="12098333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95" name="Rectangle 94"/>
            <p:cNvSpPr/>
            <p:nvPr/>
          </p:nvSpPr>
          <p:spPr>
            <a:xfrm>
              <a:off x="12330452" y="68221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96" name="Right Arrow 95"/>
            <p:cNvSpPr/>
            <p:nvPr/>
          </p:nvSpPr>
          <p:spPr>
            <a:xfrm>
              <a:off x="12566680" y="7393645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97" name="Rectangle 96"/>
            <p:cNvSpPr/>
            <p:nvPr/>
          </p:nvSpPr>
          <p:spPr>
            <a:xfrm>
              <a:off x="12797933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98" name="Rectangle 97"/>
            <p:cNvSpPr/>
            <p:nvPr/>
          </p:nvSpPr>
          <p:spPr>
            <a:xfrm>
              <a:off x="13037317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99" name="Right Arrow 98"/>
            <p:cNvSpPr/>
            <p:nvPr/>
          </p:nvSpPr>
          <p:spPr>
            <a:xfrm>
              <a:off x="14230978" y="7393645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00" name="Rectangle 99"/>
            <p:cNvSpPr/>
            <p:nvPr/>
          </p:nvSpPr>
          <p:spPr>
            <a:xfrm>
              <a:off x="14464257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01" name="Rectangle 100"/>
            <p:cNvSpPr/>
            <p:nvPr/>
          </p:nvSpPr>
          <p:spPr>
            <a:xfrm>
              <a:off x="14699721" y="68221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102" name="Right Arrow 101"/>
            <p:cNvSpPr/>
            <p:nvPr/>
          </p:nvSpPr>
          <p:spPr>
            <a:xfrm>
              <a:off x="14937846" y="7393645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03" name="Right Arrow 102"/>
            <p:cNvSpPr/>
            <p:nvPr/>
          </p:nvSpPr>
          <p:spPr>
            <a:xfrm>
              <a:off x="16356833" y="7393645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04" name="Rectangle 103"/>
            <p:cNvSpPr/>
            <p:nvPr/>
          </p:nvSpPr>
          <p:spPr>
            <a:xfrm>
              <a:off x="16599637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05" name="Rectangle 104"/>
            <p:cNvSpPr/>
            <p:nvPr/>
          </p:nvSpPr>
          <p:spPr>
            <a:xfrm>
              <a:off x="16835101" y="68221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106" name="Rectangle 105"/>
            <p:cNvSpPr/>
            <p:nvPr/>
          </p:nvSpPr>
          <p:spPr>
            <a:xfrm>
              <a:off x="13989935" y="68221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108" name="Rectangle 107"/>
            <p:cNvSpPr/>
            <p:nvPr/>
          </p:nvSpPr>
          <p:spPr>
            <a:xfrm>
              <a:off x="13276701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09" name="Rectangle 108"/>
            <p:cNvSpPr/>
            <p:nvPr/>
          </p:nvSpPr>
          <p:spPr>
            <a:xfrm>
              <a:off x="13516085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0" name="Rectangle 109"/>
            <p:cNvSpPr/>
            <p:nvPr/>
          </p:nvSpPr>
          <p:spPr>
            <a:xfrm>
              <a:off x="15170872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1" name="Rectangle 110"/>
            <p:cNvSpPr/>
            <p:nvPr/>
          </p:nvSpPr>
          <p:spPr>
            <a:xfrm>
              <a:off x="15404660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2" name="Rectangle 111"/>
            <p:cNvSpPr/>
            <p:nvPr/>
          </p:nvSpPr>
          <p:spPr>
            <a:xfrm>
              <a:off x="15643577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3" name="Rectangle 112"/>
            <p:cNvSpPr/>
            <p:nvPr/>
          </p:nvSpPr>
          <p:spPr>
            <a:xfrm>
              <a:off x="15881702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4" name="Rectangle 113"/>
            <p:cNvSpPr/>
            <p:nvPr/>
          </p:nvSpPr>
          <p:spPr>
            <a:xfrm>
              <a:off x="16120130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5" name="Rectangle 114"/>
            <p:cNvSpPr/>
            <p:nvPr/>
          </p:nvSpPr>
          <p:spPr>
            <a:xfrm>
              <a:off x="13755469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6" name="Right Arrow 115"/>
            <p:cNvSpPr/>
            <p:nvPr/>
          </p:nvSpPr>
          <p:spPr>
            <a:xfrm>
              <a:off x="17070788" y="7393645"/>
              <a:ext cx="228600" cy="228600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17" name="Rectangle 116"/>
            <p:cNvSpPr/>
            <p:nvPr/>
          </p:nvSpPr>
          <p:spPr>
            <a:xfrm>
              <a:off x="17313592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8" name="Rectangle 117"/>
            <p:cNvSpPr/>
            <p:nvPr/>
          </p:nvSpPr>
          <p:spPr>
            <a:xfrm>
              <a:off x="17549056" y="68221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err="1" smtClean="0">
                  <a:solidFill>
                    <a:schemeClr val="tx1"/>
                  </a:solidFill>
                </a:rPr>
                <a:t>Softmax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19" name="Curved Down Arrow 118"/>
            <p:cNvSpPr/>
            <p:nvPr/>
          </p:nvSpPr>
          <p:spPr>
            <a:xfrm>
              <a:off x="14721755" y="10739264"/>
              <a:ext cx="497599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20" name="TextBox 119"/>
            <p:cNvSpPr txBox="1"/>
            <p:nvPr/>
          </p:nvSpPr>
          <p:spPr>
            <a:xfrm>
              <a:off x="15315323" y="10683993"/>
              <a:ext cx="170110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smtClean="0"/>
                <a:t>Concatenation</a:t>
              </a:r>
              <a:endParaRPr lang="en-US" sz="2000" dirty="0"/>
            </a:p>
          </p:txBody>
        </p:sp>
        <p:sp>
          <p:nvSpPr>
            <p:cNvPr id="121" name="Curved Down Arrow 120"/>
            <p:cNvSpPr/>
            <p:nvPr/>
          </p:nvSpPr>
          <p:spPr>
            <a:xfrm>
              <a:off x="12144878" y="6435572"/>
              <a:ext cx="4284673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22" name="Curved Down Arrow 121"/>
            <p:cNvSpPr/>
            <p:nvPr/>
          </p:nvSpPr>
          <p:spPr>
            <a:xfrm>
              <a:off x="10312714" y="6348911"/>
              <a:ext cx="5849615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23" name="Curved Down Arrow 122"/>
            <p:cNvSpPr/>
            <p:nvPr/>
          </p:nvSpPr>
          <p:spPr>
            <a:xfrm>
              <a:off x="8683827" y="6264912"/>
              <a:ext cx="7249902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24" name="Curved Down Arrow 123"/>
            <p:cNvSpPr/>
            <p:nvPr/>
          </p:nvSpPr>
          <p:spPr>
            <a:xfrm>
              <a:off x="7985367" y="6176974"/>
              <a:ext cx="7709934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25" name="Curved Down Arrow 124"/>
            <p:cNvSpPr/>
            <p:nvPr/>
          </p:nvSpPr>
          <p:spPr>
            <a:xfrm>
              <a:off x="12145716" y="6426396"/>
              <a:ext cx="1859923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26" name="Curved Down Arrow 125"/>
            <p:cNvSpPr/>
            <p:nvPr/>
          </p:nvSpPr>
          <p:spPr>
            <a:xfrm>
              <a:off x="10312788" y="6352333"/>
              <a:ext cx="3450673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27" name="Curved Down Arrow 126"/>
            <p:cNvSpPr/>
            <p:nvPr/>
          </p:nvSpPr>
          <p:spPr>
            <a:xfrm>
              <a:off x="8683827" y="6264167"/>
              <a:ext cx="4845168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28" name="Curved Down Arrow 127"/>
            <p:cNvSpPr/>
            <p:nvPr/>
          </p:nvSpPr>
          <p:spPr>
            <a:xfrm>
              <a:off x="7986358" y="6176974"/>
              <a:ext cx="5326635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29" name="Curved Down Arrow 128"/>
            <p:cNvSpPr/>
            <p:nvPr/>
          </p:nvSpPr>
          <p:spPr>
            <a:xfrm>
              <a:off x="8683828" y="6264167"/>
              <a:ext cx="2282054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30" name="Curved Down Arrow 129"/>
            <p:cNvSpPr/>
            <p:nvPr/>
          </p:nvSpPr>
          <p:spPr>
            <a:xfrm>
              <a:off x="7983226" y="6177013"/>
              <a:ext cx="2754056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31" name="Curved Down Arrow 130"/>
            <p:cNvSpPr/>
            <p:nvPr/>
          </p:nvSpPr>
          <p:spPr>
            <a:xfrm>
              <a:off x="7986359" y="6177013"/>
              <a:ext cx="1142882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32" name="Curved Down Arrow 131"/>
            <p:cNvSpPr/>
            <p:nvPr/>
          </p:nvSpPr>
          <p:spPr>
            <a:xfrm flipV="1">
              <a:off x="11189213" y="10529413"/>
              <a:ext cx="2471579" cy="36576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33" name="Curved Down Arrow 132"/>
            <p:cNvSpPr/>
            <p:nvPr/>
          </p:nvSpPr>
          <p:spPr>
            <a:xfrm flipV="1">
              <a:off x="9518658" y="10515519"/>
              <a:ext cx="3914432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34" name="Curved Down Arrow 133"/>
            <p:cNvSpPr/>
            <p:nvPr/>
          </p:nvSpPr>
          <p:spPr>
            <a:xfrm flipV="1">
              <a:off x="8823168" y="10523063"/>
              <a:ext cx="4374063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35" name="Curved Down Arrow 134"/>
            <p:cNvSpPr/>
            <p:nvPr/>
          </p:nvSpPr>
          <p:spPr>
            <a:xfrm flipV="1">
              <a:off x="9518658" y="10521694"/>
              <a:ext cx="2292473" cy="45720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36" name="Curved Down Arrow 135"/>
            <p:cNvSpPr/>
            <p:nvPr/>
          </p:nvSpPr>
          <p:spPr>
            <a:xfrm flipV="1">
              <a:off x="8823168" y="10529413"/>
              <a:ext cx="2745754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37" name="Curved Down Arrow 136"/>
            <p:cNvSpPr/>
            <p:nvPr/>
          </p:nvSpPr>
          <p:spPr>
            <a:xfrm flipV="1">
              <a:off x="8823168" y="10523063"/>
              <a:ext cx="1102927" cy="54864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39" name="Rectangle 138"/>
            <p:cNvSpPr/>
            <p:nvPr/>
          </p:nvSpPr>
          <p:spPr>
            <a:xfrm>
              <a:off x="6063675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Image</a:t>
              </a:r>
            </a:p>
          </p:txBody>
        </p:sp>
        <p:sp>
          <p:nvSpPr>
            <p:cNvPr id="140" name="Rectangle 139"/>
            <p:cNvSpPr/>
            <p:nvPr/>
          </p:nvSpPr>
          <p:spPr>
            <a:xfrm>
              <a:off x="6289968" y="68221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141" name="Right Arrow 140"/>
            <p:cNvSpPr/>
            <p:nvPr/>
          </p:nvSpPr>
          <p:spPr>
            <a:xfrm>
              <a:off x="6525251" y="7393645"/>
              <a:ext cx="2286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42" name="Rectangle 141"/>
            <p:cNvSpPr/>
            <p:nvPr/>
          </p:nvSpPr>
          <p:spPr>
            <a:xfrm>
              <a:off x="6756472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43" name="Rectangle 142"/>
            <p:cNvSpPr/>
            <p:nvPr/>
          </p:nvSpPr>
          <p:spPr>
            <a:xfrm>
              <a:off x="6994837" y="6822145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44" name="Rectangle 143"/>
            <p:cNvSpPr/>
            <p:nvPr/>
          </p:nvSpPr>
          <p:spPr>
            <a:xfrm>
              <a:off x="7231975" y="6822145"/>
              <a:ext cx="228600" cy="137160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Elu + BN</a:t>
              </a:r>
            </a:p>
          </p:txBody>
        </p:sp>
        <p:sp>
          <p:nvSpPr>
            <p:cNvPr id="145" name="Curved Down Arrow 144"/>
            <p:cNvSpPr/>
            <p:nvPr/>
          </p:nvSpPr>
          <p:spPr>
            <a:xfrm>
              <a:off x="5047515" y="6176974"/>
              <a:ext cx="2684804" cy="640080"/>
            </a:xfrm>
            <a:prstGeom prst="curvedDownArrow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5720" tIns="22860" rIns="45720" bIns="228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450">
                <a:solidFill>
                  <a:schemeClr val="tx1"/>
                </a:solidFill>
              </a:endParaRPr>
            </a:p>
          </p:txBody>
        </p:sp>
        <p:sp>
          <p:nvSpPr>
            <p:cNvPr id="146" name="TextBox 145"/>
            <p:cNvSpPr txBox="1"/>
            <p:nvPr/>
          </p:nvSpPr>
          <p:spPr>
            <a:xfrm>
              <a:off x="1936545" y="5706509"/>
              <a:ext cx="426636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 smtClean="0"/>
                <a:t>2D Pre-Trained Feature Extractor</a:t>
              </a:r>
              <a:endParaRPr lang="en-US" sz="2400" dirty="0"/>
            </a:p>
          </p:txBody>
        </p:sp>
        <p:sp>
          <p:nvSpPr>
            <p:cNvPr id="147" name="TextBox 146"/>
            <p:cNvSpPr txBox="1"/>
            <p:nvPr/>
          </p:nvSpPr>
          <p:spPr>
            <a:xfrm>
              <a:off x="10850786" y="5527701"/>
              <a:ext cx="183088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3</a:t>
              </a:r>
              <a:r>
                <a:rPr lang="en-US" sz="2400" dirty="0" smtClean="0"/>
                <a:t>D </a:t>
              </a:r>
              <a:r>
                <a:rPr lang="en-US" sz="2400" dirty="0" err="1" smtClean="0"/>
                <a:t>DenseNet</a:t>
              </a:r>
              <a:endParaRPr lang="en-US" sz="2400" dirty="0"/>
            </a:p>
          </p:txBody>
        </p:sp>
        <p:sp>
          <p:nvSpPr>
            <p:cNvPr id="148" name="TextBox 147"/>
            <p:cNvSpPr txBox="1"/>
            <p:nvPr/>
          </p:nvSpPr>
          <p:spPr>
            <a:xfrm>
              <a:off x="2704058" y="6866508"/>
              <a:ext cx="16596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 err="1" smtClean="0"/>
                <a:t>DenseNet</a:t>
              </a:r>
              <a:r>
                <a:rPr lang="en-US" sz="2000" dirty="0" smtClean="0"/>
                <a:t> 121</a:t>
              </a:r>
              <a:endParaRPr lang="en-US" sz="2000" dirty="0"/>
            </a:p>
          </p:txBody>
        </p:sp>
        <p:sp>
          <p:nvSpPr>
            <p:cNvPr id="177" name="Rectangle 176"/>
            <p:cNvSpPr/>
            <p:nvPr/>
          </p:nvSpPr>
          <p:spPr>
            <a:xfrm>
              <a:off x="598371" y="6827420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78" name="Rectangle 177"/>
            <p:cNvSpPr/>
            <p:nvPr/>
          </p:nvSpPr>
          <p:spPr>
            <a:xfrm>
              <a:off x="839414" y="6827420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79" name="Rectangle 178"/>
            <p:cNvSpPr/>
            <p:nvPr/>
          </p:nvSpPr>
          <p:spPr>
            <a:xfrm>
              <a:off x="1080581" y="6827420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80" name="Right Arrow 179"/>
            <p:cNvSpPr/>
            <p:nvPr/>
          </p:nvSpPr>
          <p:spPr>
            <a:xfrm>
              <a:off x="1330472" y="7398920"/>
              <a:ext cx="457200" cy="228600"/>
            </a:xfrm>
            <a:prstGeom prst="rightArrow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81" name="Rectangle 180"/>
            <p:cNvSpPr/>
            <p:nvPr/>
          </p:nvSpPr>
          <p:spPr>
            <a:xfrm>
              <a:off x="1835335" y="6827420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err="1" smtClean="0">
                  <a:solidFill>
                    <a:schemeClr val="tx1"/>
                  </a:solidFill>
                </a:rPr>
                <a:t>DenseNet</a:t>
              </a:r>
              <a:r>
                <a:rPr lang="en-US" sz="1200" dirty="0" smtClean="0">
                  <a:solidFill>
                    <a:schemeClr val="tx1"/>
                  </a:solidFill>
                </a:rPr>
                <a:t> 0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82" name="Rectangle 181"/>
            <p:cNvSpPr/>
            <p:nvPr/>
          </p:nvSpPr>
          <p:spPr>
            <a:xfrm>
              <a:off x="3465482" y="9957964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smtClean="0">
                  <a:solidFill>
                    <a:schemeClr val="tx1"/>
                  </a:solidFill>
                </a:rPr>
                <a:t>Dense Block 4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grpSp>
          <p:nvGrpSpPr>
            <p:cNvPr id="183" name="Group 182"/>
            <p:cNvGrpSpPr/>
            <p:nvPr/>
          </p:nvGrpSpPr>
          <p:grpSpPr>
            <a:xfrm>
              <a:off x="3032338" y="9135004"/>
              <a:ext cx="1023290" cy="1371600"/>
              <a:chOff x="5045981" y="10701544"/>
              <a:chExt cx="1023290" cy="1371600"/>
            </a:xfrm>
          </p:grpSpPr>
          <p:sp>
            <p:nvSpPr>
              <p:cNvPr id="184" name="Rectangle 183"/>
              <p:cNvSpPr/>
              <p:nvPr/>
            </p:nvSpPr>
            <p:spPr>
              <a:xfrm>
                <a:off x="5045981" y="10701544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 smtClean="0">
                    <a:solidFill>
                      <a:schemeClr val="tx1"/>
                    </a:solidFill>
                  </a:rPr>
                  <a:t>Transition Block 3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Rectangle 184"/>
              <p:cNvSpPr/>
              <p:nvPr/>
            </p:nvSpPr>
            <p:spPr>
              <a:xfrm>
                <a:off x="5840671" y="10701544"/>
                <a:ext cx="228600" cy="13716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Down Arrow 185"/>
              <p:cNvSpPr/>
              <p:nvPr/>
            </p:nvSpPr>
            <p:spPr>
              <a:xfrm rot="16200000">
                <a:off x="5442318" y="11107847"/>
                <a:ext cx="230616" cy="566090"/>
              </a:xfrm>
              <a:prstGeom prst="downArrow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7" name="Group 186"/>
            <p:cNvGrpSpPr/>
            <p:nvPr/>
          </p:nvGrpSpPr>
          <p:grpSpPr>
            <a:xfrm>
              <a:off x="2625818" y="8355816"/>
              <a:ext cx="1817980" cy="1371600"/>
              <a:chOff x="4648636" y="9469644"/>
              <a:chExt cx="1817980" cy="1371600"/>
            </a:xfrm>
          </p:grpSpPr>
          <p:sp>
            <p:nvSpPr>
              <p:cNvPr id="188" name="Rectangle 187"/>
              <p:cNvSpPr/>
              <p:nvPr/>
            </p:nvSpPr>
            <p:spPr>
              <a:xfrm>
                <a:off x="4648636" y="9469644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 smtClean="0">
                    <a:solidFill>
                      <a:schemeClr val="tx1"/>
                    </a:solidFill>
                  </a:rPr>
                  <a:t>Transition Block 2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9" name="Rectangle 188"/>
              <p:cNvSpPr/>
              <p:nvPr/>
            </p:nvSpPr>
            <p:spPr>
              <a:xfrm>
                <a:off x="6238016" y="9469644"/>
                <a:ext cx="228600" cy="13716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0" name="Down Arrow 189"/>
              <p:cNvSpPr/>
              <p:nvPr/>
            </p:nvSpPr>
            <p:spPr>
              <a:xfrm rot="16200000">
                <a:off x="5461193" y="9459377"/>
                <a:ext cx="196064" cy="1357581"/>
              </a:xfrm>
              <a:prstGeom prst="downArrow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1" name="Group 190"/>
            <p:cNvGrpSpPr/>
            <p:nvPr/>
          </p:nvGrpSpPr>
          <p:grpSpPr>
            <a:xfrm>
              <a:off x="2226250" y="7596462"/>
              <a:ext cx="2612670" cy="1371600"/>
              <a:chOff x="4251291" y="8271376"/>
              <a:chExt cx="2612670" cy="1371600"/>
            </a:xfrm>
          </p:grpSpPr>
          <p:sp>
            <p:nvSpPr>
              <p:cNvPr id="192" name="Rectangle 191"/>
              <p:cNvSpPr/>
              <p:nvPr/>
            </p:nvSpPr>
            <p:spPr>
              <a:xfrm>
                <a:off x="4251291" y="8271376"/>
                <a:ext cx="228600" cy="1371600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1200" dirty="0" smtClean="0">
                    <a:solidFill>
                      <a:schemeClr val="tx1"/>
                    </a:solidFill>
                  </a:rPr>
                  <a:t>Transition Block 1</a:t>
                </a:r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3" name="Rectangle 192"/>
              <p:cNvSpPr/>
              <p:nvPr/>
            </p:nvSpPr>
            <p:spPr>
              <a:xfrm>
                <a:off x="6635361" y="8271376"/>
                <a:ext cx="228600" cy="1371600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Down Arrow 193"/>
              <p:cNvSpPr/>
              <p:nvPr/>
            </p:nvSpPr>
            <p:spPr>
              <a:xfrm rot="16200000">
                <a:off x="5454027" y="7819418"/>
                <a:ext cx="228600" cy="2134072"/>
              </a:xfrm>
              <a:prstGeom prst="downArrow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5" name="Rectangle 194"/>
            <p:cNvSpPr/>
            <p:nvPr/>
          </p:nvSpPr>
          <p:spPr>
            <a:xfrm>
              <a:off x="5014095" y="6827420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smtClean="0">
                  <a:solidFill>
                    <a:schemeClr val="tx1"/>
                  </a:solidFill>
                </a:rPr>
                <a:t>2D Features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98" name="Down Arrow 197"/>
            <p:cNvSpPr/>
            <p:nvPr/>
          </p:nvSpPr>
          <p:spPr>
            <a:xfrm rot="16200000">
              <a:off x="3421282" y="6041572"/>
              <a:ext cx="228600" cy="2943296"/>
            </a:xfrm>
            <a:prstGeom prst="downArrow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9" name="Curved Connector 198"/>
            <p:cNvCxnSpPr>
              <a:stCxn id="181" idx="2"/>
              <a:endCxn id="192" idx="1"/>
            </p:cNvCxnSpPr>
            <p:nvPr/>
          </p:nvCxnSpPr>
          <p:spPr>
            <a:xfrm rot="16200000" flipH="1">
              <a:off x="2046321" y="8102333"/>
              <a:ext cx="83242" cy="276615"/>
            </a:xfrm>
            <a:prstGeom prst="curvedConnector2">
              <a:avLst/>
            </a:prstGeom>
            <a:ln w="3492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urved Connector 199"/>
            <p:cNvCxnSpPr>
              <a:stCxn id="185" idx="3"/>
              <a:endCxn id="189" idx="2"/>
            </p:cNvCxnSpPr>
            <p:nvPr/>
          </p:nvCxnSpPr>
          <p:spPr>
            <a:xfrm flipV="1">
              <a:off x="4055628" y="9727416"/>
              <a:ext cx="273870" cy="93388"/>
            </a:xfrm>
            <a:prstGeom prst="curvedConnector2">
              <a:avLst/>
            </a:prstGeom>
            <a:ln w="3492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urved Connector 200"/>
            <p:cNvCxnSpPr>
              <a:stCxn id="192" idx="2"/>
              <a:endCxn id="188" idx="1"/>
            </p:cNvCxnSpPr>
            <p:nvPr/>
          </p:nvCxnSpPr>
          <p:spPr>
            <a:xfrm rot="16200000" flipH="1">
              <a:off x="2446407" y="8862205"/>
              <a:ext cx="73554" cy="285268"/>
            </a:xfrm>
            <a:prstGeom prst="curvedConnector2">
              <a:avLst/>
            </a:prstGeom>
            <a:ln w="3492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urved Connector 201"/>
            <p:cNvCxnSpPr>
              <a:stCxn id="188" idx="2"/>
              <a:endCxn id="184" idx="1"/>
            </p:cNvCxnSpPr>
            <p:nvPr/>
          </p:nvCxnSpPr>
          <p:spPr>
            <a:xfrm rot="16200000" flipH="1">
              <a:off x="2839534" y="9628000"/>
              <a:ext cx="93388" cy="292220"/>
            </a:xfrm>
            <a:prstGeom prst="curvedConnector2">
              <a:avLst/>
            </a:prstGeom>
            <a:ln w="3492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urved Connector 202"/>
            <p:cNvCxnSpPr>
              <a:stCxn id="184" idx="2"/>
              <a:endCxn id="182" idx="1"/>
            </p:cNvCxnSpPr>
            <p:nvPr/>
          </p:nvCxnSpPr>
          <p:spPr>
            <a:xfrm rot="16200000" flipH="1">
              <a:off x="3237480" y="10415762"/>
              <a:ext cx="137160" cy="318844"/>
            </a:xfrm>
            <a:prstGeom prst="curvedConnector2">
              <a:avLst/>
            </a:prstGeom>
            <a:ln w="3492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urved Connector 203"/>
            <p:cNvCxnSpPr>
              <a:stCxn id="182" idx="3"/>
              <a:endCxn id="185" idx="2"/>
            </p:cNvCxnSpPr>
            <p:nvPr/>
          </p:nvCxnSpPr>
          <p:spPr>
            <a:xfrm flipV="1">
              <a:off x="3694082" y="10506604"/>
              <a:ext cx="247246" cy="137160"/>
            </a:xfrm>
            <a:prstGeom prst="curvedConnector2">
              <a:avLst/>
            </a:prstGeom>
            <a:ln w="3492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urved Connector 204"/>
            <p:cNvCxnSpPr>
              <a:stCxn id="189" idx="3"/>
              <a:endCxn id="193" idx="2"/>
            </p:cNvCxnSpPr>
            <p:nvPr/>
          </p:nvCxnSpPr>
          <p:spPr>
            <a:xfrm flipV="1">
              <a:off x="4443798" y="8968062"/>
              <a:ext cx="280822" cy="73554"/>
            </a:xfrm>
            <a:prstGeom prst="curvedConnector2">
              <a:avLst/>
            </a:prstGeom>
            <a:ln w="3492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urved Connector 205"/>
            <p:cNvCxnSpPr>
              <a:stCxn id="193" idx="3"/>
              <a:endCxn id="195" idx="2"/>
            </p:cNvCxnSpPr>
            <p:nvPr/>
          </p:nvCxnSpPr>
          <p:spPr>
            <a:xfrm flipV="1">
              <a:off x="4838920" y="8199020"/>
              <a:ext cx="289475" cy="83242"/>
            </a:xfrm>
            <a:prstGeom prst="curvedConnector2">
              <a:avLst/>
            </a:prstGeom>
            <a:ln w="3492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11" name="Group 210"/>
            <p:cNvGrpSpPr/>
            <p:nvPr/>
          </p:nvGrpSpPr>
          <p:grpSpPr>
            <a:xfrm>
              <a:off x="5443007" y="8828695"/>
              <a:ext cx="3164947" cy="2565399"/>
              <a:chOff x="8313122" y="9209859"/>
              <a:chExt cx="3164947" cy="2565399"/>
            </a:xfrm>
          </p:grpSpPr>
          <p:sp>
            <p:nvSpPr>
              <p:cNvPr id="212" name="Down Arrow 211"/>
              <p:cNvSpPr/>
              <p:nvPr/>
            </p:nvSpPr>
            <p:spPr>
              <a:xfrm flipV="1">
                <a:off x="8606901" y="9429323"/>
                <a:ext cx="204547" cy="390132"/>
              </a:xfrm>
              <a:prstGeom prst="downArrow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13" name="Down Arrow 212"/>
              <p:cNvSpPr/>
              <p:nvPr/>
            </p:nvSpPr>
            <p:spPr>
              <a:xfrm>
                <a:off x="8606901" y="10060840"/>
                <a:ext cx="204547" cy="390132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14" name="Right Arrow 213"/>
              <p:cNvSpPr/>
              <p:nvPr/>
            </p:nvSpPr>
            <p:spPr>
              <a:xfrm>
                <a:off x="8506260" y="10599691"/>
                <a:ext cx="457200" cy="228600"/>
              </a:xfrm>
              <a:prstGeom prst="rightArrow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15" name="TextBox 214"/>
              <p:cNvSpPr txBox="1"/>
              <p:nvPr/>
            </p:nvSpPr>
            <p:spPr>
              <a:xfrm>
                <a:off x="8781520" y="9424963"/>
                <a:ext cx="25141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000" dirty="0" smtClean="0"/>
                  <a:t>Bilinear </a:t>
                </a:r>
                <a:r>
                  <a:rPr lang="en-US" sz="2000" dirty="0" err="1" smtClean="0"/>
                  <a:t>Upsample</a:t>
                </a:r>
                <a:r>
                  <a:rPr lang="en-US" sz="2000" dirty="0" smtClean="0"/>
                  <a:t> 2x2</a:t>
                </a:r>
                <a:endParaRPr lang="en-US" sz="2000" dirty="0"/>
              </a:p>
            </p:txBody>
          </p:sp>
          <p:sp>
            <p:nvSpPr>
              <p:cNvPr id="216" name="TextBox 215"/>
              <p:cNvSpPr txBox="1"/>
              <p:nvPr/>
            </p:nvSpPr>
            <p:spPr>
              <a:xfrm>
                <a:off x="8964521" y="10052136"/>
                <a:ext cx="228088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smtClean="0"/>
                  <a:t>Average Pooling 2x2</a:t>
                </a:r>
                <a:endParaRPr lang="en-US" sz="2000" dirty="0"/>
              </a:p>
            </p:txBody>
          </p:sp>
          <p:sp>
            <p:nvSpPr>
              <p:cNvPr id="217" name="TextBox 216"/>
              <p:cNvSpPr txBox="1"/>
              <p:nvPr/>
            </p:nvSpPr>
            <p:spPr>
              <a:xfrm>
                <a:off x="9099317" y="10532558"/>
                <a:ext cx="60305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smtClean="0"/>
                  <a:t>Add</a:t>
                </a:r>
                <a:endParaRPr lang="en-US" sz="2000" dirty="0"/>
              </a:p>
            </p:txBody>
          </p:sp>
          <p:sp>
            <p:nvSpPr>
              <p:cNvPr id="218" name="Rectangle 217"/>
              <p:cNvSpPr/>
              <p:nvPr/>
            </p:nvSpPr>
            <p:spPr>
              <a:xfrm>
                <a:off x="8313122" y="9209859"/>
                <a:ext cx="3164947" cy="2565399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219" name="Rectangle 218"/>
              <p:cNvSpPr/>
              <p:nvPr/>
            </p:nvSpPr>
            <p:spPr>
              <a:xfrm>
                <a:off x="8590994" y="10975736"/>
                <a:ext cx="228600" cy="748231"/>
              </a:xfrm>
              <a:prstGeom prst="rect">
                <a:avLst/>
              </a:prstGeom>
              <a:solidFill>
                <a:srgbClr val="00B05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endParaRPr lang="en-US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0" name="TextBox 219"/>
              <p:cNvSpPr txBox="1"/>
              <p:nvPr/>
            </p:nvSpPr>
            <p:spPr>
              <a:xfrm>
                <a:off x="9000215" y="10986276"/>
                <a:ext cx="2297232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smtClean="0"/>
                  <a:t>Convolution 3x3, BN</a:t>
                </a:r>
                <a:br>
                  <a:rPr lang="en-US" sz="2000" dirty="0" smtClean="0"/>
                </a:br>
                <a:r>
                  <a:rPr lang="en-US" sz="2000" dirty="0" err="1" smtClean="0"/>
                  <a:t>relu</a:t>
                </a:r>
                <a:r>
                  <a:rPr lang="en-US" sz="2000" dirty="0" smtClean="0"/>
                  <a:t> activation</a:t>
                </a:r>
                <a:endParaRPr lang="en-US" sz="2000" dirty="0"/>
              </a:p>
            </p:txBody>
          </p:sp>
        </p:grpSp>
        <p:sp>
          <p:nvSpPr>
            <p:cNvPr id="222" name="TextBox 221"/>
            <p:cNvSpPr txBox="1"/>
            <p:nvPr/>
          </p:nvSpPr>
          <p:spPr>
            <a:xfrm rot="16200000">
              <a:off x="-130756" y="7382415"/>
              <a:ext cx="118974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 smtClean="0"/>
                <a:t>b*16*128*128*3</a:t>
              </a:r>
              <a:endParaRPr lang="en-US" sz="1100" dirty="0"/>
            </a:p>
          </p:txBody>
        </p:sp>
        <p:cxnSp>
          <p:nvCxnSpPr>
            <p:cNvPr id="223" name="Curved Connector 222"/>
            <p:cNvCxnSpPr>
              <a:stCxn id="67" idx="2"/>
              <a:endCxn id="69" idx="0"/>
            </p:cNvCxnSpPr>
            <p:nvPr/>
          </p:nvCxnSpPr>
          <p:spPr>
            <a:xfrm rot="5400000">
              <a:off x="9730921" y="7341842"/>
              <a:ext cx="952018" cy="2655825"/>
            </a:xfrm>
            <a:prstGeom prst="curvedConnector3">
              <a:avLst>
                <a:gd name="adj1" fmla="val 50000"/>
              </a:avLst>
            </a:prstGeom>
            <a:ln w="3492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Curved Connector 225"/>
            <p:cNvCxnSpPr>
              <a:stCxn id="92" idx="0"/>
              <a:endCxn id="94" idx="2"/>
            </p:cNvCxnSpPr>
            <p:nvPr/>
          </p:nvCxnSpPr>
          <p:spPr>
            <a:xfrm rot="16200000" flipV="1">
              <a:off x="12759933" y="7646445"/>
              <a:ext cx="964068" cy="2058668"/>
            </a:xfrm>
            <a:prstGeom prst="curvedConnector3">
              <a:avLst>
                <a:gd name="adj1" fmla="val 50000"/>
              </a:avLst>
            </a:prstGeom>
            <a:ln w="34925">
              <a:solidFill>
                <a:srgbClr val="00B05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9" name="Rectangle 148"/>
            <p:cNvSpPr/>
            <p:nvPr/>
          </p:nvSpPr>
          <p:spPr>
            <a:xfrm>
              <a:off x="5241988" y="6827420"/>
              <a:ext cx="228600" cy="137160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1200" dirty="0" smtClean="0">
                  <a:solidFill>
                    <a:schemeClr val="tx1"/>
                  </a:solidFill>
                </a:rPr>
                <a:t>Prediction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8352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3DCIR 18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472" y="7222333"/>
            <a:ext cx="5629275" cy="604361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8019" y="7651220"/>
            <a:ext cx="4672013" cy="27500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8019" y="10910888"/>
            <a:ext cx="4672013" cy="2557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0839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3DCIR 3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6738938"/>
            <a:ext cx="6615113" cy="691515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549" y="6738938"/>
            <a:ext cx="6757988" cy="63722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3579" y="9896476"/>
            <a:ext cx="4071938" cy="3214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6135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Quantitative Comparison of MDA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687" y="6929437"/>
            <a:ext cx="4962525" cy="416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5429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21" name="Group 20"/>
          <p:cNvGrpSpPr/>
          <p:nvPr/>
        </p:nvGrpSpPr>
        <p:grpSpPr>
          <a:xfrm>
            <a:off x="2993053" y="5423205"/>
            <a:ext cx="8686876" cy="7841457"/>
            <a:chOff x="2993053" y="5423205"/>
            <a:chExt cx="8686876" cy="7841457"/>
          </a:xfrm>
        </p:grpSpPr>
        <p:grpSp>
          <p:nvGrpSpPr>
            <p:cNvPr id="4" name="Group 3"/>
            <p:cNvGrpSpPr/>
            <p:nvPr/>
          </p:nvGrpSpPr>
          <p:grpSpPr>
            <a:xfrm>
              <a:off x="2993053" y="5423205"/>
              <a:ext cx="8686875" cy="3900488"/>
              <a:chOff x="2898881" y="1509712"/>
              <a:chExt cx="8686875" cy="3900488"/>
            </a:xfrm>
          </p:grpSpPr>
          <p:sp>
            <p:nvSpPr>
              <p:cNvPr id="5" name="Rectangle 4"/>
              <p:cNvSpPr/>
              <p:nvPr/>
            </p:nvSpPr>
            <p:spPr>
              <a:xfrm>
                <a:off x="2898881" y="1509712"/>
                <a:ext cx="8686875" cy="3900488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" name="Group 5"/>
              <p:cNvGrpSpPr/>
              <p:nvPr/>
            </p:nvGrpSpPr>
            <p:grpSpPr>
              <a:xfrm>
                <a:off x="3811845" y="1600200"/>
                <a:ext cx="7668955" cy="3732357"/>
                <a:chOff x="3076200" y="1690688"/>
                <a:chExt cx="7668955" cy="3732357"/>
              </a:xfrm>
            </p:grpSpPr>
            <p:pic>
              <p:nvPicPr>
                <p:cNvPr id="7" name="Picture 6"/>
                <p:cNvPicPr>
                  <a:picLocks noChangeAspect="1"/>
                </p:cNvPicPr>
                <p:nvPr/>
              </p:nvPicPr>
              <p:blipFill rotWithShape="1">
                <a:blip r:embed="rId2"/>
                <a:srcRect t="11021" b="7527"/>
                <a:stretch/>
              </p:blipFill>
              <p:spPr>
                <a:xfrm>
                  <a:off x="3076200" y="1690688"/>
                  <a:ext cx="3771900" cy="3732357"/>
                </a:xfrm>
                <a:prstGeom prst="rect">
                  <a:avLst/>
                </a:prstGeom>
              </p:spPr>
            </p:pic>
            <p:pic>
              <p:nvPicPr>
                <p:cNvPr id="8" name="Picture 7"/>
                <p:cNvPicPr>
                  <a:picLocks noChangeAspect="1"/>
                </p:cNvPicPr>
                <p:nvPr/>
              </p:nvPicPr>
              <p:blipFill rotWithShape="1">
                <a:blip r:embed="rId3"/>
                <a:srcRect t="17331" b="2239"/>
                <a:stretch/>
              </p:blipFill>
              <p:spPr>
                <a:xfrm>
                  <a:off x="7133949" y="1690688"/>
                  <a:ext cx="3611206" cy="3732357"/>
                </a:xfrm>
                <a:prstGeom prst="rect">
                  <a:avLst/>
                </a:prstGeom>
              </p:spPr>
            </p:pic>
            <p:sp>
              <p:nvSpPr>
                <p:cNvPr id="9" name="TextBox 8"/>
                <p:cNvSpPr txBox="1"/>
                <p:nvPr/>
              </p:nvSpPr>
              <p:spPr>
                <a:xfrm>
                  <a:off x="3243243" y="4776714"/>
                  <a:ext cx="1431867" cy="646331"/>
                </a:xfrm>
                <a:prstGeom prst="rect">
                  <a:avLst/>
                </a:prstGeom>
                <a:solidFill>
                  <a:schemeClr val="tx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smtClean="0">
                      <a:solidFill>
                        <a:srgbClr val="FF0000"/>
                      </a:solidFill>
                    </a:rPr>
                    <a:t>5 mm margin</a:t>
                  </a:r>
                </a:p>
                <a:p>
                  <a:pPr algn="ctr"/>
                  <a:r>
                    <a:rPr lang="en-US" dirty="0">
                      <a:solidFill>
                        <a:srgbClr val="04E604"/>
                      </a:solidFill>
                    </a:rPr>
                    <a:t>A</a:t>
                  </a:r>
                  <a:r>
                    <a:rPr lang="en-US" dirty="0" smtClean="0">
                      <a:solidFill>
                        <a:srgbClr val="04E604"/>
                      </a:solidFill>
                    </a:rPr>
                    <a:t>blation</a:t>
                  </a:r>
                  <a:endParaRPr lang="en-US" dirty="0">
                    <a:solidFill>
                      <a:srgbClr val="04E604"/>
                    </a:solidFill>
                  </a:endParaRPr>
                </a:p>
              </p:txBody>
            </p:sp>
            <p:sp>
              <p:nvSpPr>
                <p:cNvPr id="10" name="TextBox 9"/>
                <p:cNvSpPr txBox="1"/>
                <p:nvPr/>
              </p:nvSpPr>
              <p:spPr>
                <a:xfrm>
                  <a:off x="7215981" y="4776714"/>
                  <a:ext cx="1248419" cy="646331"/>
                </a:xfrm>
                <a:prstGeom prst="rect">
                  <a:avLst/>
                </a:prstGeom>
                <a:solidFill>
                  <a:schemeClr val="tx1"/>
                </a:solidFill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 smtClean="0">
                      <a:solidFill>
                        <a:srgbClr val="5EEFFE"/>
                      </a:solidFill>
                    </a:rPr>
                    <a:t>Recurrence</a:t>
                  </a:r>
                </a:p>
                <a:p>
                  <a:pPr algn="ctr"/>
                  <a:r>
                    <a:rPr lang="en-US" dirty="0">
                      <a:solidFill>
                        <a:srgbClr val="04E604"/>
                      </a:solidFill>
                    </a:rPr>
                    <a:t>A</a:t>
                  </a:r>
                  <a:r>
                    <a:rPr lang="en-US" dirty="0" smtClean="0">
                      <a:solidFill>
                        <a:srgbClr val="04E604"/>
                      </a:solidFill>
                    </a:rPr>
                    <a:t>blation</a:t>
                  </a:r>
                  <a:endParaRPr lang="en-US" dirty="0">
                    <a:solidFill>
                      <a:srgbClr val="04E604"/>
                    </a:solidFill>
                  </a:endParaRPr>
                </a:p>
              </p:txBody>
            </p:sp>
          </p:grpSp>
        </p:grpSp>
        <p:grpSp>
          <p:nvGrpSpPr>
            <p:cNvPr id="11" name="Group 10"/>
            <p:cNvGrpSpPr/>
            <p:nvPr/>
          </p:nvGrpSpPr>
          <p:grpSpPr>
            <a:xfrm>
              <a:off x="2993053" y="9364174"/>
              <a:ext cx="8686876" cy="3900488"/>
              <a:chOff x="3483809" y="874869"/>
              <a:chExt cx="8504149" cy="3900488"/>
            </a:xfrm>
          </p:grpSpPr>
          <p:grpSp>
            <p:nvGrpSpPr>
              <p:cNvPr id="12" name="Group 11"/>
              <p:cNvGrpSpPr/>
              <p:nvPr/>
            </p:nvGrpSpPr>
            <p:grpSpPr>
              <a:xfrm>
                <a:off x="3483809" y="874869"/>
                <a:ext cx="8504149" cy="3900488"/>
                <a:chOff x="2750126" y="1638300"/>
                <a:chExt cx="8504149" cy="3900488"/>
              </a:xfrm>
            </p:grpSpPr>
            <p:sp>
              <p:nvSpPr>
                <p:cNvPr id="15" name="Rectangle 14"/>
                <p:cNvSpPr/>
                <p:nvPr/>
              </p:nvSpPr>
              <p:spPr>
                <a:xfrm>
                  <a:off x="2750126" y="1638300"/>
                  <a:ext cx="8504149" cy="3900488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6" name="Picture 1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802753" y="1772334"/>
                  <a:ext cx="3162300" cy="3352800"/>
                </a:xfrm>
                <a:prstGeom prst="rect">
                  <a:avLst/>
                </a:prstGeom>
              </p:spPr>
            </p:pic>
            <p:pic>
              <p:nvPicPr>
                <p:cNvPr id="17" name="Picture 16"/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056653" y="1754981"/>
                  <a:ext cx="2867025" cy="3667125"/>
                </a:xfrm>
                <a:prstGeom prst="rect">
                  <a:avLst/>
                </a:prstGeom>
              </p:spPr>
            </p:pic>
          </p:grpSp>
          <p:sp>
            <p:nvSpPr>
              <p:cNvPr id="13" name="TextBox 12"/>
              <p:cNvSpPr txBox="1"/>
              <p:nvPr/>
            </p:nvSpPr>
            <p:spPr>
              <a:xfrm>
                <a:off x="4468295" y="3954249"/>
                <a:ext cx="1431867" cy="646331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>
                    <a:solidFill>
                      <a:srgbClr val="FF0000"/>
                    </a:solidFill>
                  </a:rPr>
                  <a:t>5 mm margin</a:t>
                </a:r>
              </a:p>
              <a:p>
                <a:pPr algn="ctr"/>
                <a:r>
                  <a:rPr lang="en-US" dirty="0">
                    <a:solidFill>
                      <a:srgbClr val="04E604"/>
                    </a:solidFill>
                  </a:rPr>
                  <a:t>A</a:t>
                </a:r>
                <a:r>
                  <a:rPr lang="en-US" dirty="0" smtClean="0">
                    <a:solidFill>
                      <a:srgbClr val="04E604"/>
                    </a:solidFill>
                  </a:rPr>
                  <a:t>blation</a:t>
                </a:r>
                <a:endParaRPr lang="en-US" dirty="0">
                  <a:solidFill>
                    <a:srgbClr val="04E604"/>
                  </a:solidFill>
                </a:endParaRP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8388169" y="4038538"/>
                <a:ext cx="1248419" cy="646331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 smtClean="0">
                    <a:solidFill>
                      <a:srgbClr val="5EEFFE"/>
                    </a:solidFill>
                  </a:rPr>
                  <a:t>Recurrence</a:t>
                </a:r>
              </a:p>
              <a:p>
                <a:pPr algn="ctr"/>
                <a:r>
                  <a:rPr lang="en-US" dirty="0">
                    <a:solidFill>
                      <a:srgbClr val="04E604"/>
                    </a:solidFill>
                  </a:rPr>
                  <a:t>A</a:t>
                </a:r>
                <a:r>
                  <a:rPr lang="en-US" dirty="0" smtClean="0">
                    <a:solidFill>
                      <a:srgbClr val="04E604"/>
                    </a:solidFill>
                  </a:rPr>
                  <a:t>blation</a:t>
                </a:r>
                <a:endParaRPr lang="en-US" dirty="0">
                  <a:solidFill>
                    <a:srgbClr val="04E604"/>
                  </a:solidFill>
                </a:endParaRPr>
              </a:p>
            </p:txBody>
          </p:sp>
        </p:grpSp>
        <p:sp>
          <p:nvSpPr>
            <p:cNvPr id="19" name="TextBox 18"/>
            <p:cNvSpPr txBox="1"/>
            <p:nvPr/>
          </p:nvSpPr>
          <p:spPr>
            <a:xfrm rot="16200000">
              <a:off x="2577523" y="11052807"/>
              <a:ext cx="166430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 smtClean="0">
                  <a:solidFill>
                    <a:schemeClr val="bg1"/>
                  </a:solidFill>
                </a:rPr>
                <a:t>Patient 14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 rot="16200000">
              <a:off x="2617779" y="7120210"/>
              <a:ext cx="148155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 smtClean="0">
                  <a:solidFill>
                    <a:schemeClr val="bg1"/>
                  </a:solidFill>
                </a:rPr>
                <a:t>Patient 5</a:t>
              </a:r>
              <a:endParaRPr lang="en-US" sz="280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2434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342900" y="3932237"/>
            <a:ext cx="7073900" cy="9491662"/>
            <a:chOff x="935037" y="3932237"/>
            <a:chExt cx="6481763" cy="9491662"/>
          </a:xfrm>
        </p:grpSpPr>
        <p:graphicFrame>
          <p:nvGraphicFramePr>
            <p:cNvPr id="4" name="Chart 3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974369550"/>
                </p:ext>
              </p:extLst>
            </p:nvPr>
          </p:nvGraphicFramePr>
          <p:xfrm>
            <a:off x="935037" y="8766174"/>
            <a:ext cx="6481763" cy="465772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"/>
            </a:graphicData>
          </a:graphic>
        </p:graphicFrame>
        <p:graphicFrame>
          <p:nvGraphicFramePr>
            <p:cNvPr id="5" name="Chart 4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444878727"/>
                </p:ext>
              </p:extLst>
            </p:nvPr>
          </p:nvGraphicFramePr>
          <p:xfrm>
            <a:off x="935037" y="3932237"/>
            <a:ext cx="6481763" cy="465772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  <p:grpSp>
        <p:nvGrpSpPr>
          <p:cNvPr id="11" name="Group 10"/>
          <p:cNvGrpSpPr/>
          <p:nvPr/>
        </p:nvGrpSpPr>
        <p:grpSpPr>
          <a:xfrm>
            <a:off x="7847011" y="3932237"/>
            <a:ext cx="8438018" cy="9491662"/>
            <a:chOff x="7847011" y="3932237"/>
            <a:chExt cx="8410576" cy="9358312"/>
          </a:xfrm>
        </p:grpSpPr>
        <p:graphicFrame>
          <p:nvGraphicFramePr>
            <p:cNvPr id="7" name="Chart 6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349050475"/>
                </p:ext>
              </p:extLst>
            </p:nvPr>
          </p:nvGraphicFramePr>
          <p:xfrm>
            <a:off x="7847012" y="8766174"/>
            <a:ext cx="8410575" cy="452437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10" name="Chart 9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81465798"/>
                </p:ext>
              </p:extLst>
            </p:nvPr>
          </p:nvGraphicFramePr>
          <p:xfrm>
            <a:off x="7847011" y="3932237"/>
            <a:ext cx="8410576" cy="452437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8845733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Lits_100</a:t>
            </a:r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1727198" y="5805714"/>
            <a:ext cx="6139543" cy="2888342"/>
            <a:chOff x="4034970" y="6023429"/>
            <a:chExt cx="6139543" cy="2888342"/>
          </a:xfrm>
        </p:grpSpPr>
        <p:sp>
          <p:nvSpPr>
            <p:cNvPr id="6" name="Rectangle 5"/>
            <p:cNvSpPr/>
            <p:nvPr/>
          </p:nvSpPr>
          <p:spPr>
            <a:xfrm>
              <a:off x="4034970" y="6023429"/>
              <a:ext cx="6139543" cy="288834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59250" y="6221640"/>
              <a:ext cx="2857500" cy="2419350"/>
            </a:xfrm>
            <a:prstGeom prst="rect">
              <a:avLst/>
            </a:prstGeom>
          </p:spPr>
        </p:pic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98429" y="6326415"/>
              <a:ext cx="2562225" cy="2209800"/>
            </a:xfrm>
            <a:prstGeom prst="rect">
              <a:avLst/>
            </a:prstGeom>
          </p:spPr>
        </p:pic>
        <p:sp>
          <p:nvSpPr>
            <p:cNvPr id="7" name="Rectangle 6"/>
            <p:cNvSpPr/>
            <p:nvPr/>
          </p:nvSpPr>
          <p:spPr>
            <a:xfrm>
              <a:off x="6872512" y="6023429"/>
              <a:ext cx="332920" cy="288834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" name="Group 2"/>
          <p:cNvGrpSpPr/>
          <p:nvPr/>
        </p:nvGrpSpPr>
        <p:grpSpPr>
          <a:xfrm>
            <a:off x="6085522" y="12384722"/>
            <a:ext cx="6116955" cy="2407285"/>
            <a:chOff x="6085522" y="12384722"/>
            <a:chExt cx="6116955" cy="2407285"/>
          </a:xfrm>
        </p:grpSpPr>
        <p:grpSp>
          <p:nvGrpSpPr>
            <p:cNvPr id="9" name="Group 8"/>
            <p:cNvGrpSpPr/>
            <p:nvPr/>
          </p:nvGrpSpPr>
          <p:grpSpPr>
            <a:xfrm>
              <a:off x="6085522" y="12822872"/>
              <a:ext cx="6116955" cy="1969135"/>
              <a:chOff x="0" y="0"/>
              <a:chExt cx="6116955" cy="1969135"/>
            </a:xfrm>
          </p:grpSpPr>
          <p:pic>
            <p:nvPicPr>
              <p:cNvPr id="10" name="Picture 9"/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002" b="3735"/>
              <a:stretch/>
            </p:blipFill>
            <p:spPr bwMode="auto">
              <a:xfrm>
                <a:off x="4133850" y="0"/>
                <a:ext cx="1983105" cy="196913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1" name="Picture 10"/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414" b="1247"/>
              <a:stretch/>
            </p:blipFill>
            <p:spPr bwMode="auto">
              <a:xfrm>
                <a:off x="2070100" y="0"/>
                <a:ext cx="1993265" cy="196913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/>
              <p:cNvPicPr>
                <a:picLocks noChangeAspect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777" t="9204" r="777" b="4628"/>
              <a:stretch/>
            </p:blipFill>
            <p:spPr bwMode="auto">
              <a:xfrm>
                <a:off x="0" y="0"/>
                <a:ext cx="2023745" cy="196215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grpSp>
          <p:nvGrpSpPr>
            <p:cNvPr id="13" name="Group 12"/>
            <p:cNvGrpSpPr/>
            <p:nvPr/>
          </p:nvGrpSpPr>
          <p:grpSpPr>
            <a:xfrm>
              <a:off x="6371769" y="12384722"/>
              <a:ext cx="5567680" cy="438150"/>
              <a:chOff x="219075" y="0"/>
              <a:chExt cx="5567680" cy="438150"/>
            </a:xfrm>
          </p:grpSpPr>
          <p:grpSp>
            <p:nvGrpSpPr>
              <p:cNvPr id="14" name="Group 13"/>
              <p:cNvGrpSpPr/>
              <p:nvPr/>
            </p:nvGrpSpPr>
            <p:grpSpPr>
              <a:xfrm>
                <a:off x="219075" y="38100"/>
                <a:ext cx="3491230" cy="400050"/>
                <a:chOff x="219075" y="0"/>
                <a:chExt cx="3491230" cy="400050"/>
              </a:xfrm>
            </p:grpSpPr>
            <p:sp>
              <p:nvSpPr>
                <p:cNvPr id="16" name="Text Box 2"/>
                <p:cNvSpPr txBox="1">
                  <a:spLocks noChangeArrowheads="1"/>
                </p:cNvSpPr>
                <p:nvPr/>
              </p:nvSpPr>
              <p:spPr bwMode="auto">
                <a:xfrm>
                  <a:off x="219075" y="19050"/>
                  <a:ext cx="1424783" cy="38100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pPr marL="0" marR="0" algn="ctr">
                    <a:lnSpc>
                      <a:spcPct val="107000"/>
                    </a:lnSpc>
                    <a:spcBef>
                      <a:spcPts val="0"/>
                    </a:spcBef>
                    <a:spcAft>
                      <a:spcPts val="800"/>
                    </a:spcAft>
                  </a:pPr>
                  <a:r>
                    <a:rPr lang="en-US" sz="1200">
                      <a:effectLst/>
                      <a:latin typeface="Calibri" panose="020F0502020204030204" pitchFamily="34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Ground Truth</a:t>
                  </a:r>
                  <a:endParaRPr lang="en-US" sz="110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" name="Text Box 2"/>
                <p:cNvSpPr txBox="1">
                  <a:spLocks noChangeArrowheads="1"/>
                </p:cNvSpPr>
                <p:nvPr/>
              </p:nvSpPr>
              <p:spPr bwMode="auto">
                <a:xfrm>
                  <a:off x="2286000" y="0"/>
                  <a:ext cx="1424305" cy="29845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pPr marL="0" marR="0" algn="ctr">
                    <a:lnSpc>
                      <a:spcPct val="107000"/>
                    </a:lnSpc>
                    <a:spcBef>
                      <a:spcPts val="0"/>
                    </a:spcBef>
                    <a:spcAft>
                      <a:spcPts val="800"/>
                    </a:spcAft>
                  </a:pPr>
                  <a:r>
                    <a:rPr lang="en-US" sz="1200">
                      <a:effectLst/>
                      <a:latin typeface="Calibri" panose="020F0502020204030204" pitchFamily="34" charset="0"/>
                      <a:ea typeface="Calibri" panose="020F0502020204030204" pitchFamily="34" charset="0"/>
                      <a:cs typeface="Times New Roman" panose="02020603050405020304" pitchFamily="18" charset="0"/>
                    </a:rPr>
                    <a:t>Image</a:t>
                  </a:r>
                  <a:endParaRPr lang="en-US" sz="110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15" name="Text Box 2"/>
              <p:cNvSpPr txBox="1">
                <a:spLocks noChangeArrowheads="1"/>
              </p:cNvSpPr>
              <p:nvPr/>
            </p:nvSpPr>
            <p:spPr bwMode="auto">
              <a:xfrm>
                <a:off x="4362450" y="0"/>
                <a:ext cx="1424305" cy="3079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pPr marL="0" marR="0" algn="ctr">
                  <a:lnSpc>
                    <a:spcPct val="107000"/>
                  </a:lnSpc>
                  <a:spcBef>
                    <a:spcPts val="0"/>
                  </a:spcBef>
                  <a:spcAft>
                    <a:spcPts val="800"/>
                  </a:spcAft>
                </a:pPr>
                <a:r>
                  <a:rPr lang="en-US" sz="1200">
                    <a:effectLst/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Prediction</a:t>
                </a:r>
                <a:endParaRPr lang="en-US" sz="110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09620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0657" y="5621337"/>
            <a:ext cx="5943600" cy="2574925"/>
          </a:xfrm>
          <a:prstGeom prst="rect">
            <a:avLst/>
          </a:prstGeom>
          <a:noFill/>
        </p:spPr>
      </p:pic>
      <p:pic>
        <p:nvPicPr>
          <p:cNvPr id="6" name="Picture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8727" y="8374062"/>
            <a:ext cx="6151245" cy="2901950"/>
          </a:xfrm>
          <a:prstGeom prst="rect">
            <a:avLst/>
          </a:prstGeom>
          <a:noFill/>
        </p:spPr>
      </p:pic>
      <p:sp>
        <p:nvSpPr>
          <p:cNvPr id="8" name="Freeform 7"/>
          <p:cNvSpPr/>
          <p:nvPr/>
        </p:nvSpPr>
        <p:spPr>
          <a:xfrm>
            <a:off x="6897007" y="9358097"/>
            <a:ext cx="254000" cy="205003"/>
          </a:xfrm>
          <a:custGeom>
            <a:avLst/>
            <a:gdLst>
              <a:gd name="connsiteX0" fmla="*/ 114300 w 254000"/>
              <a:gd name="connsiteY0" fmla="*/ 20853 h 205003"/>
              <a:gd name="connsiteX1" fmla="*/ 76200 w 254000"/>
              <a:gd name="connsiteY1" fmla="*/ 27203 h 205003"/>
              <a:gd name="connsiteX2" fmla="*/ 50800 w 254000"/>
              <a:gd name="connsiteY2" fmla="*/ 46253 h 205003"/>
              <a:gd name="connsiteX3" fmla="*/ 6350 w 254000"/>
              <a:gd name="connsiteY3" fmla="*/ 78003 h 205003"/>
              <a:gd name="connsiteX4" fmla="*/ 0 w 254000"/>
              <a:gd name="connsiteY4" fmla="*/ 97053 h 205003"/>
              <a:gd name="connsiteX5" fmla="*/ 19050 w 254000"/>
              <a:gd name="connsiteY5" fmla="*/ 147853 h 205003"/>
              <a:gd name="connsiteX6" fmla="*/ 44450 w 254000"/>
              <a:gd name="connsiteY6" fmla="*/ 160553 h 205003"/>
              <a:gd name="connsiteX7" fmla="*/ 101600 w 254000"/>
              <a:gd name="connsiteY7" fmla="*/ 185953 h 205003"/>
              <a:gd name="connsiteX8" fmla="*/ 120650 w 254000"/>
              <a:gd name="connsiteY8" fmla="*/ 192303 h 205003"/>
              <a:gd name="connsiteX9" fmla="*/ 171450 w 254000"/>
              <a:gd name="connsiteY9" fmla="*/ 205003 h 205003"/>
              <a:gd name="connsiteX10" fmla="*/ 241300 w 254000"/>
              <a:gd name="connsiteY10" fmla="*/ 185953 h 205003"/>
              <a:gd name="connsiteX11" fmla="*/ 254000 w 254000"/>
              <a:gd name="connsiteY11" fmla="*/ 147853 h 205003"/>
              <a:gd name="connsiteX12" fmla="*/ 241300 w 254000"/>
              <a:gd name="connsiteY12" fmla="*/ 84353 h 205003"/>
              <a:gd name="connsiteX13" fmla="*/ 234950 w 254000"/>
              <a:gd name="connsiteY13" fmla="*/ 58953 h 205003"/>
              <a:gd name="connsiteX14" fmla="*/ 196850 w 254000"/>
              <a:gd name="connsiteY14" fmla="*/ 33553 h 205003"/>
              <a:gd name="connsiteX15" fmla="*/ 184150 w 254000"/>
              <a:gd name="connsiteY15" fmla="*/ 14503 h 205003"/>
              <a:gd name="connsiteX16" fmla="*/ 146050 w 254000"/>
              <a:gd name="connsiteY16" fmla="*/ 1803 h 205003"/>
              <a:gd name="connsiteX17" fmla="*/ 114300 w 254000"/>
              <a:gd name="connsiteY17" fmla="*/ 20853 h 205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54000" h="205003">
                <a:moveTo>
                  <a:pt x="114300" y="20853"/>
                </a:moveTo>
                <a:cubicBezTo>
                  <a:pt x="102658" y="25086"/>
                  <a:pt x="88154" y="22421"/>
                  <a:pt x="76200" y="27203"/>
                </a:cubicBezTo>
                <a:cubicBezTo>
                  <a:pt x="66374" y="31134"/>
                  <a:pt x="59775" y="40644"/>
                  <a:pt x="50800" y="46253"/>
                </a:cubicBezTo>
                <a:cubicBezTo>
                  <a:pt x="6224" y="74113"/>
                  <a:pt x="42666" y="41687"/>
                  <a:pt x="6350" y="78003"/>
                </a:cubicBezTo>
                <a:cubicBezTo>
                  <a:pt x="4233" y="84353"/>
                  <a:pt x="0" y="90360"/>
                  <a:pt x="0" y="97053"/>
                </a:cubicBezTo>
                <a:cubicBezTo>
                  <a:pt x="0" y="112130"/>
                  <a:pt x="5912" y="136904"/>
                  <a:pt x="19050" y="147853"/>
                </a:cubicBezTo>
                <a:cubicBezTo>
                  <a:pt x="26322" y="153913"/>
                  <a:pt x="36231" y="155857"/>
                  <a:pt x="44450" y="160553"/>
                </a:cubicBezTo>
                <a:cubicBezTo>
                  <a:pt x="86714" y="184704"/>
                  <a:pt x="35078" y="163779"/>
                  <a:pt x="101600" y="185953"/>
                </a:cubicBezTo>
                <a:cubicBezTo>
                  <a:pt x="107950" y="188070"/>
                  <a:pt x="114156" y="190680"/>
                  <a:pt x="120650" y="192303"/>
                </a:cubicBezTo>
                <a:lnTo>
                  <a:pt x="171450" y="205003"/>
                </a:lnTo>
                <a:cubicBezTo>
                  <a:pt x="182342" y="203447"/>
                  <a:pt x="229664" y="201468"/>
                  <a:pt x="241300" y="185953"/>
                </a:cubicBezTo>
                <a:cubicBezTo>
                  <a:pt x="249332" y="175243"/>
                  <a:pt x="254000" y="147853"/>
                  <a:pt x="254000" y="147853"/>
                </a:cubicBezTo>
                <a:cubicBezTo>
                  <a:pt x="243163" y="71994"/>
                  <a:pt x="253966" y="128685"/>
                  <a:pt x="241300" y="84353"/>
                </a:cubicBezTo>
                <a:cubicBezTo>
                  <a:pt x="238902" y="75962"/>
                  <a:pt x="239280" y="66530"/>
                  <a:pt x="234950" y="58953"/>
                </a:cubicBezTo>
                <a:cubicBezTo>
                  <a:pt x="223758" y="39367"/>
                  <a:pt x="215035" y="39615"/>
                  <a:pt x="196850" y="33553"/>
                </a:cubicBezTo>
                <a:cubicBezTo>
                  <a:pt x="192617" y="27203"/>
                  <a:pt x="190622" y="18548"/>
                  <a:pt x="184150" y="14503"/>
                </a:cubicBezTo>
                <a:cubicBezTo>
                  <a:pt x="172798" y="7408"/>
                  <a:pt x="158750" y="6036"/>
                  <a:pt x="146050" y="1803"/>
                </a:cubicBezTo>
                <a:cubicBezTo>
                  <a:pt x="120976" y="-6555"/>
                  <a:pt x="125942" y="16620"/>
                  <a:pt x="114300" y="20853"/>
                </a:cubicBezTo>
                <a:close/>
              </a:path>
            </a:pathLst>
          </a:cu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9596414" y="9358097"/>
            <a:ext cx="254000" cy="205003"/>
          </a:xfrm>
          <a:custGeom>
            <a:avLst/>
            <a:gdLst>
              <a:gd name="connsiteX0" fmla="*/ 114300 w 254000"/>
              <a:gd name="connsiteY0" fmla="*/ 20853 h 205003"/>
              <a:gd name="connsiteX1" fmla="*/ 76200 w 254000"/>
              <a:gd name="connsiteY1" fmla="*/ 27203 h 205003"/>
              <a:gd name="connsiteX2" fmla="*/ 50800 w 254000"/>
              <a:gd name="connsiteY2" fmla="*/ 46253 h 205003"/>
              <a:gd name="connsiteX3" fmla="*/ 6350 w 254000"/>
              <a:gd name="connsiteY3" fmla="*/ 78003 h 205003"/>
              <a:gd name="connsiteX4" fmla="*/ 0 w 254000"/>
              <a:gd name="connsiteY4" fmla="*/ 97053 h 205003"/>
              <a:gd name="connsiteX5" fmla="*/ 19050 w 254000"/>
              <a:gd name="connsiteY5" fmla="*/ 147853 h 205003"/>
              <a:gd name="connsiteX6" fmla="*/ 44450 w 254000"/>
              <a:gd name="connsiteY6" fmla="*/ 160553 h 205003"/>
              <a:gd name="connsiteX7" fmla="*/ 101600 w 254000"/>
              <a:gd name="connsiteY7" fmla="*/ 185953 h 205003"/>
              <a:gd name="connsiteX8" fmla="*/ 120650 w 254000"/>
              <a:gd name="connsiteY8" fmla="*/ 192303 h 205003"/>
              <a:gd name="connsiteX9" fmla="*/ 171450 w 254000"/>
              <a:gd name="connsiteY9" fmla="*/ 205003 h 205003"/>
              <a:gd name="connsiteX10" fmla="*/ 241300 w 254000"/>
              <a:gd name="connsiteY10" fmla="*/ 185953 h 205003"/>
              <a:gd name="connsiteX11" fmla="*/ 254000 w 254000"/>
              <a:gd name="connsiteY11" fmla="*/ 147853 h 205003"/>
              <a:gd name="connsiteX12" fmla="*/ 241300 w 254000"/>
              <a:gd name="connsiteY12" fmla="*/ 84353 h 205003"/>
              <a:gd name="connsiteX13" fmla="*/ 234950 w 254000"/>
              <a:gd name="connsiteY13" fmla="*/ 58953 h 205003"/>
              <a:gd name="connsiteX14" fmla="*/ 196850 w 254000"/>
              <a:gd name="connsiteY14" fmla="*/ 33553 h 205003"/>
              <a:gd name="connsiteX15" fmla="*/ 184150 w 254000"/>
              <a:gd name="connsiteY15" fmla="*/ 14503 h 205003"/>
              <a:gd name="connsiteX16" fmla="*/ 146050 w 254000"/>
              <a:gd name="connsiteY16" fmla="*/ 1803 h 205003"/>
              <a:gd name="connsiteX17" fmla="*/ 114300 w 254000"/>
              <a:gd name="connsiteY17" fmla="*/ 20853 h 2050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54000" h="205003">
                <a:moveTo>
                  <a:pt x="114300" y="20853"/>
                </a:moveTo>
                <a:cubicBezTo>
                  <a:pt x="102658" y="25086"/>
                  <a:pt x="88154" y="22421"/>
                  <a:pt x="76200" y="27203"/>
                </a:cubicBezTo>
                <a:cubicBezTo>
                  <a:pt x="66374" y="31134"/>
                  <a:pt x="59775" y="40644"/>
                  <a:pt x="50800" y="46253"/>
                </a:cubicBezTo>
                <a:cubicBezTo>
                  <a:pt x="6224" y="74113"/>
                  <a:pt x="42666" y="41687"/>
                  <a:pt x="6350" y="78003"/>
                </a:cubicBezTo>
                <a:cubicBezTo>
                  <a:pt x="4233" y="84353"/>
                  <a:pt x="0" y="90360"/>
                  <a:pt x="0" y="97053"/>
                </a:cubicBezTo>
                <a:cubicBezTo>
                  <a:pt x="0" y="112130"/>
                  <a:pt x="5912" y="136904"/>
                  <a:pt x="19050" y="147853"/>
                </a:cubicBezTo>
                <a:cubicBezTo>
                  <a:pt x="26322" y="153913"/>
                  <a:pt x="36231" y="155857"/>
                  <a:pt x="44450" y="160553"/>
                </a:cubicBezTo>
                <a:cubicBezTo>
                  <a:pt x="86714" y="184704"/>
                  <a:pt x="35078" y="163779"/>
                  <a:pt x="101600" y="185953"/>
                </a:cubicBezTo>
                <a:cubicBezTo>
                  <a:pt x="107950" y="188070"/>
                  <a:pt x="114156" y="190680"/>
                  <a:pt x="120650" y="192303"/>
                </a:cubicBezTo>
                <a:lnTo>
                  <a:pt x="171450" y="205003"/>
                </a:lnTo>
                <a:cubicBezTo>
                  <a:pt x="182342" y="203447"/>
                  <a:pt x="229664" y="201468"/>
                  <a:pt x="241300" y="185953"/>
                </a:cubicBezTo>
                <a:cubicBezTo>
                  <a:pt x="249332" y="175243"/>
                  <a:pt x="254000" y="147853"/>
                  <a:pt x="254000" y="147853"/>
                </a:cubicBezTo>
                <a:cubicBezTo>
                  <a:pt x="243163" y="71994"/>
                  <a:pt x="253966" y="128685"/>
                  <a:pt x="241300" y="84353"/>
                </a:cubicBezTo>
                <a:cubicBezTo>
                  <a:pt x="238902" y="75962"/>
                  <a:pt x="239280" y="66530"/>
                  <a:pt x="234950" y="58953"/>
                </a:cubicBezTo>
                <a:cubicBezTo>
                  <a:pt x="223758" y="39367"/>
                  <a:pt x="215035" y="39615"/>
                  <a:pt x="196850" y="33553"/>
                </a:cubicBezTo>
                <a:cubicBezTo>
                  <a:pt x="192617" y="27203"/>
                  <a:pt x="190622" y="18548"/>
                  <a:pt x="184150" y="14503"/>
                </a:cubicBezTo>
                <a:cubicBezTo>
                  <a:pt x="172798" y="7408"/>
                  <a:pt x="158750" y="6036"/>
                  <a:pt x="146050" y="1803"/>
                </a:cubicBezTo>
                <a:cubicBezTo>
                  <a:pt x="120976" y="-6555"/>
                  <a:pt x="125942" y="16620"/>
                  <a:pt x="114300" y="20853"/>
                </a:cubicBezTo>
                <a:close/>
              </a:path>
            </a:pathLst>
          </a:cu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/>
          <p:cNvPicPr/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26519" y="12260047"/>
            <a:ext cx="5939790" cy="28092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279836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12" name="Group 11"/>
          <p:cNvGrpSpPr/>
          <p:nvPr/>
        </p:nvGrpSpPr>
        <p:grpSpPr>
          <a:xfrm>
            <a:off x="4419599" y="8141152"/>
            <a:ext cx="6429376" cy="3212648"/>
            <a:chOff x="4419599" y="8141152"/>
            <a:chExt cx="6429376" cy="3212648"/>
          </a:xfrm>
        </p:grpSpPr>
        <p:sp>
          <p:nvSpPr>
            <p:cNvPr id="10" name="Rectangle 9"/>
            <p:cNvSpPr/>
            <p:nvPr/>
          </p:nvSpPr>
          <p:spPr>
            <a:xfrm>
              <a:off x="4419599" y="8141152"/>
              <a:ext cx="6429375" cy="3212648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77455" y="8598352"/>
              <a:ext cx="2619375" cy="2266950"/>
            </a:xfrm>
            <a:prstGeom prst="rect">
              <a:avLst/>
            </a:prstGeom>
          </p:spPr>
        </p:pic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439025" y="8231639"/>
              <a:ext cx="3409950" cy="3000375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7474630" y="8141152"/>
              <a:ext cx="257856" cy="32126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3043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Lits</a:t>
            </a:r>
            <a:r>
              <a:rPr lang="en-US" dirty="0" smtClean="0"/>
              <a:t> 57 removed, not a patient</a:t>
            </a:r>
          </a:p>
          <a:p>
            <a:r>
              <a:rPr lang="en-US" dirty="0" err="1" smtClean="0"/>
              <a:t>Lits</a:t>
            </a:r>
            <a:r>
              <a:rPr lang="en-US" dirty="0" smtClean="0"/>
              <a:t> 59 removed, not transverse</a:t>
            </a:r>
          </a:p>
          <a:p>
            <a:r>
              <a:rPr lang="en-US" dirty="0" err="1" smtClean="0"/>
              <a:t>Lits</a:t>
            </a:r>
            <a:r>
              <a:rPr lang="en-US" dirty="0"/>
              <a:t> </a:t>
            </a:r>
            <a:r>
              <a:rPr lang="en-US" dirty="0" smtClean="0"/>
              <a:t>0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7748" y="4868333"/>
            <a:ext cx="3419475" cy="336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040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3881426" y="1514637"/>
            <a:ext cx="10914000" cy="4838204"/>
            <a:chOff x="3881426" y="1514637"/>
            <a:chExt cx="10914000" cy="4838204"/>
          </a:xfrm>
        </p:grpSpPr>
        <p:sp>
          <p:nvSpPr>
            <p:cNvPr id="6" name="TextBox 5"/>
            <p:cNvSpPr txBox="1"/>
            <p:nvPr/>
          </p:nvSpPr>
          <p:spPr>
            <a:xfrm>
              <a:off x="5779670" y="348534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224906" y="348534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grpSp>
          <p:nvGrpSpPr>
            <p:cNvPr id="8" name="Group 7"/>
            <p:cNvGrpSpPr/>
            <p:nvPr/>
          </p:nvGrpSpPr>
          <p:grpSpPr>
            <a:xfrm>
              <a:off x="4859810" y="1514637"/>
              <a:ext cx="873051" cy="2092145"/>
              <a:chOff x="18350689" y="8312592"/>
              <a:chExt cx="1746101" cy="4184289"/>
            </a:xfrm>
          </p:grpSpPr>
          <p:sp>
            <p:nvSpPr>
              <p:cNvPr id="65" name="Down Arrow 64"/>
              <p:cNvSpPr/>
              <p:nvPr/>
            </p:nvSpPr>
            <p:spPr>
              <a:xfrm>
                <a:off x="19472222" y="11716617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66" name="Rectangle 65"/>
              <p:cNvSpPr/>
              <p:nvPr/>
            </p:nvSpPr>
            <p:spPr>
              <a:xfrm>
                <a:off x="18997888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67" name="TextBox 66"/>
              <p:cNvSpPr txBox="1"/>
              <p:nvPr/>
            </p:nvSpPr>
            <p:spPr>
              <a:xfrm>
                <a:off x="18350689" y="8312592"/>
                <a:ext cx="532840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3</a:t>
                </a:r>
              </a:p>
            </p:txBody>
          </p:sp>
          <p:sp>
            <p:nvSpPr>
              <p:cNvPr id="68" name="TextBox 67"/>
              <p:cNvSpPr txBox="1"/>
              <p:nvPr/>
            </p:nvSpPr>
            <p:spPr>
              <a:xfrm>
                <a:off x="18835093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69" name="TextBox 68"/>
              <p:cNvSpPr txBox="1"/>
              <p:nvPr/>
            </p:nvSpPr>
            <p:spPr>
              <a:xfrm>
                <a:off x="19400446" y="8312592"/>
                <a:ext cx="696344" cy="5693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50" dirty="0"/>
                  <a:t>16</a:t>
                </a:r>
              </a:p>
            </p:txBody>
          </p:sp>
          <p:sp>
            <p:nvSpPr>
              <p:cNvPr id="70" name="Right Arrow 69"/>
              <p:cNvSpPr/>
              <p:nvPr/>
            </p:nvSpPr>
            <p:spPr>
              <a:xfrm>
                <a:off x="18612464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71" name="Right Arrow 70"/>
              <p:cNvSpPr/>
              <p:nvPr/>
            </p:nvSpPr>
            <p:spPr>
              <a:xfrm>
                <a:off x="19177818" y="9933874"/>
                <a:ext cx="388374" cy="484632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72" name="Rectangle 71"/>
              <p:cNvSpPr/>
              <p:nvPr/>
            </p:nvSpPr>
            <p:spPr>
              <a:xfrm>
                <a:off x="19563243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73" name="Rectangle 72"/>
              <p:cNvSpPr/>
              <p:nvPr/>
            </p:nvSpPr>
            <p:spPr>
              <a:xfrm>
                <a:off x="18432534" y="8804590"/>
                <a:ext cx="18288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9" name="Right Arrow 8"/>
            <p:cNvSpPr/>
            <p:nvPr/>
          </p:nvSpPr>
          <p:spPr>
            <a:xfrm>
              <a:off x="5587384" y="4292856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0" name="Right Arrow 9"/>
            <p:cNvSpPr/>
            <p:nvPr/>
          </p:nvSpPr>
          <p:spPr>
            <a:xfrm>
              <a:off x="6032005" y="4292856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5462167" y="3728214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815348" y="3728214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259969" y="3728214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4" name="Down Arrow 13"/>
            <p:cNvSpPr/>
            <p:nvPr/>
          </p:nvSpPr>
          <p:spPr>
            <a:xfrm flipV="1">
              <a:off x="10160558" y="5220633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5" name="TextBox 14"/>
            <p:cNvSpPr txBox="1"/>
            <p:nvPr/>
          </p:nvSpPr>
          <p:spPr>
            <a:xfrm flipH="1">
              <a:off x="11058764" y="5200407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16" name="Rectangle 15"/>
            <p:cNvSpPr/>
            <p:nvPr/>
          </p:nvSpPr>
          <p:spPr>
            <a:xfrm flipH="1">
              <a:off x="11096292" y="3783376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17" name="Rectangle 16"/>
            <p:cNvSpPr/>
            <p:nvPr/>
          </p:nvSpPr>
          <p:spPr>
            <a:xfrm flipH="1">
              <a:off x="10629994" y="3783376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18" name="Group 17"/>
            <p:cNvGrpSpPr/>
            <p:nvPr/>
          </p:nvGrpSpPr>
          <p:grpSpPr>
            <a:xfrm>
              <a:off x="9988470" y="3783376"/>
              <a:ext cx="365760" cy="1371600"/>
              <a:chOff x="28554490" y="16388363"/>
              <a:chExt cx="1463709" cy="2743200"/>
            </a:xfrm>
          </p:grpSpPr>
          <p:sp>
            <p:nvSpPr>
              <p:cNvPr id="63" name="Rectangle 62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64" name="Rectangle 63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19" name="Right Arrow 18"/>
            <p:cNvSpPr/>
            <p:nvPr/>
          </p:nvSpPr>
          <p:spPr>
            <a:xfrm>
              <a:off x="6921246" y="4084122"/>
              <a:ext cx="3015140" cy="589710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0" name="Down Arrow 19"/>
            <p:cNvSpPr/>
            <p:nvPr/>
          </p:nvSpPr>
          <p:spPr>
            <a:xfrm flipV="1">
              <a:off x="11074625" y="3364685"/>
              <a:ext cx="204547" cy="390132"/>
            </a:xfrm>
            <a:prstGeom prst="downArrow">
              <a:avLst/>
            </a:prstGeom>
            <a:solidFill>
              <a:srgbClr val="00B050"/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1" name="TextBox 20"/>
            <p:cNvSpPr txBox="1"/>
            <p:nvPr/>
          </p:nvSpPr>
          <p:spPr>
            <a:xfrm flipH="1">
              <a:off x="11074625" y="1641372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22" name="Right Arrow 21"/>
            <p:cNvSpPr/>
            <p:nvPr/>
          </p:nvSpPr>
          <p:spPr>
            <a:xfrm>
              <a:off x="11300017" y="2431761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3" name="Rectangle 22"/>
            <p:cNvSpPr/>
            <p:nvPr/>
          </p:nvSpPr>
          <p:spPr>
            <a:xfrm flipH="1">
              <a:off x="11531388" y="1867119"/>
              <a:ext cx="9144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24" name="Group 23"/>
            <p:cNvGrpSpPr/>
            <p:nvPr/>
          </p:nvGrpSpPr>
          <p:grpSpPr>
            <a:xfrm>
              <a:off x="11079953" y="1867119"/>
              <a:ext cx="182880" cy="1371600"/>
              <a:chOff x="28554490" y="16388363"/>
              <a:chExt cx="1463709" cy="2743200"/>
            </a:xfrm>
          </p:grpSpPr>
          <p:sp>
            <p:nvSpPr>
              <p:cNvPr id="61" name="Rectangle 60"/>
              <p:cNvSpPr/>
              <p:nvPr/>
            </p:nvSpPr>
            <p:spPr>
              <a:xfrm flipH="1">
                <a:off x="29286679" y="16388363"/>
                <a:ext cx="731520" cy="27432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62" name="Rectangle 61"/>
              <p:cNvSpPr/>
              <p:nvPr/>
            </p:nvSpPr>
            <p:spPr>
              <a:xfrm flipH="1">
                <a:off x="28554490" y="16388363"/>
                <a:ext cx="731520" cy="2743200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25" name="TextBox 24"/>
            <p:cNvSpPr txBox="1"/>
            <p:nvPr/>
          </p:nvSpPr>
          <p:spPr>
            <a:xfrm flipH="1">
              <a:off x="11438631" y="1641372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26" name="Right Arrow 25"/>
            <p:cNvSpPr/>
            <p:nvPr/>
          </p:nvSpPr>
          <p:spPr>
            <a:xfrm>
              <a:off x="11666044" y="2431761"/>
              <a:ext cx="194187" cy="242316"/>
            </a:xfrm>
            <a:prstGeom prst="rightArrow">
              <a:avLst/>
            </a:prstGeom>
            <a:solidFill>
              <a:srgbClr val="00B0F0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7" name="Rectangle 26"/>
            <p:cNvSpPr/>
            <p:nvPr/>
          </p:nvSpPr>
          <p:spPr>
            <a:xfrm flipH="1">
              <a:off x="11897415" y="1867119"/>
              <a:ext cx="45720" cy="1371600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28" name="TextBox 27"/>
            <p:cNvSpPr txBox="1"/>
            <p:nvPr/>
          </p:nvSpPr>
          <p:spPr>
            <a:xfrm flipH="1">
              <a:off x="11836792" y="1641372"/>
              <a:ext cx="266420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2</a:t>
              </a:r>
            </a:p>
          </p:txBody>
        </p:sp>
        <p:sp>
          <p:nvSpPr>
            <p:cNvPr id="29" name="Right Arrow 28"/>
            <p:cNvSpPr/>
            <p:nvPr/>
          </p:nvSpPr>
          <p:spPr>
            <a:xfrm>
              <a:off x="5731095" y="2109957"/>
              <a:ext cx="5264543" cy="671762"/>
            </a:xfrm>
            <a:prstGeom prst="rightArrow">
              <a:avLst/>
            </a:prstGeom>
            <a:solidFill>
              <a:schemeClr val="accent3"/>
            </a:solidFill>
            <a:ln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grpSp>
          <p:nvGrpSpPr>
            <p:cNvPr id="30" name="Group 29"/>
            <p:cNvGrpSpPr/>
            <p:nvPr/>
          </p:nvGrpSpPr>
          <p:grpSpPr>
            <a:xfrm>
              <a:off x="11638008" y="3908003"/>
              <a:ext cx="3157418" cy="2236322"/>
              <a:chOff x="19111384" y="19891693"/>
              <a:chExt cx="6314836" cy="4472643"/>
            </a:xfrm>
          </p:grpSpPr>
          <p:sp>
            <p:nvSpPr>
              <p:cNvPr id="50" name="Right Arrow 49"/>
              <p:cNvSpPr/>
              <p:nvPr/>
            </p:nvSpPr>
            <p:spPr>
              <a:xfrm>
                <a:off x="19364127" y="20059290"/>
                <a:ext cx="1034989" cy="548595"/>
              </a:xfrm>
              <a:prstGeom prst="rightArrow">
                <a:avLst/>
              </a:prstGeom>
              <a:solidFill>
                <a:schemeClr val="accent3"/>
              </a:solidFill>
              <a:ln>
                <a:solidFill>
                  <a:schemeClr val="accent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1" name="Down Arrow 50"/>
              <p:cNvSpPr/>
              <p:nvPr/>
            </p:nvSpPr>
            <p:spPr>
              <a:xfrm flipV="1">
                <a:off x="19698940" y="20798442"/>
                <a:ext cx="409094" cy="780264"/>
              </a:xfrm>
              <a:prstGeom prst="downArrow">
                <a:avLst/>
              </a:prstGeom>
              <a:solidFill>
                <a:srgbClr val="00B050"/>
              </a:solidFill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2" name="Down Arrow 51"/>
              <p:cNvSpPr/>
              <p:nvPr/>
            </p:nvSpPr>
            <p:spPr>
              <a:xfrm>
                <a:off x="19698940" y="21761300"/>
                <a:ext cx="409094" cy="780264"/>
              </a:xfrm>
              <a:prstGeom prst="downArrow">
                <a:avLst/>
              </a:prstGeom>
              <a:solidFill>
                <a:srgbClr val="C0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3" name="Right Arrow 52"/>
              <p:cNvSpPr/>
              <p:nvPr/>
            </p:nvSpPr>
            <p:spPr>
              <a:xfrm>
                <a:off x="19491200" y="22609360"/>
                <a:ext cx="1003225" cy="592809"/>
              </a:xfrm>
              <a:prstGeom prst="rightArrow">
                <a:avLst/>
              </a:prstGeom>
              <a:solidFill>
                <a:srgbClr val="002060"/>
              </a:solidFill>
              <a:ln>
                <a:solidFill>
                  <a:srgbClr val="00206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4" name="Right Arrow 53"/>
              <p:cNvSpPr/>
              <p:nvPr/>
            </p:nvSpPr>
            <p:spPr>
              <a:xfrm>
                <a:off x="19518358" y="23436481"/>
                <a:ext cx="1003225" cy="592809"/>
              </a:xfrm>
              <a:prstGeom prst="rightArrow">
                <a:avLst/>
              </a:pr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  <p:sp>
            <p:nvSpPr>
              <p:cNvPr id="55" name="TextBox 54"/>
              <p:cNvSpPr txBox="1"/>
              <p:nvPr/>
            </p:nvSpPr>
            <p:spPr>
              <a:xfrm>
                <a:off x="20579984" y="19957909"/>
                <a:ext cx="332591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Concat</a:t>
                </a:r>
                <a:r>
                  <a:rPr lang="en-US" sz="2000" dirty="0"/>
                  <a:t> or Add</a:t>
                </a:r>
              </a:p>
            </p:txBody>
          </p:sp>
          <p:sp>
            <p:nvSpPr>
              <p:cNvPr id="56" name="TextBox 55"/>
              <p:cNvSpPr txBox="1"/>
              <p:nvPr/>
            </p:nvSpPr>
            <p:spPr>
              <a:xfrm>
                <a:off x="20673026" y="20843901"/>
                <a:ext cx="4400436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UpSampling</a:t>
                </a:r>
                <a:r>
                  <a:rPr lang="en-US" sz="2000" dirty="0"/>
                  <a:t> +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57" name="TextBox 56"/>
              <p:cNvSpPr txBox="1"/>
              <p:nvPr/>
            </p:nvSpPr>
            <p:spPr>
              <a:xfrm>
                <a:off x="20679924" y="21729895"/>
                <a:ext cx="3021852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 err="1"/>
                  <a:t>Strided</a:t>
                </a:r>
                <a:r>
                  <a:rPr lang="en-US" sz="2000" dirty="0"/>
                  <a:t> </a:t>
                </a:r>
                <a:r>
                  <a:rPr lang="en-US" sz="2000" dirty="0" err="1"/>
                  <a:t>Conv</a:t>
                </a:r>
                <a:endParaRPr lang="en-US" sz="2000" dirty="0"/>
              </a:p>
            </p:txBody>
          </p:sp>
          <p:sp>
            <p:nvSpPr>
              <p:cNvPr id="58" name="TextBox 57"/>
              <p:cNvSpPr txBox="1"/>
              <p:nvPr/>
            </p:nvSpPr>
            <p:spPr>
              <a:xfrm>
                <a:off x="20683772" y="22537092"/>
                <a:ext cx="399391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3x3x3, </a:t>
                </a:r>
                <a:r>
                  <a:rPr lang="en-US" sz="2000" dirty="0" err="1"/>
                  <a:t>ReLu</a:t>
                </a:r>
                <a:endParaRPr lang="en-US" sz="2000" dirty="0"/>
              </a:p>
            </p:txBody>
          </p:sp>
          <p:sp>
            <p:nvSpPr>
              <p:cNvPr id="59" name="TextBox 58"/>
              <p:cNvSpPr txBox="1"/>
              <p:nvPr/>
            </p:nvSpPr>
            <p:spPr>
              <a:xfrm>
                <a:off x="20685220" y="23378228"/>
                <a:ext cx="4658584" cy="800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Conv 1x1x1, </a:t>
                </a:r>
                <a:r>
                  <a:rPr lang="en-US" sz="2000" dirty="0" err="1"/>
                  <a:t>softmax</a:t>
                </a:r>
                <a:endParaRPr lang="en-US" sz="2000" dirty="0"/>
              </a:p>
            </p:txBody>
          </p:sp>
          <p:sp>
            <p:nvSpPr>
              <p:cNvPr id="60" name="Rectangle 59"/>
              <p:cNvSpPr/>
              <p:nvPr/>
            </p:nvSpPr>
            <p:spPr>
              <a:xfrm>
                <a:off x="19111384" y="19891693"/>
                <a:ext cx="6314836" cy="4472643"/>
              </a:xfrm>
              <a:prstGeom prst="rect">
                <a:avLst/>
              </a:prstGeom>
              <a:noFill/>
              <a:ln w="254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50"/>
              </a:p>
            </p:txBody>
          </p:sp>
        </p:grpSp>
        <p:sp>
          <p:nvSpPr>
            <p:cNvPr id="31" name="Down Arrow 30"/>
            <p:cNvSpPr/>
            <p:nvPr/>
          </p:nvSpPr>
          <p:spPr>
            <a:xfrm>
              <a:off x="6692722" y="5220633"/>
              <a:ext cx="204547" cy="390132"/>
            </a:xfrm>
            <a:prstGeom prst="downArrow">
              <a:avLst/>
            </a:prstGeom>
            <a:solidFill>
              <a:srgbClr val="C00000"/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357658" y="5657838"/>
              <a:ext cx="9144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33" name="Right Arrow 32"/>
            <p:cNvSpPr/>
            <p:nvPr/>
          </p:nvSpPr>
          <p:spPr>
            <a:xfrm>
              <a:off x="7358251" y="5708130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7901644" y="5657838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330922" y="606814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36" name="Right Arrow 35"/>
            <p:cNvSpPr/>
            <p:nvPr/>
          </p:nvSpPr>
          <p:spPr>
            <a:xfrm>
              <a:off x="9130837" y="5717022"/>
              <a:ext cx="457200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9674230" y="5649470"/>
              <a:ext cx="1143000" cy="3429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 dirty="0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099993" y="6035805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667877" y="3478587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32</a:t>
              </a:r>
            </a:p>
          </p:txBody>
        </p:sp>
        <p:sp>
          <p:nvSpPr>
            <p:cNvPr id="40" name="Right Arrow 39"/>
            <p:cNvSpPr/>
            <p:nvPr/>
          </p:nvSpPr>
          <p:spPr>
            <a:xfrm>
              <a:off x="6476626" y="4290687"/>
              <a:ext cx="194187" cy="242316"/>
            </a:xfrm>
            <a:prstGeom prst="rightArrow">
              <a:avLst/>
            </a:prstGeom>
            <a:solidFill>
              <a:srgbClr val="002060"/>
            </a:solidFill>
            <a:ln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6704589" y="3726045"/>
              <a:ext cx="182880" cy="13716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50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670856" y="6000738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43" name="TextBox 42"/>
            <p:cNvSpPr txBox="1"/>
            <p:nvPr/>
          </p:nvSpPr>
          <p:spPr>
            <a:xfrm flipH="1">
              <a:off x="10592308" y="5201873"/>
              <a:ext cx="348172" cy="28469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50" dirty="0"/>
                <a:t>64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3881426" y="2253477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0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881843" y="3951395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1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3881426" y="5649312"/>
              <a:ext cx="100309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dirty="0"/>
                <a:t>Layer 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7092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88036</TotalTime>
  <Words>589</Words>
  <Application>Microsoft Office PowerPoint</Application>
  <PresentationFormat>Custom</PresentationFormat>
  <Paragraphs>261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3DCIR 18</vt:lpstr>
      <vt:lpstr>3DCIR 3</vt:lpstr>
      <vt:lpstr>Quantitative Comparison of MDA</vt:lpstr>
      <vt:lpstr>PowerPoint Presentation</vt:lpstr>
      <vt:lpstr>PowerPoint Presentation</vt:lpstr>
      <vt:lpstr>Lits_100</vt:lpstr>
      <vt:lpstr>PowerPoint Presentation</vt:lpstr>
      <vt:lpstr>PowerPoint Presentation</vt:lpstr>
      <vt:lpstr>PowerPoint Presentation</vt:lpstr>
      <vt:lpstr>PowerPoint Presentation</vt:lpstr>
    </vt:vector>
  </TitlesOfParts>
  <Company>M. D. Anderson Cancer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Anderson,Brian M</dc:creator>
  <cp:lastModifiedBy>Anderson,Brian M</cp:lastModifiedBy>
  <cp:revision>80</cp:revision>
  <dcterms:created xsi:type="dcterms:W3CDTF">2020-07-27T21:45:52Z</dcterms:created>
  <dcterms:modified xsi:type="dcterms:W3CDTF">2020-11-11T14:17:07Z</dcterms:modified>
</cp:coreProperties>
</file>