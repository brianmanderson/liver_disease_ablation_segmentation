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60" r:id="rId4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216" y="-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8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7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4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8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8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5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0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8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6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8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380E-2143-4096-B547-DE8B390321C5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7313E-3D21-4FDB-97F5-80455362D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2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7899672" y="4571445"/>
            <a:ext cx="3364707" cy="1438275"/>
            <a:chOff x="1683067" y="2631599"/>
            <a:chExt cx="6729413" cy="2876550"/>
          </a:xfrm>
        </p:grpSpPr>
        <p:pic>
          <p:nvPicPr>
            <p:cNvPr id="8" name="Content Placeholder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3067" y="2631599"/>
              <a:ext cx="3476625" cy="28765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9070" y="2631599"/>
              <a:ext cx="2823410" cy="2870272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1021012" y="925876"/>
            <a:ext cx="3948045" cy="2222314"/>
            <a:chOff x="2042024" y="1851751"/>
            <a:chExt cx="7896089" cy="4444628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2024" y="1851751"/>
              <a:ext cx="3927702" cy="4442569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41473" y="1851751"/>
              <a:ext cx="3596640" cy="4444628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336164" y="7480301"/>
            <a:ext cx="5563508" cy="2208953"/>
            <a:chOff x="12678173" y="17056101"/>
            <a:chExt cx="11127016" cy="4417906"/>
          </a:xfrm>
        </p:grpSpPr>
        <p:sp>
          <p:nvSpPr>
            <p:cNvPr id="20" name="Rectangle 19"/>
            <p:cNvSpPr/>
            <p:nvPr/>
          </p:nvSpPr>
          <p:spPr>
            <a:xfrm>
              <a:off x="16358112" y="17170738"/>
              <a:ext cx="3294786" cy="42806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cxnSp>
          <p:nvCxnSpPr>
            <p:cNvPr id="21" name="Straight Arrow Connector 20"/>
            <p:cNvCxnSpPr>
              <a:stCxn id="31" idx="4"/>
            </p:cNvCxnSpPr>
            <p:nvPr/>
          </p:nvCxnSpPr>
          <p:spPr>
            <a:xfrm>
              <a:off x="17973650" y="21199687"/>
              <a:ext cx="0" cy="27432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16766169" y="18345134"/>
              <a:ext cx="2400300" cy="8071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6766168" y="19609514"/>
              <a:ext cx="2400300" cy="8071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cxnSp>
          <p:nvCxnSpPr>
            <p:cNvPr id="24" name="Straight Arrow Connector 23"/>
            <p:cNvCxnSpPr>
              <a:stCxn id="22" idx="2"/>
              <a:endCxn id="23" idx="0"/>
            </p:cNvCxnSpPr>
            <p:nvPr/>
          </p:nvCxnSpPr>
          <p:spPr>
            <a:xfrm flipH="1">
              <a:off x="17966318" y="19152314"/>
              <a:ext cx="1" cy="45719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22" idx="0"/>
            </p:cNvCxnSpPr>
            <p:nvPr/>
          </p:nvCxnSpPr>
          <p:spPr>
            <a:xfrm>
              <a:off x="17966319" y="18017948"/>
              <a:ext cx="0" cy="327186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3" idx="2"/>
              <a:endCxn id="31" idx="0"/>
            </p:cNvCxnSpPr>
            <p:nvPr/>
          </p:nvCxnSpPr>
          <p:spPr>
            <a:xfrm>
              <a:off x="17966318" y="20416693"/>
              <a:ext cx="7332" cy="325794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134793" y="19152315"/>
              <a:ext cx="827792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50" dirty="0"/>
                <a:t>activation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262377" y="21072085"/>
              <a:ext cx="827792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50" dirty="0"/>
                <a:t>activation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660787" y="17622119"/>
              <a:ext cx="58092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" dirty="0"/>
                <a:t>64-d</a:t>
              </a:r>
            </a:p>
          </p:txBody>
        </p:sp>
        <p:sp>
          <p:nvSpPr>
            <p:cNvPr id="30" name="Curved Up Arrow 29"/>
            <p:cNvSpPr/>
            <p:nvPr/>
          </p:nvSpPr>
          <p:spPr>
            <a:xfrm rot="16200000" flipH="1">
              <a:off x="17218595" y="18825687"/>
              <a:ext cx="3354040" cy="1248320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17745050" y="20742487"/>
              <a:ext cx="457200" cy="4572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+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350091" y="17056101"/>
              <a:ext cx="141551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Residual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678173" y="17159726"/>
              <a:ext cx="3294786" cy="42337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3086230" y="18321258"/>
              <a:ext cx="2400300" cy="7983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086230" y="19887146"/>
              <a:ext cx="2400300" cy="7983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cxnSp>
          <p:nvCxnSpPr>
            <p:cNvPr id="36" name="Straight Arrow Connector 35"/>
            <p:cNvCxnSpPr>
              <a:stCxn id="34" idx="2"/>
              <a:endCxn id="35" idx="0"/>
            </p:cNvCxnSpPr>
            <p:nvPr/>
          </p:nvCxnSpPr>
          <p:spPr>
            <a:xfrm>
              <a:off x="14286380" y="19119597"/>
              <a:ext cx="0" cy="76754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endCxn id="34" idx="0"/>
            </p:cNvCxnSpPr>
            <p:nvPr/>
          </p:nvCxnSpPr>
          <p:spPr>
            <a:xfrm>
              <a:off x="14286380" y="17997656"/>
              <a:ext cx="0" cy="32360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35" idx="2"/>
            </p:cNvCxnSpPr>
            <p:nvPr/>
          </p:nvCxnSpPr>
          <p:spPr>
            <a:xfrm flipH="1">
              <a:off x="14286379" y="20685486"/>
              <a:ext cx="1" cy="70482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4439521" y="19178695"/>
              <a:ext cx="827792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50" dirty="0"/>
                <a:t>activation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561051" y="20786421"/>
              <a:ext cx="827792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50" dirty="0"/>
                <a:t>activation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980847" y="17606163"/>
              <a:ext cx="58092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" dirty="0"/>
                <a:t>64-d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743869" y="17095829"/>
              <a:ext cx="135447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‘Vanilla’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950271" y="17174433"/>
              <a:ext cx="3854918" cy="42705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cxnSp>
          <p:nvCxnSpPr>
            <p:cNvPr id="44" name="Straight Arrow Connector 43"/>
            <p:cNvCxnSpPr>
              <a:endCxn id="47" idx="0"/>
            </p:cNvCxnSpPr>
            <p:nvPr/>
          </p:nvCxnSpPr>
          <p:spPr>
            <a:xfrm>
              <a:off x="21442782" y="18306587"/>
              <a:ext cx="0" cy="50156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rved Up Arrow 44"/>
            <p:cNvSpPr/>
            <p:nvPr/>
          </p:nvSpPr>
          <p:spPr>
            <a:xfrm rot="16200000" flipH="1">
              <a:off x="21958254" y="17957082"/>
              <a:ext cx="1309592" cy="891829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0718429" y="19382658"/>
              <a:ext cx="1448706" cy="2682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0718429" y="18808156"/>
              <a:ext cx="1448706" cy="268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 err="1"/>
                <a:t>Concat</a:t>
              </a:r>
              <a:endParaRPr lang="en-US" sz="450" dirty="0"/>
            </a:p>
          </p:txBody>
        </p:sp>
        <p:cxnSp>
          <p:nvCxnSpPr>
            <p:cNvPr id="48" name="Straight Arrow Connector 47"/>
            <p:cNvCxnSpPr>
              <a:stCxn id="47" idx="2"/>
              <a:endCxn id="46" idx="0"/>
            </p:cNvCxnSpPr>
            <p:nvPr/>
          </p:nvCxnSpPr>
          <p:spPr>
            <a:xfrm>
              <a:off x="21442782" y="19076430"/>
              <a:ext cx="0" cy="306228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50" idx="2"/>
              <a:endCxn id="51" idx="0"/>
            </p:cNvCxnSpPr>
            <p:nvPr/>
          </p:nvCxnSpPr>
          <p:spPr>
            <a:xfrm>
              <a:off x="21427299" y="17927428"/>
              <a:ext cx="0" cy="306227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>
              <a:off x="20702946" y="17659154"/>
              <a:ext cx="1448706" cy="2682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0702946" y="18233655"/>
              <a:ext cx="1448706" cy="2682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sp>
          <p:nvSpPr>
            <p:cNvPr id="52" name="Curved Up Arrow 51"/>
            <p:cNvSpPr/>
            <p:nvPr/>
          </p:nvSpPr>
          <p:spPr>
            <a:xfrm rot="16200000" flipH="1">
              <a:off x="21795027" y="18697967"/>
              <a:ext cx="1806657" cy="1093403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Arrow Connector 52"/>
            <p:cNvCxnSpPr>
              <a:stCxn id="46" idx="2"/>
              <a:endCxn id="54" idx="0"/>
            </p:cNvCxnSpPr>
            <p:nvPr/>
          </p:nvCxnSpPr>
          <p:spPr>
            <a:xfrm>
              <a:off x="21442782" y="19650932"/>
              <a:ext cx="0" cy="30088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20718429" y="19951821"/>
              <a:ext cx="1448706" cy="268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 err="1"/>
                <a:t>Concat</a:t>
              </a:r>
              <a:endParaRPr lang="en-US" sz="450" dirty="0"/>
            </a:p>
          </p:txBody>
        </p:sp>
        <p:sp>
          <p:nvSpPr>
            <p:cNvPr id="55" name="Curved Up Arrow 54"/>
            <p:cNvSpPr/>
            <p:nvPr/>
          </p:nvSpPr>
          <p:spPr>
            <a:xfrm rot="16200000" flipH="1">
              <a:off x="21506987" y="18409930"/>
              <a:ext cx="2390480" cy="1085660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0718429" y="20512868"/>
              <a:ext cx="1448706" cy="2682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/>
                <a:t>Convolution</a:t>
              </a:r>
            </a:p>
          </p:txBody>
        </p:sp>
        <p:cxnSp>
          <p:nvCxnSpPr>
            <p:cNvPr id="57" name="Straight Arrow Connector 56"/>
            <p:cNvCxnSpPr>
              <a:stCxn id="56" idx="2"/>
              <a:endCxn id="58" idx="0"/>
            </p:cNvCxnSpPr>
            <p:nvPr/>
          </p:nvCxnSpPr>
          <p:spPr>
            <a:xfrm>
              <a:off x="21442782" y="20781142"/>
              <a:ext cx="0" cy="30088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20718429" y="21082031"/>
              <a:ext cx="1448706" cy="268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50" dirty="0" err="1"/>
                <a:t>Concat</a:t>
              </a:r>
              <a:endParaRPr lang="en-US" sz="450" dirty="0"/>
            </a:p>
          </p:txBody>
        </p:sp>
        <p:cxnSp>
          <p:nvCxnSpPr>
            <p:cNvPr id="59" name="Straight Arrow Connector 58"/>
            <p:cNvCxnSpPr>
              <a:stCxn id="54" idx="2"/>
              <a:endCxn id="56" idx="0"/>
            </p:cNvCxnSpPr>
            <p:nvPr/>
          </p:nvCxnSpPr>
          <p:spPr>
            <a:xfrm>
              <a:off x="21442782" y="20220095"/>
              <a:ext cx="0" cy="292773"/>
            </a:xfrm>
            <a:prstGeom prst="straightConnector1">
              <a:avLst/>
            </a:prstGeom>
            <a:ln w="508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rved Up Arrow 59"/>
            <p:cNvSpPr/>
            <p:nvPr/>
          </p:nvSpPr>
          <p:spPr>
            <a:xfrm rot="16200000" flipH="1">
              <a:off x="21255689" y="19246636"/>
              <a:ext cx="3008964" cy="1198373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61" name="Curved Up Arrow 60"/>
            <p:cNvSpPr/>
            <p:nvPr/>
          </p:nvSpPr>
          <p:spPr>
            <a:xfrm rot="16200000" flipH="1">
              <a:off x="21106326" y="18799469"/>
              <a:ext cx="3604554" cy="1497118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62" name="Curved Up Arrow 61"/>
            <p:cNvSpPr/>
            <p:nvPr/>
          </p:nvSpPr>
          <p:spPr>
            <a:xfrm rot="16200000" flipH="1">
              <a:off x="21972418" y="19665559"/>
              <a:ext cx="1856244" cy="1513251"/>
            </a:xfrm>
            <a:prstGeom prst="curvedUpArrow">
              <a:avLst>
                <a:gd name="adj1" fmla="val 7684"/>
                <a:gd name="adj2" fmla="val 19964"/>
                <a:gd name="adj3" fmla="val 22348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0807819" y="17184995"/>
              <a:ext cx="114839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Dense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0097417" y="17938505"/>
              <a:ext cx="1408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/>
                <a:t>BN, Activation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135165" y="19075657"/>
              <a:ext cx="1408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/>
                <a:t>BN, Activation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0137583" y="20195149"/>
              <a:ext cx="1408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/>
                <a:t>BN, Activation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35843" y="4305958"/>
            <a:ext cx="3513248" cy="2068388"/>
            <a:chOff x="1271685" y="8611915"/>
            <a:chExt cx="7026495" cy="4136775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1685" y="8613697"/>
              <a:ext cx="3400643" cy="4131152"/>
            </a:xfrm>
            <a:prstGeom prst="rect">
              <a:avLst/>
            </a:prstGeom>
          </p:spPr>
        </p:pic>
        <p:pic>
          <p:nvPicPr>
            <p:cNvPr id="87" name="Picture 86"/>
            <p:cNvPicPr>
              <a:picLocks/>
            </p:cNvPicPr>
            <p:nvPr/>
          </p:nvPicPr>
          <p:blipFill rotWithShape="1">
            <a:blip r:embed="rId7"/>
            <a:srcRect l="9604" r="14434"/>
            <a:stretch/>
          </p:blipFill>
          <p:spPr>
            <a:xfrm>
              <a:off x="7018020" y="8611915"/>
              <a:ext cx="1280160" cy="1280160"/>
            </a:xfrm>
            <a:prstGeom prst="rect">
              <a:avLst/>
            </a:prstGeom>
          </p:spPr>
        </p:pic>
        <p:pic>
          <p:nvPicPr>
            <p:cNvPr id="88" name="Picture 87"/>
            <p:cNvPicPr>
              <a:picLocks/>
            </p:cNvPicPr>
            <p:nvPr/>
          </p:nvPicPr>
          <p:blipFill rotWithShape="1">
            <a:blip r:embed="rId8"/>
            <a:srcRect l="3316" r="4289"/>
            <a:stretch/>
          </p:blipFill>
          <p:spPr>
            <a:xfrm>
              <a:off x="7018020" y="10040223"/>
              <a:ext cx="1280160" cy="1280160"/>
            </a:xfrm>
            <a:prstGeom prst="rect">
              <a:avLst/>
            </a:prstGeom>
          </p:spPr>
        </p:pic>
        <p:pic>
          <p:nvPicPr>
            <p:cNvPr id="92" name="Content Placeholder 9"/>
            <p:cNvPicPr>
              <a:picLocks/>
            </p:cNvPicPr>
            <p:nvPr/>
          </p:nvPicPr>
          <p:blipFill rotWithShape="1">
            <a:blip r:embed="rId9"/>
            <a:srcRect l="2612" r="2040"/>
            <a:stretch/>
          </p:blipFill>
          <p:spPr>
            <a:xfrm>
              <a:off x="7018020" y="11468530"/>
              <a:ext cx="1280160" cy="1280160"/>
            </a:xfrm>
            <a:prstGeom prst="rect">
              <a:avLst/>
            </a:prstGeom>
          </p:spPr>
        </p:pic>
        <p:sp>
          <p:nvSpPr>
            <p:cNvPr id="93" name="Right Arrow 92"/>
            <p:cNvSpPr/>
            <p:nvPr/>
          </p:nvSpPr>
          <p:spPr>
            <a:xfrm>
              <a:off x="4976111" y="10210177"/>
              <a:ext cx="1691640" cy="8316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725960" y="10511367"/>
            <a:ext cx="7540713" cy="8185153"/>
            <a:chOff x="7451919" y="21022733"/>
            <a:chExt cx="15081425" cy="1637030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10"/>
            <a:srcRect l="1052" r="449"/>
            <a:stretch/>
          </p:blipFill>
          <p:spPr>
            <a:xfrm>
              <a:off x="7451919" y="29239639"/>
              <a:ext cx="15076838" cy="81534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521944" y="21022733"/>
              <a:ext cx="15011400" cy="8143875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441" y="9342821"/>
            <a:ext cx="2926086" cy="2194565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10558526" y="7278685"/>
            <a:ext cx="2926086" cy="2194565"/>
            <a:chOff x="21117052" y="14557370"/>
            <a:chExt cx="5852172" cy="4389129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17052" y="14557370"/>
              <a:ext cx="5852172" cy="4389129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/>
          </p:nvCxnSpPr>
          <p:spPr>
            <a:xfrm flipH="1">
              <a:off x="22821900" y="15977627"/>
              <a:ext cx="0" cy="24688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24866600" y="16007040"/>
              <a:ext cx="0" cy="246888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22459830" y="15551160"/>
              <a:ext cx="693140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" dirty="0"/>
                <a:t>Min LR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4433886" y="15551160"/>
              <a:ext cx="71237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" dirty="0">
                  <a:solidFill>
                    <a:srgbClr val="FF0000"/>
                  </a:solidFill>
                </a:rPr>
                <a:t>Max LR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193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45" name="Group 244"/>
          <p:cNvGrpSpPr/>
          <p:nvPr/>
        </p:nvGrpSpPr>
        <p:grpSpPr>
          <a:xfrm>
            <a:off x="2105877" y="6019963"/>
            <a:ext cx="10914000" cy="5334280"/>
            <a:chOff x="4211754" y="12039925"/>
            <a:chExt cx="21827999" cy="10668559"/>
          </a:xfrm>
        </p:grpSpPr>
        <p:sp>
          <p:nvSpPr>
            <p:cNvPr id="7" name="Rectangle 6"/>
            <p:cNvSpPr/>
            <p:nvPr/>
          </p:nvSpPr>
          <p:spPr>
            <a:xfrm>
              <a:off x="6589458" y="12975053"/>
              <a:ext cx="1165422" cy="3461047"/>
            </a:xfrm>
            <a:prstGeom prst="rect">
              <a:avLst/>
            </a:prstGeom>
            <a:noFill/>
            <a:ln w="1397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45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008242" y="16973499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32</a:t>
              </a:r>
              <a:endParaRPr lang="en-US" sz="1250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898714" y="16973499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32</a:t>
              </a:r>
              <a:endParaRPr lang="en-US" sz="1250" dirty="0"/>
            </a:p>
          </p:txBody>
        </p:sp>
        <p:grpSp>
          <p:nvGrpSpPr>
            <p:cNvPr id="130" name="Group 129"/>
            <p:cNvGrpSpPr/>
            <p:nvPr/>
          </p:nvGrpSpPr>
          <p:grpSpPr>
            <a:xfrm>
              <a:off x="6168521" y="13032076"/>
              <a:ext cx="1746101" cy="4184289"/>
              <a:chOff x="18350689" y="8312592"/>
              <a:chExt cx="1746101" cy="4184289"/>
            </a:xfrm>
          </p:grpSpPr>
          <p:sp>
            <p:nvSpPr>
              <p:cNvPr id="219" name="Down Arrow 218"/>
              <p:cNvSpPr/>
              <p:nvPr/>
            </p:nvSpPr>
            <p:spPr>
              <a:xfrm>
                <a:off x="19472222" y="11716617"/>
                <a:ext cx="409094" cy="780264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18997888" y="8804590"/>
                <a:ext cx="18288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18350689" y="8312592"/>
                <a:ext cx="532840" cy="569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50" dirty="0"/>
                  <a:t>3</a:t>
                </a:r>
                <a:endParaRPr lang="en-US" sz="1250" dirty="0"/>
              </a:p>
            </p:txBody>
          </p:sp>
          <p:sp>
            <p:nvSpPr>
              <p:cNvPr id="223" name="TextBox 222"/>
              <p:cNvSpPr txBox="1"/>
              <p:nvPr/>
            </p:nvSpPr>
            <p:spPr>
              <a:xfrm>
                <a:off x="18835093" y="8312592"/>
                <a:ext cx="696344" cy="569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50" dirty="0"/>
                  <a:t>16</a:t>
                </a:r>
                <a:endParaRPr lang="en-US" sz="1250" dirty="0"/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19400446" y="8312592"/>
                <a:ext cx="696344" cy="569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50" dirty="0"/>
                  <a:t>16</a:t>
                </a:r>
                <a:endParaRPr lang="en-US" sz="1250" dirty="0"/>
              </a:p>
            </p:txBody>
          </p:sp>
          <p:sp>
            <p:nvSpPr>
              <p:cNvPr id="225" name="Right Arrow 224"/>
              <p:cNvSpPr/>
              <p:nvPr/>
            </p:nvSpPr>
            <p:spPr>
              <a:xfrm>
                <a:off x="18612464" y="9933874"/>
                <a:ext cx="388374" cy="484632"/>
              </a:xfrm>
              <a:prstGeom prst="righ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26" name="Right Arrow 225"/>
              <p:cNvSpPr/>
              <p:nvPr/>
            </p:nvSpPr>
            <p:spPr>
              <a:xfrm>
                <a:off x="19177818" y="9933874"/>
                <a:ext cx="388374" cy="484632"/>
              </a:xfrm>
              <a:prstGeom prst="righ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19563243" y="8804590"/>
                <a:ext cx="18288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28" name="Rectangle 227"/>
              <p:cNvSpPr/>
              <p:nvPr/>
            </p:nvSpPr>
            <p:spPr>
              <a:xfrm>
                <a:off x="18432534" y="8804590"/>
                <a:ext cx="18288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</p:grpSp>
        <p:sp>
          <p:nvSpPr>
            <p:cNvPr id="132" name="Right Arrow 131"/>
            <p:cNvSpPr/>
            <p:nvPr/>
          </p:nvSpPr>
          <p:spPr>
            <a:xfrm>
              <a:off x="7623670" y="18588515"/>
              <a:ext cx="388374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33" name="Right Arrow 132"/>
            <p:cNvSpPr/>
            <p:nvPr/>
          </p:nvSpPr>
          <p:spPr>
            <a:xfrm>
              <a:off x="8512912" y="18588515"/>
              <a:ext cx="388374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7373236" y="17459231"/>
              <a:ext cx="18288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8079598" y="17459231"/>
              <a:ext cx="36576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8968839" y="17459231"/>
              <a:ext cx="36576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53" name="Down Arrow 152"/>
            <p:cNvSpPr/>
            <p:nvPr/>
          </p:nvSpPr>
          <p:spPr>
            <a:xfrm flipV="1">
              <a:off x="16770017" y="20444069"/>
              <a:ext cx="409094" cy="780264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55" name="TextBox 154"/>
            <p:cNvSpPr txBox="1"/>
            <p:nvPr/>
          </p:nvSpPr>
          <p:spPr>
            <a:xfrm flipH="1">
              <a:off x="18566429" y="20403616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64</a:t>
              </a:r>
              <a:endParaRPr lang="en-US" sz="1250" dirty="0"/>
            </a:p>
          </p:txBody>
        </p:sp>
        <p:sp>
          <p:nvSpPr>
            <p:cNvPr id="159" name="Rectangle 158"/>
            <p:cNvSpPr/>
            <p:nvPr/>
          </p:nvSpPr>
          <p:spPr>
            <a:xfrm flipH="1">
              <a:off x="18641485" y="17569555"/>
              <a:ext cx="36576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60" name="Rectangle 159"/>
            <p:cNvSpPr/>
            <p:nvPr/>
          </p:nvSpPr>
          <p:spPr>
            <a:xfrm flipH="1">
              <a:off x="17708890" y="17569555"/>
              <a:ext cx="36576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grpSp>
          <p:nvGrpSpPr>
            <p:cNvPr id="161" name="Group 160"/>
            <p:cNvGrpSpPr/>
            <p:nvPr/>
          </p:nvGrpSpPr>
          <p:grpSpPr>
            <a:xfrm>
              <a:off x="16425841" y="17569555"/>
              <a:ext cx="731520" cy="2743200"/>
              <a:chOff x="28554490" y="16388363"/>
              <a:chExt cx="1463709" cy="2743200"/>
            </a:xfrm>
          </p:grpSpPr>
          <p:sp>
            <p:nvSpPr>
              <p:cNvPr id="211" name="Rectangle 210"/>
              <p:cNvSpPr/>
              <p:nvPr/>
            </p:nvSpPr>
            <p:spPr>
              <a:xfrm flipH="1">
                <a:off x="29286679" y="16388363"/>
                <a:ext cx="73152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12" name="Rectangle 211"/>
              <p:cNvSpPr/>
              <p:nvPr/>
            </p:nvSpPr>
            <p:spPr>
              <a:xfrm flipH="1">
                <a:off x="28554490" y="16388363"/>
                <a:ext cx="731520" cy="27432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</p:grpSp>
        <p:sp>
          <p:nvSpPr>
            <p:cNvPr id="162" name="Right Arrow 161"/>
            <p:cNvSpPr/>
            <p:nvPr/>
          </p:nvSpPr>
          <p:spPr>
            <a:xfrm>
              <a:off x="10291393" y="18171046"/>
              <a:ext cx="6030280" cy="1179420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64" name="Down Arrow 163"/>
            <p:cNvSpPr/>
            <p:nvPr/>
          </p:nvSpPr>
          <p:spPr>
            <a:xfrm flipV="1">
              <a:off x="18598151" y="16732172"/>
              <a:ext cx="409094" cy="780264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65" name="TextBox 164"/>
            <p:cNvSpPr txBox="1"/>
            <p:nvPr/>
          </p:nvSpPr>
          <p:spPr>
            <a:xfrm flipH="1">
              <a:off x="18598151" y="13285547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32</a:t>
              </a:r>
              <a:endParaRPr lang="en-US" sz="1250" dirty="0"/>
            </a:p>
          </p:txBody>
        </p:sp>
        <p:sp>
          <p:nvSpPr>
            <p:cNvPr id="167" name="Right Arrow 166"/>
            <p:cNvSpPr/>
            <p:nvPr/>
          </p:nvSpPr>
          <p:spPr>
            <a:xfrm>
              <a:off x="19048936" y="14866325"/>
              <a:ext cx="388374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70" name="Rectangle 169"/>
            <p:cNvSpPr/>
            <p:nvPr/>
          </p:nvSpPr>
          <p:spPr>
            <a:xfrm flipH="1">
              <a:off x="19511678" y="13737041"/>
              <a:ext cx="18288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grpSp>
          <p:nvGrpSpPr>
            <p:cNvPr id="171" name="Group 170"/>
            <p:cNvGrpSpPr/>
            <p:nvPr/>
          </p:nvGrpSpPr>
          <p:grpSpPr>
            <a:xfrm>
              <a:off x="18608808" y="13737041"/>
              <a:ext cx="365760" cy="2743200"/>
              <a:chOff x="28554490" y="16388363"/>
              <a:chExt cx="1463709" cy="2743200"/>
            </a:xfrm>
          </p:grpSpPr>
          <p:sp>
            <p:nvSpPr>
              <p:cNvPr id="209" name="Rectangle 208"/>
              <p:cNvSpPr/>
              <p:nvPr/>
            </p:nvSpPr>
            <p:spPr>
              <a:xfrm flipH="1">
                <a:off x="29286679" y="16388363"/>
                <a:ext cx="73152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10" name="Rectangle 209"/>
              <p:cNvSpPr/>
              <p:nvPr/>
            </p:nvSpPr>
            <p:spPr>
              <a:xfrm flipH="1">
                <a:off x="28554490" y="16388363"/>
                <a:ext cx="731520" cy="27432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</p:grpSp>
        <p:sp>
          <p:nvSpPr>
            <p:cNvPr id="172" name="TextBox 171"/>
            <p:cNvSpPr txBox="1"/>
            <p:nvPr/>
          </p:nvSpPr>
          <p:spPr>
            <a:xfrm flipH="1">
              <a:off x="19326163" y="13285547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32</a:t>
              </a:r>
              <a:endParaRPr lang="en-US" sz="1250" dirty="0"/>
            </a:p>
          </p:txBody>
        </p:sp>
        <p:sp>
          <p:nvSpPr>
            <p:cNvPr id="174" name="Right Arrow 173"/>
            <p:cNvSpPr/>
            <p:nvPr/>
          </p:nvSpPr>
          <p:spPr>
            <a:xfrm>
              <a:off x="19780990" y="14866325"/>
              <a:ext cx="388374" cy="484632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75" name="Rectangle 174"/>
            <p:cNvSpPr/>
            <p:nvPr/>
          </p:nvSpPr>
          <p:spPr>
            <a:xfrm flipH="1">
              <a:off x="20243731" y="13737041"/>
              <a:ext cx="91440" cy="27432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76" name="TextBox 175"/>
            <p:cNvSpPr txBox="1"/>
            <p:nvPr/>
          </p:nvSpPr>
          <p:spPr>
            <a:xfrm flipH="1">
              <a:off x="20122485" y="13285547"/>
              <a:ext cx="532840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2</a:t>
              </a:r>
            </a:p>
          </p:txBody>
        </p:sp>
        <p:sp>
          <p:nvSpPr>
            <p:cNvPr id="177" name="Right Arrow 176"/>
            <p:cNvSpPr/>
            <p:nvPr/>
          </p:nvSpPr>
          <p:spPr>
            <a:xfrm>
              <a:off x="7911092" y="14222716"/>
              <a:ext cx="10529085" cy="1343524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grpSp>
          <p:nvGrpSpPr>
            <p:cNvPr id="178" name="Group 177"/>
            <p:cNvGrpSpPr/>
            <p:nvPr/>
          </p:nvGrpSpPr>
          <p:grpSpPr>
            <a:xfrm>
              <a:off x="19724917" y="17818808"/>
              <a:ext cx="6314836" cy="4472643"/>
              <a:chOff x="19111384" y="19891693"/>
              <a:chExt cx="6314836" cy="4472643"/>
            </a:xfrm>
          </p:grpSpPr>
          <p:sp>
            <p:nvSpPr>
              <p:cNvPr id="198" name="Right Arrow 197"/>
              <p:cNvSpPr/>
              <p:nvPr/>
            </p:nvSpPr>
            <p:spPr>
              <a:xfrm>
                <a:off x="19364127" y="20059290"/>
                <a:ext cx="1034989" cy="548595"/>
              </a:xfrm>
              <a:prstGeom prst="rightArrow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199" name="Down Arrow 198"/>
              <p:cNvSpPr/>
              <p:nvPr/>
            </p:nvSpPr>
            <p:spPr>
              <a:xfrm flipV="1">
                <a:off x="19698940" y="20798442"/>
                <a:ext cx="409094" cy="780264"/>
              </a:xfrm>
              <a:prstGeom prst="down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00" name="Down Arrow 199"/>
              <p:cNvSpPr/>
              <p:nvPr/>
            </p:nvSpPr>
            <p:spPr>
              <a:xfrm>
                <a:off x="19698940" y="21761300"/>
                <a:ext cx="409094" cy="780264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01" name="Right Arrow 200"/>
              <p:cNvSpPr/>
              <p:nvPr/>
            </p:nvSpPr>
            <p:spPr>
              <a:xfrm>
                <a:off x="19491200" y="22609360"/>
                <a:ext cx="1003225" cy="592809"/>
              </a:xfrm>
              <a:prstGeom prst="righ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02" name="Right Arrow 201"/>
              <p:cNvSpPr/>
              <p:nvPr/>
            </p:nvSpPr>
            <p:spPr>
              <a:xfrm>
                <a:off x="19518358" y="23436481"/>
                <a:ext cx="1003225" cy="592809"/>
              </a:xfrm>
              <a:prstGeom prst="rightArrow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20579984" y="19957909"/>
                <a:ext cx="3325912" cy="800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/>
                  <a:t>Concat</a:t>
                </a:r>
                <a:r>
                  <a:rPr lang="en-US" sz="2000" dirty="0"/>
                  <a:t> or Add</a:t>
                </a:r>
                <a:endParaRPr lang="en-US" sz="2000" dirty="0"/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20673026" y="20843901"/>
                <a:ext cx="4400436" cy="800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/>
                  <a:t>UpSampling</a:t>
                </a:r>
                <a:r>
                  <a:rPr lang="en-US" sz="2000" dirty="0"/>
                  <a:t> + </a:t>
                </a:r>
                <a:r>
                  <a:rPr lang="en-US" sz="2000" dirty="0" err="1"/>
                  <a:t>Conv</a:t>
                </a:r>
                <a:endParaRPr lang="en-US" sz="2000" dirty="0"/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20679924" y="21729895"/>
                <a:ext cx="3021852" cy="800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/>
                  <a:t>Strided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Conv</a:t>
                </a:r>
                <a:endParaRPr lang="en-US" sz="2000" dirty="0"/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20683772" y="22537092"/>
                <a:ext cx="3993914" cy="800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Conv 3x3x3, </a:t>
                </a:r>
                <a:r>
                  <a:rPr lang="en-US" sz="2000" dirty="0" err="1"/>
                  <a:t>ReLu</a:t>
                </a:r>
                <a:endParaRPr lang="en-US" sz="2000" dirty="0"/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20685220" y="23378228"/>
                <a:ext cx="4658584" cy="800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Conv 1x1x1, </a:t>
                </a:r>
                <a:r>
                  <a:rPr lang="en-US" sz="2000" dirty="0" err="1"/>
                  <a:t>softmax</a:t>
                </a:r>
                <a:endParaRPr lang="en-US" sz="2000" dirty="0"/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19111384" y="19891693"/>
                <a:ext cx="6314836" cy="44726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"/>
              </a:p>
            </p:txBody>
          </p:sp>
        </p:grpSp>
        <p:sp>
          <p:nvSpPr>
            <p:cNvPr id="179" name="Down Arrow 178"/>
            <p:cNvSpPr/>
            <p:nvPr/>
          </p:nvSpPr>
          <p:spPr>
            <a:xfrm>
              <a:off x="9834345" y="20444069"/>
              <a:ext cx="409094" cy="780264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9164218" y="21318478"/>
              <a:ext cx="1828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dirty="0"/>
            </a:p>
          </p:txBody>
        </p:sp>
        <p:sp>
          <p:nvSpPr>
            <p:cNvPr id="182" name="Right Arrow 181"/>
            <p:cNvSpPr/>
            <p:nvPr/>
          </p:nvSpPr>
          <p:spPr>
            <a:xfrm>
              <a:off x="11165404" y="21419062"/>
              <a:ext cx="914400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12252190" y="21318478"/>
              <a:ext cx="22860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dirty="0"/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13110746" y="22139098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64</a:t>
              </a:r>
              <a:endParaRPr lang="en-US" sz="1250" dirty="0"/>
            </a:p>
          </p:txBody>
        </p:sp>
        <p:sp>
          <p:nvSpPr>
            <p:cNvPr id="187" name="Right Arrow 186"/>
            <p:cNvSpPr/>
            <p:nvPr/>
          </p:nvSpPr>
          <p:spPr>
            <a:xfrm>
              <a:off x="14710576" y="21436847"/>
              <a:ext cx="914400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5797362" y="21301743"/>
              <a:ext cx="22860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dirty="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6648887" y="22074412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64</a:t>
              </a:r>
              <a:endParaRPr lang="en-US" sz="1250" dirty="0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9784656" y="16959977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32</a:t>
              </a:r>
              <a:endParaRPr lang="en-US" sz="1250" dirty="0"/>
            </a:p>
          </p:txBody>
        </p:sp>
        <p:sp>
          <p:nvSpPr>
            <p:cNvPr id="232" name="Right Arrow 231"/>
            <p:cNvSpPr/>
            <p:nvPr/>
          </p:nvSpPr>
          <p:spPr>
            <a:xfrm>
              <a:off x="9402153" y="18584176"/>
              <a:ext cx="388374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9858080" y="17454892"/>
              <a:ext cx="36576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790614" y="22004278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64</a:t>
              </a:r>
              <a:endParaRPr lang="en-US" sz="1250" dirty="0"/>
            </a:p>
          </p:txBody>
        </p:sp>
        <p:sp>
          <p:nvSpPr>
            <p:cNvPr id="6" name="Down Arrow 5"/>
            <p:cNvSpPr/>
            <p:nvPr/>
          </p:nvSpPr>
          <p:spPr>
            <a:xfrm rot="4733698">
              <a:off x="12612654" y="7895566"/>
              <a:ext cx="2125169" cy="10413888"/>
            </a:xfrm>
            <a:prstGeom prst="downArrow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700" dirty="0"/>
                <a:t># of Convolution Blocks</a:t>
              </a:r>
            </a:p>
          </p:txBody>
        </p:sp>
        <p:sp>
          <p:nvSpPr>
            <p:cNvPr id="239" name="TextBox 238"/>
            <p:cNvSpPr txBox="1"/>
            <p:nvPr/>
          </p:nvSpPr>
          <p:spPr>
            <a:xfrm flipH="1">
              <a:off x="17633517" y="20406548"/>
              <a:ext cx="696344" cy="569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50" dirty="0"/>
                <a:t>64</a:t>
              </a:r>
              <a:endParaRPr lang="en-US" sz="1250" dirty="0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4211754" y="14509757"/>
              <a:ext cx="200619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Layer 0</a:t>
              </a:r>
              <a:endParaRPr lang="en-US" sz="2200" dirty="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212588" y="17905592"/>
              <a:ext cx="200619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Layer 1</a:t>
              </a:r>
              <a:endParaRPr lang="en-US" sz="2200" dirty="0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211754" y="21301426"/>
              <a:ext cx="200619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Layer 2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082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8" name="Right Arrow 67"/>
          <p:cNvSpPr/>
          <p:nvPr/>
        </p:nvSpPr>
        <p:spPr>
          <a:xfrm>
            <a:off x="4297764" y="8601904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71" name="Rectangle 70"/>
          <p:cNvSpPr/>
          <p:nvPr/>
        </p:nvSpPr>
        <p:spPr>
          <a:xfrm>
            <a:off x="4065645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9" name="Down Arrow 48"/>
          <p:cNvSpPr/>
          <p:nvPr/>
        </p:nvSpPr>
        <p:spPr>
          <a:xfrm flipV="1">
            <a:off x="11624842" y="9787385"/>
            <a:ext cx="204547" cy="390132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50" name="Down Arrow 49"/>
          <p:cNvSpPr/>
          <p:nvPr/>
        </p:nvSpPr>
        <p:spPr>
          <a:xfrm>
            <a:off x="11624842" y="10418902"/>
            <a:ext cx="204547" cy="390132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51" name="Right Arrow 50"/>
          <p:cNvSpPr/>
          <p:nvPr/>
        </p:nvSpPr>
        <p:spPr>
          <a:xfrm>
            <a:off x="11524201" y="10957753"/>
            <a:ext cx="4572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52" name="Right Arrow 51"/>
          <p:cNvSpPr/>
          <p:nvPr/>
        </p:nvSpPr>
        <p:spPr>
          <a:xfrm>
            <a:off x="11523690" y="11376549"/>
            <a:ext cx="4572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54" name="TextBox 53"/>
          <p:cNvSpPr txBox="1"/>
          <p:nvPr/>
        </p:nvSpPr>
        <p:spPr>
          <a:xfrm>
            <a:off x="11962265" y="9673528"/>
            <a:ext cx="2150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Bilinear </a:t>
            </a:r>
            <a:r>
              <a:rPr lang="en-US" sz="2000" dirty="0" err="1" smtClean="0"/>
              <a:t>Upsample</a:t>
            </a:r>
            <a:r>
              <a:rPr lang="en-US" sz="2000" dirty="0" smtClean="0"/>
              <a:t>,</a:t>
            </a:r>
          </a:p>
          <a:p>
            <a:pPr algn="ctr"/>
            <a:r>
              <a:rPr lang="en-US" sz="2000" dirty="0" smtClean="0"/>
              <a:t>Convolution 3x3x3</a:t>
            </a:r>
            <a:endParaRPr lang="en-US" sz="2000" dirty="0"/>
          </a:p>
        </p:txBody>
      </p:sp>
      <p:sp>
        <p:nvSpPr>
          <p:cNvPr id="55" name="TextBox 54"/>
          <p:cNvSpPr txBox="1"/>
          <p:nvPr/>
        </p:nvSpPr>
        <p:spPr>
          <a:xfrm>
            <a:off x="11982462" y="10410198"/>
            <a:ext cx="292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Strided</a:t>
            </a:r>
            <a:r>
              <a:rPr lang="en-US" sz="2000" dirty="0"/>
              <a:t> </a:t>
            </a:r>
            <a:r>
              <a:rPr lang="en-US" sz="2000" dirty="0" smtClean="0"/>
              <a:t>Convolution 2x2x2</a:t>
            </a:r>
            <a:endParaRPr lang="en-US" sz="2000" dirty="0"/>
          </a:p>
        </p:txBody>
      </p:sp>
      <p:sp>
        <p:nvSpPr>
          <p:cNvPr id="56" name="TextBox 55"/>
          <p:cNvSpPr txBox="1"/>
          <p:nvPr/>
        </p:nvSpPr>
        <p:spPr>
          <a:xfrm>
            <a:off x="12117258" y="10890620"/>
            <a:ext cx="2111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Convolution </a:t>
            </a:r>
            <a:r>
              <a:rPr lang="en-US" sz="2000" dirty="0"/>
              <a:t>3x3x3</a:t>
            </a:r>
            <a:endParaRPr 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12117981" y="11311188"/>
            <a:ext cx="2111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Convolution 1x1x1</a:t>
            </a:r>
            <a:endParaRPr lang="en-US" sz="2000" dirty="0"/>
          </a:p>
        </p:txBody>
      </p:sp>
      <p:sp>
        <p:nvSpPr>
          <p:cNvPr id="58" name="Rectangle 57"/>
          <p:cNvSpPr/>
          <p:nvPr/>
        </p:nvSpPr>
        <p:spPr>
          <a:xfrm>
            <a:off x="11331063" y="9567921"/>
            <a:ext cx="3572199" cy="276377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45" name="TextBox 44"/>
          <p:cNvSpPr txBox="1"/>
          <p:nvPr/>
        </p:nvSpPr>
        <p:spPr>
          <a:xfrm>
            <a:off x="2861527" y="8435979"/>
            <a:ext cx="1003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Layer 0</a:t>
            </a:r>
            <a:endParaRPr lang="en-US" sz="2200" dirty="0"/>
          </a:p>
        </p:txBody>
      </p:sp>
      <p:sp>
        <p:nvSpPr>
          <p:cNvPr id="46" name="TextBox 45"/>
          <p:cNvSpPr txBox="1"/>
          <p:nvPr/>
        </p:nvSpPr>
        <p:spPr>
          <a:xfrm>
            <a:off x="4279906" y="10208723"/>
            <a:ext cx="1003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Layer 1</a:t>
            </a:r>
            <a:endParaRPr lang="en-US" sz="2200" dirty="0"/>
          </a:p>
        </p:txBody>
      </p:sp>
      <p:sp>
        <p:nvSpPr>
          <p:cNvPr id="79" name="Rectangle 78"/>
          <p:cNvSpPr/>
          <p:nvPr/>
        </p:nvSpPr>
        <p:spPr>
          <a:xfrm>
            <a:off x="4529195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761314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4997542" y="8601904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94" name="Rectangle 93"/>
          <p:cNvSpPr/>
          <p:nvPr/>
        </p:nvSpPr>
        <p:spPr>
          <a:xfrm>
            <a:off x="5228795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471891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6" name="Right Arrow 95"/>
          <p:cNvSpPr/>
          <p:nvPr/>
        </p:nvSpPr>
        <p:spPr>
          <a:xfrm>
            <a:off x="5932866" y="860190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97" name="Rectangle 96"/>
          <p:cNvSpPr/>
          <p:nvPr/>
        </p:nvSpPr>
        <p:spPr>
          <a:xfrm>
            <a:off x="6175670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411134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6639734" y="8601904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00" name="Rectangle 99"/>
          <p:cNvSpPr/>
          <p:nvPr/>
        </p:nvSpPr>
        <p:spPr>
          <a:xfrm>
            <a:off x="6874643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7102584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7330524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ight Arrow 105"/>
          <p:cNvSpPr/>
          <p:nvPr/>
        </p:nvSpPr>
        <p:spPr>
          <a:xfrm>
            <a:off x="7564091" y="860190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07" name="Rectangle 106"/>
          <p:cNvSpPr/>
          <p:nvPr/>
        </p:nvSpPr>
        <p:spPr>
          <a:xfrm>
            <a:off x="7797370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8032834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704266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460016" y="9738367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688616" y="9738367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4" name="Right Arrow 113"/>
          <p:cNvSpPr/>
          <p:nvPr/>
        </p:nvSpPr>
        <p:spPr>
          <a:xfrm>
            <a:off x="5927970" y="10284350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15" name="Rectangle 114"/>
          <p:cNvSpPr/>
          <p:nvPr/>
        </p:nvSpPr>
        <p:spPr>
          <a:xfrm>
            <a:off x="6149698" y="973378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392794" y="973378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625169" y="973378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9" name="Right Arrow 118"/>
          <p:cNvSpPr/>
          <p:nvPr/>
        </p:nvSpPr>
        <p:spPr>
          <a:xfrm>
            <a:off x="6854522" y="10311638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20" name="Rectangle 119"/>
          <p:cNvSpPr/>
          <p:nvPr/>
        </p:nvSpPr>
        <p:spPr>
          <a:xfrm>
            <a:off x="7097326" y="9740138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7332790" y="9740138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2" name="Right Arrow 121"/>
          <p:cNvSpPr/>
          <p:nvPr/>
        </p:nvSpPr>
        <p:spPr>
          <a:xfrm>
            <a:off x="7568349" y="10303671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23" name="Rectangle 122"/>
          <p:cNvSpPr/>
          <p:nvPr/>
        </p:nvSpPr>
        <p:spPr>
          <a:xfrm>
            <a:off x="7808340" y="9742072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8028362" y="9742072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8264221" y="9742072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8" name="Right Arrow 127"/>
          <p:cNvSpPr/>
          <p:nvPr/>
        </p:nvSpPr>
        <p:spPr>
          <a:xfrm>
            <a:off x="8505532" y="1030528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29" name="Rectangle 128"/>
          <p:cNvSpPr/>
          <p:nvPr/>
        </p:nvSpPr>
        <p:spPr>
          <a:xfrm>
            <a:off x="8748336" y="973378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8983800" y="973378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1" name="Right Arrow 130"/>
          <p:cNvSpPr/>
          <p:nvPr/>
        </p:nvSpPr>
        <p:spPr>
          <a:xfrm>
            <a:off x="9210267" y="10301737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32" name="Rectangle 131"/>
          <p:cNvSpPr/>
          <p:nvPr/>
        </p:nvSpPr>
        <p:spPr>
          <a:xfrm>
            <a:off x="9450258" y="9740138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9670280" y="9740138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9906139" y="9740138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0133841" y="9740138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9" name="Right Arrow 138"/>
          <p:cNvSpPr/>
          <p:nvPr/>
        </p:nvSpPr>
        <p:spPr>
          <a:xfrm>
            <a:off x="10374032" y="10321917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40" name="Rectangle 139"/>
          <p:cNvSpPr/>
          <p:nvPr/>
        </p:nvSpPr>
        <p:spPr>
          <a:xfrm>
            <a:off x="10616836" y="9750417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10852300" y="9750417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44" name="Curved Connector 143"/>
          <p:cNvCxnSpPr>
            <a:stCxn id="150" idx="2"/>
            <a:endCxn id="141" idx="0"/>
          </p:cNvCxnSpPr>
          <p:nvPr/>
        </p:nvCxnSpPr>
        <p:spPr>
          <a:xfrm rot="16200000" flipH="1">
            <a:off x="9721556" y="8505372"/>
            <a:ext cx="348413" cy="2141675"/>
          </a:xfrm>
          <a:prstGeom prst="curvedConnector3">
            <a:avLst>
              <a:gd name="adj1" fmla="val 50000"/>
            </a:avLst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8710625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942744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3" name="Right Arrow 152"/>
          <p:cNvSpPr/>
          <p:nvPr/>
        </p:nvSpPr>
        <p:spPr>
          <a:xfrm>
            <a:off x="9178972" y="8601904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54" name="Rectangle 153"/>
          <p:cNvSpPr/>
          <p:nvPr/>
        </p:nvSpPr>
        <p:spPr>
          <a:xfrm>
            <a:off x="9410225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9649609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ight Arrow 155"/>
          <p:cNvSpPr/>
          <p:nvPr/>
        </p:nvSpPr>
        <p:spPr>
          <a:xfrm>
            <a:off x="10843270" y="860190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57" name="Rectangle 156"/>
          <p:cNvSpPr/>
          <p:nvPr/>
        </p:nvSpPr>
        <p:spPr>
          <a:xfrm>
            <a:off x="11076549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1312013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9" name="Right Arrow 158"/>
          <p:cNvSpPr/>
          <p:nvPr/>
        </p:nvSpPr>
        <p:spPr>
          <a:xfrm>
            <a:off x="11550138" y="8601904"/>
            <a:ext cx="228600" cy="2286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65" name="Right Arrow 164"/>
          <p:cNvSpPr/>
          <p:nvPr/>
        </p:nvSpPr>
        <p:spPr>
          <a:xfrm>
            <a:off x="12969125" y="860190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66" name="Rectangle 165"/>
          <p:cNvSpPr/>
          <p:nvPr/>
        </p:nvSpPr>
        <p:spPr>
          <a:xfrm>
            <a:off x="13211929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13447393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0602227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Elu + BN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70" name="Curved Connector 169"/>
          <p:cNvCxnSpPr>
            <a:stCxn id="108" idx="2"/>
            <a:endCxn id="110" idx="0"/>
          </p:cNvCxnSpPr>
          <p:nvPr/>
        </p:nvCxnSpPr>
        <p:spPr>
          <a:xfrm rot="5400000">
            <a:off x="6692544" y="8283776"/>
            <a:ext cx="336363" cy="2572818"/>
          </a:xfrm>
          <a:prstGeom prst="curvedConnector3">
            <a:avLst>
              <a:gd name="adj1" fmla="val 50000"/>
            </a:avLst>
          </a:prstGeom>
          <a:ln w="3492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9888993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0128377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1783164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12016952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12255869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12493994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12732422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10367761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2" name="Right Arrow 191"/>
          <p:cNvSpPr/>
          <p:nvPr/>
        </p:nvSpPr>
        <p:spPr>
          <a:xfrm>
            <a:off x="13683080" y="8601904"/>
            <a:ext cx="228600" cy="22860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93" name="Rectangle 192"/>
          <p:cNvSpPr/>
          <p:nvPr/>
        </p:nvSpPr>
        <p:spPr>
          <a:xfrm>
            <a:off x="13925884" y="8030404"/>
            <a:ext cx="228600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14161348" y="8030404"/>
            <a:ext cx="228600" cy="1371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Softmax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9" name="Curved Down Arrow 198"/>
          <p:cNvSpPr/>
          <p:nvPr/>
        </p:nvSpPr>
        <p:spPr>
          <a:xfrm>
            <a:off x="11523690" y="11749968"/>
            <a:ext cx="497599" cy="36576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2117258" y="11694697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Concatenation</a:t>
            </a:r>
            <a:endParaRPr lang="en-US" sz="2000" dirty="0"/>
          </a:p>
        </p:txBody>
      </p:sp>
      <p:sp>
        <p:nvSpPr>
          <p:cNvPr id="191" name="Curved Down Arrow 190"/>
          <p:cNvSpPr/>
          <p:nvPr/>
        </p:nvSpPr>
        <p:spPr>
          <a:xfrm>
            <a:off x="8757170" y="7650872"/>
            <a:ext cx="4284673" cy="36576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90" name="Curved Down Arrow 189"/>
          <p:cNvSpPr/>
          <p:nvPr/>
        </p:nvSpPr>
        <p:spPr>
          <a:xfrm>
            <a:off x="6925006" y="7564211"/>
            <a:ext cx="5849615" cy="45720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87" name="Curved Down Arrow 186"/>
          <p:cNvSpPr/>
          <p:nvPr/>
        </p:nvSpPr>
        <p:spPr>
          <a:xfrm>
            <a:off x="5296119" y="7480212"/>
            <a:ext cx="7249902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86" name="Curved Down Arrow 185"/>
          <p:cNvSpPr/>
          <p:nvPr/>
        </p:nvSpPr>
        <p:spPr>
          <a:xfrm>
            <a:off x="4597659" y="7392274"/>
            <a:ext cx="7709934" cy="64008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79" name="Curved Down Arrow 178"/>
          <p:cNvSpPr/>
          <p:nvPr/>
        </p:nvSpPr>
        <p:spPr>
          <a:xfrm>
            <a:off x="8758008" y="7641696"/>
            <a:ext cx="1859923" cy="36576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89" name="Curved Down Arrow 188"/>
          <p:cNvSpPr/>
          <p:nvPr/>
        </p:nvSpPr>
        <p:spPr>
          <a:xfrm>
            <a:off x="6925080" y="7567633"/>
            <a:ext cx="3450673" cy="45720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78" name="Curved Down Arrow 177"/>
          <p:cNvSpPr/>
          <p:nvPr/>
        </p:nvSpPr>
        <p:spPr>
          <a:xfrm>
            <a:off x="5296119" y="7479467"/>
            <a:ext cx="4845168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77" name="Curved Down Arrow 176"/>
          <p:cNvSpPr/>
          <p:nvPr/>
        </p:nvSpPr>
        <p:spPr>
          <a:xfrm>
            <a:off x="4598650" y="7392274"/>
            <a:ext cx="5326635" cy="64008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05" name="Curved Down Arrow 104"/>
          <p:cNvSpPr/>
          <p:nvPr/>
        </p:nvSpPr>
        <p:spPr>
          <a:xfrm>
            <a:off x="5296120" y="7479467"/>
            <a:ext cx="2282054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01" name="Curved Down Arrow 100"/>
          <p:cNvSpPr/>
          <p:nvPr/>
        </p:nvSpPr>
        <p:spPr>
          <a:xfrm>
            <a:off x="4595518" y="7392313"/>
            <a:ext cx="2754056" cy="64008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83" name="Curved Down Arrow 82"/>
          <p:cNvSpPr/>
          <p:nvPr/>
        </p:nvSpPr>
        <p:spPr>
          <a:xfrm>
            <a:off x="4598651" y="7392313"/>
            <a:ext cx="1142882" cy="64008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37" name="Curved Down Arrow 136"/>
          <p:cNvSpPr/>
          <p:nvPr/>
        </p:nvSpPr>
        <p:spPr>
          <a:xfrm flipV="1">
            <a:off x="7884512" y="11122017"/>
            <a:ext cx="2471579" cy="36576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35" name="Curved Down Arrow 134"/>
          <p:cNvSpPr/>
          <p:nvPr/>
        </p:nvSpPr>
        <p:spPr>
          <a:xfrm flipV="1">
            <a:off x="6213957" y="11108123"/>
            <a:ext cx="3914432" cy="45720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36" name="Curved Down Arrow 135"/>
          <p:cNvSpPr/>
          <p:nvPr/>
        </p:nvSpPr>
        <p:spPr>
          <a:xfrm flipV="1">
            <a:off x="5518467" y="11115667"/>
            <a:ext cx="4374063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27" name="Curved Down Arrow 126"/>
          <p:cNvSpPr/>
          <p:nvPr/>
        </p:nvSpPr>
        <p:spPr>
          <a:xfrm flipV="1">
            <a:off x="6213957" y="11114298"/>
            <a:ext cx="2292473" cy="45720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26" name="Curved Down Arrow 125"/>
          <p:cNvSpPr/>
          <p:nvPr/>
        </p:nvSpPr>
        <p:spPr>
          <a:xfrm flipV="1">
            <a:off x="5518467" y="11122017"/>
            <a:ext cx="2745754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  <p:sp>
        <p:nvSpPr>
          <p:cNvPr id="118" name="Curved Down Arrow 117"/>
          <p:cNvSpPr/>
          <p:nvPr/>
        </p:nvSpPr>
        <p:spPr>
          <a:xfrm flipV="1">
            <a:off x="5518467" y="11115667"/>
            <a:ext cx="1102927" cy="548640"/>
          </a:xfrm>
          <a:prstGeom prst="curved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4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2845</TotalTime>
  <Words>134</Words>
  <Application>Microsoft Office PowerPoint</Application>
  <PresentationFormat>Custom</PresentationFormat>
  <Paragraphs>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M. D. Anderson Cancer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Anderson,Brian M</dc:creator>
  <cp:lastModifiedBy>Anderson,Brian M</cp:lastModifiedBy>
  <cp:revision>24</cp:revision>
  <dcterms:created xsi:type="dcterms:W3CDTF">2020-07-27T21:45:52Z</dcterms:created>
  <dcterms:modified xsi:type="dcterms:W3CDTF">2020-07-29T22:18:11Z</dcterms:modified>
</cp:coreProperties>
</file>