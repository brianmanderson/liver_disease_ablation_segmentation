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1" r:id="rId3"/>
    <p:sldId id="259" r:id="rId4"/>
    <p:sldId id="260" r:id="rId5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50" d="100"/>
          <a:sy n="50" d="100"/>
        </p:scale>
        <p:origin x="1950" y="-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80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76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41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8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1"/>
            <a:ext cx="15773400" cy="353483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81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45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8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106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8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884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69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7"/>
            <a:ext cx="3943350" cy="154982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7"/>
            <a:ext cx="11601450" cy="1549823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8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1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380E-2143-4096-B547-DE8B390321C5}" type="datetimeFigureOut">
              <a:rPr lang="en-US" smtClean="0"/>
              <a:t>8/24/2020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29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7899672" y="4571445"/>
            <a:ext cx="3364707" cy="1438275"/>
            <a:chOff x="1683067" y="2631599"/>
            <a:chExt cx="6729413" cy="2876550"/>
          </a:xfrm>
        </p:grpSpPr>
        <p:pic>
          <p:nvPicPr>
            <p:cNvPr id="8" name="Content Placeholder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83067" y="2631599"/>
              <a:ext cx="3476625" cy="287655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9070" y="2631599"/>
              <a:ext cx="2823410" cy="2870272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/>
        </p:nvGrpSpPr>
        <p:grpSpPr>
          <a:xfrm>
            <a:off x="1021012" y="925876"/>
            <a:ext cx="3948045" cy="2222314"/>
            <a:chOff x="2042024" y="1851751"/>
            <a:chExt cx="7896089" cy="4444628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42024" y="1851751"/>
              <a:ext cx="3927702" cy="4442569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41473" y="1851751"/>
              <a:ext cx="3596640" cy="4444628"/>
            </a:xfrm>
            <a:prstGeom prst="rect">
              <a:avLst/>
            </a:prstGeom>
          </p:spPr>
        </p:pic>
      </p:grpSp>
      <p:grpSp>
        <p:nvGrpSpPr>
          <p:cNvPr id="19" name="Group 18"/>
          <p:cNvGrpSpPr/>
          <p:nvPr/>
        </p:nvGrpSpPr>
        <p:grpSpPr>
          <a:xfrm>
            <a:off x="2336164" y="7480301"/>
            <a:ext cx="5563508" cy="2208953"/>
            <a:chOff x="12678173" y="17056101"/>
            <a:chExt cx="11127016" cy="4417906"/>
          </a:xfrm>
        </p:grpSpPr>
        <p:sp>
          <p:nvSpPr>
            <p:cNvPr id="20" name="Rectangle 19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21" name="Straight Arrow Connector 20"/>
            <p:cNvCxnSpPr>
              <a:stCxn id="31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22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3" idx="2"/>
              <a:endCxn id="31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18134793" y="1915231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8262377" y="2107208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660787" y="17622119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30" name="Curved Up Arrow 29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+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350091" y="17056101"/>
              <a:ext cx="1415516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Residual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36" name="Straight Arrow Connector 35"/>
            <p:cNvCxnSpPr>
              <a:stCxn id="34" idx="2"/>
              <a:endCxn id="35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/>
            <p:cNvCxnSpPr>
              <a:endCxn id="34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>
              <a:stCxn id="35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14439521" y="1917869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61051" y="20786421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3980847" y="17606163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3743869" y="17095829"/>
              <a:ext cx="135447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‘Vanilla’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44" name="Straight Arrow Connector 43"/>
            <p:cNvCxnSpPr>
              <a:endCxn id="47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Curved Up Arrow 44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48" name="Straight Arrow Connector 47"/>
            <p:cNvCxnSpPr>
              <a:stCxn id="47" idx="2"/>
              <a:endCxn id="46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50" idx="2"/>
              <a:endCxn id="51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2" name="Curved Up Arrow 51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/>
            <p:cNvCxnSpPr>
              <a:stCxn id="46" idx="2"/>
              <a:endCxn id="54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sp>
          <p:nvSpPr>
            <p:cNvPr id="55" name="Curved Up Arrow 54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57" name="Straight Arrow Connector 56"/>
            <p:cNvCxnSpPr>
              <a:stCxn id="56" idx="2"/>
              <a:endCxn id="58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59" name="Straight Arrow Connector 58"/>
            <p:cNvCxnSpPr>
              <a:stCxn id="54" idx="2"/>
              <a:endCxn id="56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Curved Up Arrow 59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1" name="Curved Up Arrow 60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2" name="Curved Up Arrow 61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0807819" y="17184995"/>
              <a:ext cx="114839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Dense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0097417" y="17938505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135165" y="19075657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0137583" y="20195149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635843" y="4305958"/>
            <a:ext cx="3513248" cy="2068388"/>
            <a:chOff x="1271685" y="8611915"/>
            <a:chExt cx="7026495" cy="4136775"/>
          </a:xfrm>
        </p:grpSpPr>
        <p:pic>
          <p:nvPicPr>
            <p:cNvPr id="84" name="Picture 8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1685" y="8613697"/>
              <a:ext cx="3400643" cy="4131152"/>
            </a:xfrm>
            <a:prstGeom prst="rect">
              <a:avLst/>
            </a:prstGeom>
          </p:spPr>
        </p:pic>
        <p:pic>
          <p:nvPicPr>
            <p:cNvPr id="87" name="Picture 86"/>
            <p:cNvPicPr>
              <a:picLocks/>
            </p:cNvPicPr>
            <p:nvPr/>
          </p:nvPicPr>
          <p:blipFill rotWithShape="1">
            <a:blip r:embed="rId7"/>
            <a:srcRect l="9604" r="14434"/>
            <a:stretch/>
          </p:blipFill>
          <p:spPr>
            <a:xfrm>
              <a:off x="7018020" y="8611915"/>
              <a:ext cx="1280160" cy="1280160"/>
            </a:xfrm>
            <a:prstGeom prst="rect">
              <a:avLst/>
            </a:prstGeom>
          </p:spPr>
        </p:pic>
        <p:pic>
          <p:nvPicPr>
            <p:cNvPr id="88" name="Picture 87"/>
            <p:cNvPicPr>
              <a:picLocks/>
            </p:cNvPicPr>
            <p:nvPr/>
          </p:nvPicPr>
          <p:blipFill rotWithShape="1">
            <a:blip r:embed="rId8"/>
            <a:srcRect l="3316" r="4289"/>
            <a:stretch/>
          </p:blipFill>
          <p:spPr>
            <a:xfrm>
              <a:off x="7018020" y="10040223"/>
              <a:ext cx="1280160" cy="1280160"/>
            </a:xfrm>
            <a:prstGeom prst="rect">
              <a:avLst/>
            </a:prstGeom>
          </p:spPr>
        </p:pic>
        <p:pic>
          <p:nvPicPr>
            <p:cNvPr id="92" name="Content Placeholder 9"/>
            <p:cNvPicPr>
              <a:picLocks/>
            </p:cNvPicPr>
            <p:nvPr/>
          </p:nvPicPr>
          <p:blipFill rotWithShape="1">
            <a:blip r:embed="rId9"/>
            <a:srcRect l="2612" r="2040"/>
            <a:stretch/>
          </p:blipFill>
          <p:spPr>
            <a:xfrm>
              <a:off x="7018020" y="11468530"/>
              <a:ext cx="1280160" cy="1280160"/>
            </a:xfrm>
            <a:prstGeom prst="rect">
              <a:avLst/>
            </a:prstGeom>
          </p:spPr>
        </p:pic>
        <p:sp>
          <p:nvSpPr>
            <p:cNvPr id="93" name="Right Arrow 92"/>
            <p:cNvSpPr/>
            <p:nvPr/>
          </p:nvSpPr>
          <p:spPr>
            <a:xfrm>
              <a:off x="4976111" y="10210177"/>
              <a:ext cx="1691640" cy="83169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725960" y="10511367"/>
            <a:ext cx="7540713" cy="8185153"/>
            <a:chOff x="7451919" y="21022733"/>
            <a:chExt cx="15081425" cy="16370306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10"/>
            <a:srcRect l="1052" r="449"/>
            <a:stretch/>
          </p:blipFill>
          <p:spPr>
            <a:xfrm>
              <a:off x="7451919" y="29239639"/>
              <a:ext cx="15076838" cy="8153400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521944" y="21022733"/>
              <a:ext cx="15011400" cy="8143875"/>
            </a:xfrm>
            <a:prstGeom prst="rect">
              <a:avLst/>
            </a:prstGeom>
          </p:spPr>
        </p:pic>
      </p:grpSp>
      <p:pic>
        <p:nvPicPr>
          <p:cNvPr id="15" name="Picture 1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441" y="9342821"/>
            <a:ext cx="2926086" cy="2194565"/>
          </a:xfrm>
          <a:prstGeom prst="rect">
            <a:avLst/>
          </a:prstGeom>
        </p:spPr>
      </p:pic>
      <p:grpSp>
        <p:nvGrpSpPr>
          <p:cNvPr id="68" name="Group 67"/>
          <p:cNvGrpSpPr/>
          <p:nvPr/>
        </p:nvGrpSpPr>
        <p:grpSpPr>
          <a:xfrm>
            <a:off x="10558526" y="7278685"/>
            <a:ext cx="2926086" cy="2194565"/>
            <a:chOff x="21117052" y="14557370"/>
            <a:chExt cx="5852172" cy="4389129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17052" y="14557370"/>
              <a:ext cx="5852172" cy="4389129"/>
            </a:xfrm>
            <a:prstGeom prst="rect">
              <a:avLst/>
            </a:prstGeom>
          </p:spPr>
        </p:pic>
        <p:cxnSp>
          <p:nvCxnSpPr>
            <p:cNvPr id="17" name="Straight Connector 16"/>
            <p:cNvCxnSpPr/>
            <p:nvPr/>
          </p:nvCxnSpPr>
          <p:spPr>
            <a:xfrm flipH="1">
              <a:off x="22821900" y="15977627"/>
              <a:ext cx="0" cy="246888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 flipH="1">
              <a:off x="24866600" y="16007040"/>
              <a:ext cx="0" cy="246888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/>
            <p:cNvSpPr txBox="1"/>
            <p:nvPr/>
          </p:nvSpPr>
          <p:spPr>
            <a:xfrm>
              <a:off x="22459830" y="15551160"/>
              <a:ext cx="693140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Min LR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4433886" y="15551160"/>
              <a:ext cx="712376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>
                  <a:solidFill>
                    <a:srgbClr val="FF0000"/>
                  </a:solidFill>
                </a:rPr>
                <a:t>Max LR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61936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2478250" y="682172"/>
            <a:ext cx="8331819" cy="4688114"/>
            <a:chOff x="3682936" y="2162629"/>
            <a:chExt cx="8331819" cy="4688114"/>
          </a:xfrm>
        </p:grpSpPr>
        <p:sp>
          <p:nvSpPr>
            <p:cNvPr id="7" name="Rectangle 6"/>
            <p:cNvSpPr/>
            <p:nvPr/>
          </p:nvSpPr>
          <p:spPr>
            <a:xfrm>
              <a:off x="3682936" y="2162629"/>
              <a:ext cx="8088150" cy="468811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585" b="57645"/>
            <a:stretch/>
          </p:blipFill>
          <p:spPr bwMode="auto">
            <a:xfrm>
              <a:off x="7873815" y="2293943"/>
              <a:ext cx="3787779" cy="18759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2926"/>
            <a:stretch/>
          </p:blipFill>
          <p:spPr bwMode="auto">
            <a:xfrm>
              <a:off x="3710451" y="2293943"/>
              <a:ext cx="4053873" cy="442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65" t="55113"/>
            <a:stretch/>
          </p:blipFill>
          <p:spPr bwMode="auto">
            <a:xfrm>
              <a:off x="7905852" y="4301208"/>
              <a:ext cx="3812389" cy="2323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/>
            <p:cNvSpPr/>
            <p:nvPr/>
          </p:nvSpPr>
          <p:spPr>
            <a:xfrm>
              <a:off x="7791839" y="2162629"/>
              <a:ext cx="114013" cy="46881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7873815" y="4169893"/>
              <a:ext cx="4140940" cy="1313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2039483" y="6223227"/>
            <a:ext cx="5566003" cy="3631973"/>
            <a:chOff x="2039483" y="6223227"/>
            <a:chExt cx="5566003" cy="3631973"/>
          </a:xfrm>
        </p:grpSpPr>
        <p:sp>
          <p:nvSpPr>
            <p:cNvPr id="18" name="Rectangle 17"/>
            <p:cNvSpPr/>
            <p:nvPr/>
          </p:nvSpPr>
          <p:spPr>
            <a:xfrm>
              <a:off x="2039483" y="6223227"/>
              <a:ext cx="5566003" cy="363197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6171" y="6462712"/>
              <a:ext cx="2804669" cy="3273891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4937" y="8567284"/>
              <a:ext cx="2238375" cy="1164765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14937" y="6462712"/>
              <a:ext cx="2238375" cy="1990725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>
            <a:xfrm>
              <a:off x="5063515" y="6223227"/>
              <a:ext cx="114013" cy="36319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145491" y="8230491"/>
              <a:ext cx="2459995" cy="1007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46965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2671207" y="1094760"/>
            <a:ext cx="12300549" cy="5353765"/>
            <a:chOff x="3200708" y="5540991"/>
            <a:chExt cx="12300549" cy="5353765"/>
          </a:xfrm>
        </p:grpSpPr>
        <p:sp>
          <p:nvSpPr>
            <p:cNvPr id="7" name="Rectangle 6"/>
            <p:cNvSpPr/>
            <p:nvPr/>
          </p:nvSpPr>
          <p:spPr>
            <a:xfrm>
              <a:off x="5580729" y="6008556"/>
              <a:ext cx="582711" cy="1730524"/>
            </a:xfrm>
            <a:prstGeom prst="rect">
              <a:avLst/>
            </a:prstGeom>
            <a:noFill/>
            <a:ln w="1397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290121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6735357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130" name="Group 129"/>
            <p:cNvGrpSpPr/>
            <p:nvPr/>
          </p:nvGrpSpPr>
          <p:grpSpPr>
            <a:xfrm>
              <a:off x="5370261" y="6037068"/>
              <a:ext cx="873051" cy="2092145"/>
              <a:chOff x="18350689" y="8312592"/>
              <a:chExt cx="1746101" cy="4184289"/>
            </a:xfrm>
          </p:grpSpPr>
          <p:sp>
            <p:nvSpPr>
              <p:cNvPr id="219" name="Down Arrow 218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0" name="Rectangle 219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223" name="TextBox 222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4" name="TextBox 223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5" name="Right Arrow 224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6" name="Right Arrow 225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7" name="Rectangle 226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8" name="Rectangle 227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32" name="Right Arrow 131"/>
            <p:cNvSpPr/>
            <p:nvPr/>
          </p:nvSpPr>
          <p:spPr>
            <a:xfrm>
              <a:off x="6097835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3" name="Right Arrow 132"/>
            <p:cNvSpPr/>
            <p:nvPr/>
          </p:nvSpPr>
          <p:spPr>
            <a:xfrm>
              <a:off x="6542456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5972618" y="8250645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6325799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6770420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3" name="Down Arrow 152"/>
            <p:cNvSpPr/>
            <p:nvPr/>
          </p:nvSpPr>
          <p:spPr>
            <a:xfrm flipV="1">
              <a:off x="10671009" y="9743064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5" name="TextBox 154"/>
            <p:cNvSpPr txBox="1"/>
            <p:nvPr/>
          </p:nvSpPr>
          <p:spPr>
            <a:xfrm flipH="1">
              <a:off x="11569215" y="97228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 flipH="1">
              <a:off x="11606743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0" name="Rectangle 159"/>
            <p:cNvSpPr/>
            <p:nvPr/>
          </p:nvSpPr>
          <p:spPr>
            <a:xfrm flipH="1">
              <a:off x="11140445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61" name="Group 160"/>
            <p:cNvGrpSpPr/>
            <p:nvPr/>
          </p:nvGrpSpPr>
          <p:grpSpPr>
            <a:xfrm>
              <a:off x="10498921" y="8305807"/>
              <a:ext cx="365760" cy="1371600"/>
              <a:chOff x="28554490" y="16388363"/>
              <a:chExt cx="1463709" cy="2743200"/>
            </a:xfrm>
          </p:grpSpPr>
          <p:sp>
            <p:nvSpPr>
              <p:cNvPr id="211" name="Rectangle 21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2" name="Rectangle 21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62" name="Right Arrow 161"/>
            <p:cNvSpPr/>
            <p:nvPr/>
          </p:nvSpPr>
          <p:spPr>
            <a:xfrm>
              <a:off x="7431697" y="8606553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4" name="Down Arrow 163"/>
            <p:cNvSpPr/>
            <p:nvPr/>
          </p:nvSpPr>
          <p:spPr>
            <a:xfrm flipV="1">
              <a:off x="11585076" y="7887116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5" name="TextBox 164"/>
            <p:cNvSpPr txBox="1"/>
            <p:nvPr/>
          </p:nvSpPr>
          <p:spPr>
            <a:xfrm flipH="1">
              <a:off x="11585076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67" name="Right Arrow 166"/>
            <p:cNvSpPr/>
            <p:nvPr/>
          </p:nvSpPr>
          <p:spPr>
            <a:xfrm>
              <a:off x="11810468" y="6954192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0" name="Rectangle 169"/>
            <p:cNvSpPr/>
            <p:nvPr/>
          </p:nvSpPr>
          <p:spPr>
            <a:xfrm flipH="1">
              <a:off x="12041839" y="6389550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1" name="Group 170"/>
            <p:cNvGrpSpPr/>
            <p:nvPr/>
          </p:nvGrpSpPr>
          <p:grpSpPr>
            <a:xfrm>
              <a:off x="11590404" y="6389550"/>
              <a:ext cx="182880" cy="1371600"/>
              <a:chOff x="28554490" y="16388363"/>
              <a:chExt cx="1463709" cy="2743200"/>
            </a:xfrm>
          </p:grpSpPr>
          <p:sp>
            <p:nvSpPr>
              <p:cNvPr id="209" name="Rectangle 208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0" name="Rectangle 209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2" name="TextBox 171"/>
            <p:cNvSpPr txBox="1"/>
            <p:nvPr/>
          </p:nvSpPr>
          <p:spPr>
            <a:xfrm flipH="1">
              <a:off x="11949082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74" name="Right Arrow 173"/>
            <p:cNvSpPr/>
            <p:nvPr/>
          </p:nvSpPr>
          <p:spPr>
            <a:xfrm>
              <a:off x="12176495" y="6954192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5" name="Rectangle 174"/>
            <p:cNvSpPr/>
            <p:nvPr/>
          </p:nvSpPr>
          <p:spPr>
            <a:xfrm flipH="1">
              <a:off x="12407866" y="6389550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6" name="TextBox 175"/>
            <p:cNvSpPr txBox="1"/>
            <p:nvPr/>
          </p:nvSpPr>
          <p:spPr>
            <a:xfrm flipH="1">
              <a:off x="12347243" y="6163803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177" name="Right Arrow 176"/>
            <p:cNvSpPr/>
            <p:nvPr/>
          </p:nvSpPr>
          <p:spPr>
            <a:xfrm>
              <a:off x="6241546" y="6632388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8" name="Group 177"/>
            <p:cNvGrpSpPr/>
            <p:nvPr/>
          </p:nvGrpSpPr>
          <p:grpSpPr>
            <a:xfrm>
              <a:off x="12148459" y="8430434"/>
              <a:ext cx="3157418" cy="2236322"/>
              <a:chOff x="19111384" y="19891693"/>
              <a:chExt cx="6314836" cy="4472643"/>
            </a:xfrm>
          </p:grpSpPr>
          <p:sp>
            <p:nvSpPr>
              <p:cNvPr id="198" name="Right Arrow 197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199" name="Down Arrow 198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0" name="Down Arrow 199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1" name="Right Arrow 200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2" name="Right Arrow 201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3" name="TextBox 202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204" name="TextBox 203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5" name="TextBox 204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6" name="TextBox 205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207" name="TextBox 206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208" name="Rectangle 207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9" name="Down Arrow 178"/>
            <p:cNvSpPr/>
            <p:nvPr/>
          </p:nvSpPr>
          <p:spPr>
            <a:xfrm>
              <a:off x="7203173" y="9743064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6868109" y="10180269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2" name="Right Arrow 181"/>
            <p:cNvSpPr/>
            <p:nvPr/>
          </p:nvSpPr>
          <p:spPr>
            <a:xfrm>
              <a:off x="7868702" y="10230561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412095" y="10180269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8841373" y="105905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87" name="Right Arrow 186"/>
            <p:cNvSpPr/>
            <p:nvPr/>
          </p:nvSpPr>
          <p:spPr>
            <a:xfrm>
              <a:off x="9641288" y="10239453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0184681" y="10171901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10610444" y="10558236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7178328" y="800101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32" name="Right Arrow 231"/>
            <p:cNvSpPr/>
            <p:nvPr/>
          </p:nvSpPr>
          <p:spPr>
            <a:xfrm>
              <a:off x="6987077" y="8813118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7215040" y="82484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7181307" y="1052316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9" name="TextBox 238"/>
            <p:cNvSpPr txBox="1"/>
            <p:nvPr/>
          </p:nvSpPr>
          <p:spPr>
            <a:xfrm flipH="1">
              <a:off x="11102759" y="9724304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42" name="TextBox 241"/>
            <p:cNvSpPr txBox="1"/>
            <p:nvPr/>
          </p:nvSpPr>
          <p:spPr>
            <a:xfrm>
              <a:off x="4391877" y="6775908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4392294" y="847382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4391877" y="10171743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3200708" y="8129213"/>
              <a:ext cx="3626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smtClean="0"/>
                <a:t>A</a:t>
              </a:r>
              <a:endParaRPr lang="en-US" sz="2400" dirty="0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115379" y="5722213"/>
              <a:ext cx="11385878" cy="51725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Down Arrow 5"/>
            <p:cNvSpPr/>
            <p:nvPr/>
          </p:nvSpPr>
          <p:spPr>
            <a:xfrm rot="4733698">
              <a:off x="8592327" y="3468812"/>
              <a:ext cx="1062585" cy="5206944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700" dirty="0"/>
                <a:t># of Convolution Blocks</a:t>
              </a:r>
            </a:p>
          </p:txBody>
        </p:sp>
      </p:grpSp>
      <p:sp>
        <p:nvSpPr>
          <p:cNvPr id="216" name="TextBox 215"/>
          <p:cNvSpPr txBox="1"/>
          <p:nvPr/>
        </p:nvSpPr>
        <p:spPr>
          <a:xfrm>
            <a:off x="2701998" y="8674102"/>
            <a:ext cx="351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B</a:t>
            </a:r>
            <a:endParaRPr lang="en-US" sz="2400" dirty="0"/>
          </a:p>
        </p:txBody>
      </p:sp>
      <p:grpSp>
        <p:nvGrpSpPr>
          <p:cNvPr id="10" name="Group 9"/>
          <p:cNvGrpSpPr/>
          <p:nvPr/>
        </p:nvGrpSpPr>
        <p:grpSpPr>
          <a:xfrm>
            <a:off x="2701998" y="10750739"/>
            <a:ext cx="12690402" cy="5403661"/>
            <a:chOff x="2701998" y="10750739"/>
            <a:chExt cx="12690402" cy="5403661"/>
          </a:xfrm>
        </p:grpSpPr>
        <p:grpSp>
          <p:nvGrpSpPr>
            <p:cNvPr id="8" name="Group 7"/>
            <p:cNvGrpSpPr/>
            <p:nvPr/>
          </p:nvGrpSpPr>
          <p:grpSpPr>
            <a:xfrm>
              <a:off x="3163476" y="10969373"/>
              <a:ext cx="12041735" cy="4939426"/>
              <a:chOff x="3253649" y="13185506"/>
              <a:chExt cx="12041735" cy="4939426"/>
            </a:xfrm>
          </p:grpSpPr>
          <p:sp>
            <p:nvSpPr>
              <p:cNvPr id="217" name="Right Arrow 216"/>
              <p:cNvSpPr/>
              <p:nvPr/>
            </p:nvSpPr>
            <p:spPr>
              <a:xfrm>
                <a:off x="4689886" y="14395136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8" name="Rectangle 217"/>
              <p:cNvSpPr/>
              <p:nvPr/>
            </p:nvSpPr>
            <p:spPr>
              <a:xfrm>
                <a:off x="4457767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Image</a:t>
                </a:r>
              </a:p>
            </p:txBody>
          </p:sp>
          <p:sp>
            <p:nvSpPr>
              <p:cNvPr id="221" name="Down Arrow 220"/>
              <p:cNvSpPr/>
              <p:nvPr/>
            </p:nvSpPr>
            <p:spPr>
              <a:xfrm flipV="1">
                <a:off x="12016964" y="15580617"/>
                <a:ext cx="204547" cy="390132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9" name="Down Arrow 228"/>
              <p:cNvSpPr/>
              <p:nvPr/>
            </p:nvSpPr>
            <p:spPr>
              <a:xfrm>
                <a:off x="12016964" y="16212134"/>
                <a:ext cx="204547" cy="390132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30" name="Right Arrow 229"/>
              <p:cNvSpPr/>
              <p:nvPr/>
            </p:nvSpPr>
            <p:spPr>
              <a:xfrm>
                <a:off x="11916323" y="16750985"/>
                <a:ext cx="4572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35" name="Right Arrow 234"/>
              <p:cNvSpPr/>
              <p:nvPr/>
            </p:nvSpPr>
            <p:spPr>
              <a:xfrm>
                <a:off x="11915812" y="17169781"/>
                <a:ext cx="4572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36" name="TextBox 235"/>
              <p:cNvSpPr txBox="1"/>
              <p:nvPr/>
            </p:nvSpPr>
            <p:spPr>
              <a:xfrm>
                <a:off x="12354387" y="15466760"/>
                <a:ext cx="215026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 smtClean="0"/>
                  <a:t>Bilinear </a:t>
                </a:r>
                <a:r>
                  <a:rPr lang="en-US" sz="2000" dirty="0" err="1" smtClean="0"/>
                  <a:t>Upsample</a:t>
                </a:r>
                <a:r>
                  <a:rPr lang="en-US" sz="2000" dirty="0" smtClean="0"/>
                  <a:t>,</a:t>
                </a:r>
              </a:p>
              <a:p>
                <a:pPr algn="ctr"/>
                <a:r>
                  <a:rPr lang="en-US" sz="2000" dirty="0" smtClean="0"/>
                  <a:t>Convolution 3x3x3</a:t>
                </a:r>
                <a:endParaRPr lang="en-US" sz="2000" dirty="0"/>
              </a:p>
            </p:txBody>
          </p:sp>
          <p:sp>
            <p:nvSpPr>
              <p:cNvPr id="237" name="TextBox 236"/>
              <p:cNvSpPr txBox="1"/>
              <p:nvPr/>
            </p:nvSpPr>
            <p:spPr>
              <a:xfrm>
                <a:off x="12374584" y="16203430"/>
                <a:ext cx="292080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smtClean="0"/>
                  <a:t>Convolution 2x2x2</a:t>
                </a:r>
                <a:endParaRPr lang="en-US" sz="2000" dirty="0"/>
              </a:p>
            </p:txBody>
          </p:sp>
          <p:sp>
            <p:nvSpPr>
              <p:cNvPr id="238" name="TextBox 237"/>
              <p:cNvSpPr txBox="1"/>
              <p:nvPr/>
            </p:nvSpPr>
            <p:spPr>
              <a:xfrm>
                <a:off x="12509380" y="16683852"/>
                <a:ext cx="211128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smtClean="0"/>
                  <a:t>Convolution </a:t>
                </a:r>
                <a:r>
                  <a:rPr lang="en-US" sz="2000" dirty="0"/>
                  <a:t>3x3x3</a:t>
                </a:r>
              </a:p>
            </p:txBody>
          </p:sp>
          <p:sp>
            <p:nvSpPr>
              <p:cNvPr id="240" name="TextBox 239"/>
              <p:cNvSpPr txBox="1"/>
              <p:nvPr/>
            </p:nvSpPr>
            <p:spPr>
              <a:xfrm>
                <a:off x="12510103" y="17104420"/>
                <a:ext cx="211128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smtClean="0"/>
                  <a:t>Convolution 1x1x1</a:t>
                </a:r>
                <a:endParaRPr lang="en-US" sz="2000" dirty="0"/>
              </a:p>
            </p:txBody>
          </p:sp>
          <p:sp>
            <p:nvSpPr>
              <p:cNvPr id="241" name="Rectangle 240"/>
              <p:cNvSpPr/>
              <p:nvPr/>
            </p:nvSpPr>
            <p:spPr>
              <a:xfrm>
                <a:off x="11723185" y="15361153"/>
                <a:ext cx="3572199" cy="2763779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46" name="TextBox 245"/>
              <p:cNvSpPr txBox="1"/>
              <p:nvPr/>
            </p:nvSpPr>
            <p:spPr>
              <a:xfrm>
                <a:off x="3253649" y="14229211"/>
                <a:ext cx="1003095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/>
                  <a:t>Layer 0</a:t>
                </a:r>
              </a:p>
            </p:txBody>
          </p:sp>
          <p:sp>
            <p:nvSpPr>
              <p:cNvPr id="247" name="TextBox 246"/>
              <p:cNvSpPr txBox="1"/>
              <p:nvPr/>
            </p:nvSpPr>
            <p:spPr>
              <a:xfrm>
                <a:off x="4672028" y="16001955"/>
                <a:ext cx="1003095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/>
                  <a:t>Layer 1</a:t>
                </a:r>
              </a:p>
            </p:txBody>
          </p:sp>
          <p:sp>
            <p:nvSpPr>
              <p:cNvPr id="248" name="Rectangle 247"/>
              <p:cNvSpPr/>
              <p:nvPr/>
            </p:nvSpPr>
            <p:spPr>
              <a:xfrm>
                <a:off x="4921317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9" name="Rectangle 248"/>
              <p:cNvSpPr/>
              <p:nvPr/>
            </p:nvSpPr>
            <p:spPr>
              <a:xfrm>
                <a:off x="5153436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50" name="Right Arrow 249"/>
              <p:cNvSpPr/>
              <p:nvPr/>
            </p:nvSpPr>
            <p:spPr>
              <a:xfrm>
                <a:off x="5389664" y="14395136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51" name="Rectangle 250"/>
              <p:cNvSpPr/>
              <p:nvPr/>
            </p:nvSpPr>
            <p:spPr>
              <a:xfrm>
                <a:off x="5620917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2" name="Rectangle 251"/>
              <p:cNvSpPr/>
              <p:nvPr/>
            </p:nvSpPr>
            <p:spPr>
              <a:xfrm>
                <a:off x="5864013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3" name="Right Arrow 252"/>
              <p:cNvSpPr/>
              <p:nvPr/>
            </p:nvSpPr>
            <p:spPr>
              <a:xfrm>
                <a:off x="6324988" y="14395136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54" name="Rectangle 253"/>
              <p:cNvSpPr/>
              <p:nvPr/>
            </p:nvSpPr>
            <p:spPr>
              <a:xfrm>
                <a:off x="6567792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5" name="Rectangle 254"/>
              <p:cNvSpPr/>
              <p:nvPr/>
            </p:nvSpPr>
            <p:spPr>
              <a:xfrm>
                <a:off x="6803256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56" name="Right Arrow 255"/>
              <p:cNvSpPr/>
              <p:nvPr/>
            </p:nvSpPr>
            <p:spPr>
              <a:xfrm>
                <a:off x="7031856" y="14395136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57" name="Rectangle 256"/>
              <p:cNvSpPr/>
              <p:nvPr/>
            </p:nvSpPr>
            <p:spPr>
              <a:xfrm>
                <a:off x="7266765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8" name="Rectangle 257"/>
              <p:cNvSpPr/>
              <p:nvPr/>
            </p:nvSpPr>
            <p:spPr>
              <a:xfrm>
                <a:off x="7494706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Rectangle 258"/>
              <p:cNvSpPr/>
              <p:nvPr/>
            </p:nvSpPr>
            <p:spPr>
              <a:xfrm>
                <a:off x="7722646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0" name="Right Arrow 259"/>
              <p:cNvSpPr/>
              <p:nvPr/>
            </p:nvSpPr>
            <p:spPr>
              <a:xfrm>
                <a:off x="7956213" y="14395136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61" name="Rectangle 260"/>
              <p:cNvSpPr/>
              <p:nvPr/>
            </p:nvSpPr>
            <p:spPr>
              <a:xfrm>
                <a:off x="8189492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2" name="Rectangle 261"/>
              <p:cNvSpPr/>
              <p:nvPr/>
            </p:nvSpPr>
            <p:spPr>
              <a:xfrm>
                <a:off x="8424956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63" name="Rectangle 262"/>
              <p:cNvSpPr/>
              <p:nvPr/>
            </p:nvSpPr>
            <p:spPr>
              <a:xfrm>
                <a:off x="6096388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64" name="Rectangle 263"/>
              <p:cNvSpPr/>
              <p:nvPr/>
            </p:nvSpPr>
            <p:spPr>
              <a:xfrm>
                <a:off x="5852138" y="15531599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Rectangle 264"/>
              <p:cNvSpPr/>
              <p:nvPr/>
            </p:nvSpPr>
            <p:spPr>
              <a:xfrm>
                <a:off x="6080738" y="15531599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66" name="Right Arrow 265"/>
              <p:cNvSpPr/>
              <p:nvPr/>
            </p:nvSpPr>
            <p:spPr>
              <a:xfrm>
                <a:off x="6320092" y="16077582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67" name="Rectangle 266"/>
              <p:cNvSpPr/>
              <p:nvPr/>
            </p:nvSpPr>
            <p:spPr>
              <a:xfrm>
                <a:off x="6541820" y="1552701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8" name="Rectangle 267"/>
              <p:cNvSpPr/>
              <p:nvPr/>
            </p:nvSpPr>
            <p:spPr>
              <a:xfrm>
                <a:off x="6784916" y="1552701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9" name="Rectangle 268"/>
              <p:cNvSpPr/>
              <p:nvPr/>
            </p:nvSpPr>
            <p:spPr>
              <a:xfrm>
                <a:off x="7017291" y="1552701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70" name="Right Arrow 269"/>
              <p:cNvSpPr/>
              <p:nvPr/>
            </p:nvSpPr>
            <p:spPr>
              <a:xfrm>
                <a:off x="7246644" y="16104870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71" name="Rectangle 270"/>
              <p:cNvSpPr/>
              <p:nvPr/>
            </p:nvSpPr>
            <p:spPr>
              <a:xfrm>
                <a:off x="7489448" y="15533370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2" name="Rectangle 271"/>
              <p:cNvSpPr/>
              <p:nvPr/>
            </p:nvSpPr>
            <p:spPr>
              <a:xfrm>
                <a:off x="7724912" y="15533370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73" name="Right Arrow 272"/>
              <p:cNvSpPr/>
              <p:nvPr/>
            </p:nvSpPr>
            <p:spPr>
              <a:xfrm>
                <a:off x="7960471" y="16096903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74" name="Rectangle 273"/>
              <p:cNvSpPr/>
              <p:nvPr/>
            </p:nvSpPr>
            <p:spPr>
              <a:xfrm>
                <a:off x="8200462" y="15535304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5" name="Rectangle 274"/>
              <p:cNvSpPr/>
              <p:nvPr/>
            </p:nvSpPr>
            <p:spPr>
              <a:xfrm>
                <a:off x="8420484" y="15535304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Rectangle 275"/>
              <p:cNvSpPr/>
              <p:nvPr/>
            </p:nvSpPr>
            <p:spPr>
              <a:xfrm>
                <a:off x="8656343" y="15535304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Right Arrow 276"/>
              <p:cNvSpPr/>
              <p:nvPr/>
            </p:nvSpPr>
            <p:spPr>
              <a:xfrm>
                <a:off x="8897654" y="16098516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78" name="Rectangle 277"/>
              <p:cNvSpPr/>
              <p:nvPr/>
            </p:nvSpPr>
            <p:spPr>
              <a:xfrm>
                <a:off x="9140458" y="1552701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9" name="Rectangle 278"/>
              <p:cNvSpPr/>
              <p:nvPr/>
            </p:nvSpPr>
            <p:spPr>
              <a:xfrm>
                <a:off x="9375922" y="1552701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80" name="Right Arrow 279"/>
              <p:cNvSpPr/>
              <p:nvPr/>
            </p:nvSpPr>
            <p:spPr>
              <a:xfrm>
                <a:off x="9602389" y="16094969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81" name="Rectangle 280"/>
              <p:cNvSpPr/>
              <p:nvPr/>
            </p:nvSpPr>
            <p:spPr>
              <a:xfrm>
                <a:off x="9842380" y="15533370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2" name="Rectangle 281"/>
              <p:cNvSpPr/>
              <p:nvPr/>
            </p:nvSpPr>
            <p:spPr>
              <a:xfrm>
                <a:off x="10062402" y="15533370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Rectangle 282"/>
              <p:cNvSpPr/>
              <p:nvPr/>
            </p:nvSpPr>
            <p:spPr>
              <a:xfrm>
                <a:off x="10298261" y="15533370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Rectangle 283"/>
              <p:cNvSpPr/>
              <p:nvPr/>
            </p:nvSpPr>
            <p:spPr>
              <a:xfrm>
                <a:off x="10525963" y="15533370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Right Arrow 284"/>
              <p:cNvSpPr/>
              <p:nvPr/>
            </p:nvSpPr>
            <p:spPr>
              <a:xfrm>
                <a:off x="10766154" y="16115149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86" name="Rectangle 285"/>
              <p:cNvSpPr/>
              <p:nvPr/>
            </p:nvSpPr>
            <p:spPr>
              <a:xfrm>
                <a:off x="11008958" y="15543649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7" name="Rectangle 286"/>
              <p:cNvSpPr/>
              <p:nvPr/>
            </p:nvSpPr>
            <p:spPr>
              <a:xfrm>
                <a:off x="11244422" y="15543649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cxnSp>
            <p:nvCxnSpPr>
              <p:cNvPr id="288" name="Curved Connector 287"/>
              <p:cNvCxnSpPr>
                <a:stCxn id="289" idx="2"/>
                <a:endCxn id="287" idx="0"/>
              </p:cNvCxnSpPr>
              <p:nvPr/>
            </p:nvCxnSpPr>
            <p:spPr>
              <a:xfrm rot="16200000" flipH="1">
                <a:off x="10113678" y="14298604"/>
                <a:ext cx="348413" cy="2141675"/>
              </a:xfrm>
              <a:prstGeom prst="curvedConnector3">
                <a:avLst>
                  <a:gd name="adj1" fmla="val 50000"/>
                </a:avLst>
              </a:prstGeom>
              <a:ln w="34925">
                <a:solidFill>
                  <a:srgbClr val="00B05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9" name="Rectangle 288"/>
              <p:cNvSpPr/>
              <p:nvPr/>
            </p:nvSpPr>
            <p:spPr>
              <a:xfrm>
                <a:off x="9102747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0" name="Rectangle 289"/>
              <p:cNvSpPr/>
              <p:nvPr/>
            </p:nvSpPr>
            <p:spPr>
              <a:xfrm>
                <a:off x="9334866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91" name="Right Arrow 290"/>
              <p:cNvSpPr/>
              <p:nvPr/>
            </p:nvSpPr>
            <p:spPr>
              <a:xfrm>
                <a:off x="9571094" y="14395136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92" name="Rectangle 291"/>
              <p:cNvSpPr/>
              <p:nvPr/>
            </p:nvSpPr>
            <p:spPr>
              <a:xfrm>
                <a:off x="9802347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3" name="Rectangle 292"/>
              <p:cNvSpPr/>
              <p:nvPr/>
            </p:nvSpPr>
            <p:spPr>
              <a:xfrm>
                <a:off x="10041731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4" name="Right Arrow 293"/>
              <p:cNvSpPr/>
              <p:nvPr/>
            </p:nvSpPr>
            <p:spPr>
              <a:xfrm>
                <a:off x="11235392" y="14395136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95" name="Rectangle 294"/>
              <p:cNvSpPr/>
              <p:nvPr/>
            </p:nvSpPr>
            <p:spPr>
              <a:xfrm>
                <a:off x="11468671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Rectangle 295"/>
              <p:cNvSpPr/>
              <p:nvPr/>
            </p:nvSpPr>
            <p:spPr>
              <a:xfrm>
                <a:off x="11704135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297" name="Right Arrow 296"/>
              <p:cNvSpPr/>
              <p:nvPr/>
            </p:nvSpPr>
            <p:spPr>
              <a:xfrm>
                <a:off x="11942260" y="14395136"/>
                <a:ext cx="228600" cy="228600"/>
              </a:xfrm>
              <a:prstGeom prst="right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98" name="Right Arrow 297"/>
              <p:cNvSpPr/>
              <p:nvPr/>
            </p:nvSpPr>
            <p:spPr>
              <a:xfrm>
                <a:off x="13361247" y="14395136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99" name="Rectangle 298"/>
              <p:cNvSpPr/>
              <p:nvPr/>
            </p:nvSpPr>
            <p:spPr>
              <a:xfrm>
                <a:off x="13604051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Rectangle 299"/>
              <p:cNvSpPr/>
              <p:nvPr/>
            </p:nvSpPr>
            <p:spPr>
              <a:xfrm>
                <a:off x="13839515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sp>
            <p:nvSpPr>
              <p:cNvPr id="301" name="Rectangle 300"/>
              <p:cNvSpPr/>
              <p:nvPr/>
            </p:nvSpPr>
            <p:spPr>
              <a:xfrm>
                <a:off x="10994349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Elu + BN</a:t>
                </a:r>
              </a:p>
            </p:txBody>
          </p:sp>
          <p:cxnSp>
            <p:nvCxnSpPr>
              <p:cNvPr id="302" name="Curved Connector 301"/>
              <p:cNvCxnSpPr>
                <a:stCxn id="262" idx="2"/>
                <a:endCxn id="264" idx="0"/>
              </p:cNvCxnSpPr>
              <p:nvPr/>
            </p:nvCxnSpPr>
            <p:spPr>
              <a:xfrm rot="5400000">
                <a:off x="7084666" y="14077008"/>
                <a:ext cx="336363" cy="2572818"/>
              </a:xfrm>
              <a:prstGeom prst="curvedConnector3">
                <a:avLst>
                  <a:gd name="adj1" fmla="val 50000"/>
                </a:avLst>
              </a:prstGeom>
              <a:ln w="349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3" name="Rectangle 302"/>
              <p:cNvSpPr/>
              <p:nvPr/>
            </p:nvSpPr>
            <p:spPr>
              <a:xfrm>
                <a:off x="10281115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Rectangle 303"/>
              <p:cNvSpPr/>
              <p:nvPr/>
            </p:nvSpPr>
            <p:spPr>
              <a:xfrm>
                <a:off x="10520499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Rectangle 304"/>
              <p:cNvSpPr/>
              <p:nvPr/>
            </p:nvSpPr>
            <p:spPr>
              <a:xfrm>
                <a:off x="12175286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Rectangle 305"/>
              <p:cNvSpPr/>
              <p:nvPr/>
            </p:nvSpPr>
            <p:spPr>
              <a:xfrm>
                <a:off x="12409074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7" name="Rectangle 306"/>
              <p:cNvSpPr/>
              <p:nvPr/>
            </p:nvSpPr>
            <p:spPr>
              <a:xfrm>
                <a:off x="12647991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8" name="Rectangle 307"/>
              <p:cNvSpPr/>
              <p:nvPr/>
            </p:nvSpPr>
            <p:spPr>
              <a:xfrm>
                <a:off x="12886116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9" name="Rectangle 308"/>
              <p:cNvSpPr/>
              <p:nvPr/>
            </p:nvSpPr>
            <p:spPr>
              <a:xfrm>
                <a:off x="13124544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0" name="Rectangle 309"/>
              <p:cNvSpPr/>
              <p:nvPr/>
            </p:nvSpPr>
            <p:spPr>
              <a:xfrm>
                <a:off x="10759883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1" name="Right Arrow 310"/>
              <p:cNvSpPr/>
              <p:nvPr/>
            </p:nvSpPr>
            <p:spPr>
              <a:xfrm>
                <a:off x="14075202" y="14395136"/>
                <a:ext cx="228600" cy="228600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312" name="Rectangle 311"/>
              <p:cNvSpPr/>
              <p:nvPr/>
            </p:nvSpPr>
            <p:spPr>
              <a:xfrm>
                <a:off x="14318006" y="1382363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3" name="Rectangle 312"/>
              <p:cNvSpPr/>
              <p:nvPr/>
            </p:nvSpPr>
            <p:spPr>
              <a:xfrm>
                <a:off x="14553470" y="13823636"/>
                <a:ext cx="228600" cy="13716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 err="1" smtClean="0">
                    <a:solidFill>
                      <a:schemeClr val="tx1"/>
                    </a:solidFill>
                  </a:rPr>
                  <a:t>Softmax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4" name="Curved Down Arrow 313"/>
              <p:cNvSpPr/>
              <p:nvPr/>
            </p:nvSpPr>
            <p:spPr>
              <a:xfrm>
                <a:off x="11915812" y="17543200"/>
                <a:ext cx="497599" cy="36576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15" name="TextBox 314"/>
              <p:cNvSpPr txBox="1"/>
              <p:nvPr/>
            </p:nvSpPr>
            <p:spPr>
              <a:xfrm>
                <a:off x="12509380" y="17487929"/>
                <a:ext cx="17011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smtClean="0"/>
                  <a:t>Concatenation</a:t>
                </a:r>
                <a:endParaRPr lang="en-US" sz="2000" dirty="0"/>
              </a:p>
            </p:txBody>
          </p:sp>
          <p:sp>
            <p:nvSpPr>
              <p:cNvPr id="316" name="Curved Down Arrow 315"/>
              <p:cNvSpPr/>
              <p:nvPr/>
            </p:nvSpPr>
            <p:spPr>
              <a:xfrm>
                <a:off x="9149292" y="13444104"/>
                <a:ext cx="4284673" cy="36576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17" name="Curved Down Arrow 316"/>
              <p:cNvSpPr/>
              <p:nvPr/>
            </p:nvSpPr>
            <p:spPr>
              <a:xfrm>
                <a:off x="7317128" y="13357443"/>
                <a:ext cx="5849615" cy="45720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18" name="Curved Down Arrow 317"/>
              <p:cNvSpPr/>
              <p:nvPr/>
            </p:nvSpPr>
            <p:spPr>
              <a:xfrm>
                <a:off x="5688241" y="13273444"/>
                <a:ext cx="7249902" cy="54864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19" name="Curved Down Arrow 318"/>
              <p:cNvSpPr/>
              <p:nvPr/>
            </p:nvSpPr>
            <p:spPr>
              <a:xfrm>
                <a:off x="4989781" y="13185506"/>
                <a:ext cx="7709934" cy="64008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Curved Down Arrow 319"/>
              <p:cNvSpPr/>
              <p:nvPr/>
            </p:nvSpPr>
            <p:spPr>
              <a:xfrm>
                <a:off x="9150130" y="13434928"/>
                <a:ext cx="1859923" cy="36576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Curved Down Arrow 320"/>
              <p:cNvSpPr/>
              <p:nvPr/>
            </p:nvSpPr>
            <p:spPr>
              <a:xfrm>
                <a:off x="7317202" y="13360865"/>
                <a:ext cx="3450673" cy="45720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2" name="Curved Down Arrow 321"/>
              <p:cNvSpPr/>
              <p:nvPr/>
            </p:nvSpPr>
            <p:spPr>
              <a:xfrm>
                <a:off x="5688241" y="13272699"/>
                <a:ext cx="4845168" cy="54864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3" name="Curved Down Arrow 322"/>
              <p:cNvSpPr/>
              <p:nvPr/>
            </p:nvSpPr>
            <p:spPr>
              <a:xfrm>
                <a:off x="4990772" y="13185506"/>
                <a:ext cx="5326635" cy="64008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4" name="Curved Down Arrow 323"/>
              <p:cNvSpPr/>
              <p:nvPr/>
            </p:nvSpPr>
            <p:spPr>
              <a:xfrm>
                <a:off x="5688242" y="13272699"/>
                <a:ext cx="2282054" cy="54864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5" name="Curved Down Arrow 324"/>
              <p:cNvSpPr/>
              <p:nvPr/>
            </p:nvSpPr>
            <p:spPr>
              <a:xfrm>
                <a:off x="4987640" y="13185545"/>
                <a:ext cx="2754056" cy="64008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6" name="Curved Down Arrow 325"/>
              <p:cNvSpPr/>
              <p:nvPr/>
            </p:nvSpPr>
            <p:spPr>
              <a:xfrm>
                <a:off x="4990773" y="13185545"/>
                <a:ext cx="1142882" cy="64008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7" name="Curved Down Arrow 326"/>
              <p:cNvSpPr/>
              <p:nvPr/>
            </p:nvSpPr>
            <p:spPr>
              <a:xfrm flipV="1">
                <a:off x="8276634" y="16915249"/>
                <a:ext cx="2471579" cy="36576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8" name="Curved Down Arrow 327"/>
              <p:cNvSpPr/>
              <p:nvPr/>
            </p:nvSpPr>
            <p:spPr>
              <a:xfrm flipV="1">
                <a:off x="6606079" y="16901355"/>
                <a:ext cx="3914432" cy="45720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29" name="Curved Down Arrow 328"/>
              <p:cNvSpPr/>
              <p:nvPr/>
            </p:nvSpPr>
            <p:spPr>
              <a:xfrm flipV="1">
                <a:off x="5910589" y="16908899"/>
                <a:ext cx="4374063" cy="54864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Curved Down Arrow 329"/>
              <p:cNvSpPr/>
              <p:nvPr/>
            </p:nvSpPr>
            <p:spPr>
              <a:xfrm flipV="1">
                <a:off x="6606079" y="16907530"/>
                <a:ext cx="2292473" cy="45720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31" name="Curved Down Arrow 330"/>
              <p:cNvSpPr/>
              <p:nvPr/>
            </p:nvSpPr>
            <p:spPr>
              <a:xfrm flipV="1">
                <a:off x="5910589" y="16915249"/>
                <a:ext cx="2745754" cy="54864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  <p:sp>
            <p:nvSpPr>
              <p:cNvPr id="332" name="Curved Down Arrow 331"/>
              <p:cNvSpPr/>
              <p:nvPr/>
            </p:nvSpPr>
            <p:spPr>
              <a:xfrm flipV="1">
                <a:off x="5910589" y="16908899"/>
                <a:ext cx="1102927" cy="548640"/>
              </a:xfrm>
              <a:prstGeom prst="curvedDownArrow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45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33" name="TextBox 332"/>
            <p:cNvSpPr txBox="1"/>
            <p:nvPr/>
          </p:nvSpPr>
          <p:spPr>
            <a:xfrm>
              <a:off x="2701998" y="13221736"/>
              <a:ext cx="3481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  <a:endParaRPr lang="en-US" sz="2400" dirty="0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3159878" y="10750739"/>
              <a:ext cx="12232522" cy="54036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5" name="Group 334"/>
          <p:cNvGrpSpPr/>
          <p:nvPr/>
        </p:nvGrpSpPr>
        <p:grpSpPr>
          <a:xfrm>
            <a:off x="4692201" y="6752308"/>
            <a:ext cx="9771684" cy="3584724"/>
            <a:chOff x="12678173" y="17095828"/>
            <a:chExt cx="11127016" cy="4390954"/>
          </a:xfrm>
        </p:grpSpPr>
        <p:sp>
          <p:nvSpPr>
            <p:cNvPr id="336" name="Rectangle 335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37" name="Straight Arrow Connector 336"/>
            <p:cNvCxnSpPr>
              <a:stCxn id="347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Rectangle 337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cxnSp>
          <p:nvCxnSpPr>
            <p:cNvPr id="340" name="Straight Arrow Connector 339"/>
            <p:cNvCxnSpPr>
              <a:stCxn id="338" idx="2"/>
              <a:endCxn id="339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Arrow Connector 340"/>
            <p:cNvCxnSpPr>
              <a:endCxn id="338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Arrow Connector 341"/>
            <p:cNvCxnSpPr>
              <a:stCxn id="339" idx="2"/>
              <a:endCxn id="347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3" name="TextBox 342"/>
            <p:cNvSpPr txBox="1"/>
            <p:nvPr/>
          </p:nvSpPr>
          <p:spPr>
            <a:xfrm>
              <a:off x="17978162" y="1915231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4" name="TextBox 343"/>
            <p:cNvSpPr txBox="1"/>
            <p:nvPr/>
          </p:nvSpPr>
          <p:spPr>
            <a:xfrm>
              <a:off x="18105748" y="2107208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5" name="TextBox 344"/>
            <p:cNvSpPr txBox="1"/>
            <p:nvPr/>
          </p:nvSpPr>
          <p:spPr>
            <a:xfrm>
              <a:off x="17650782" y="17673033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46" name="Curved Up Arrow 345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47" name="Oval 346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+</a:t>
              </a:r>
            </a:p>
          </p:txBody>
        </p:sp>
        <p:sp>
          <p:nvSpPr>
            <p:cNvPr id="348" name="TextBox 347"/>
            <p:cNvSpPr txBox="1"/>
            <p:nvPr/>
          </p:nvSpPr>
          <p:spPr>
            <a:xfrm>
              <a:off x="17357975" y="17221345"/>
              <a:ext cx="1207280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Residual</a:t>
              </a:r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50" name="Rectangle 349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sp>
          <p:nvSpPr>
            <p:cNvPr id="351" name="Rectangle 350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cxnSp>
          <p:nvCxnSpPr>
            <p:cNvPr id="352" name="Straight Arrow Connector 351"/>
            <p:cNvCxnSpPr>
              <a:stCxn id="350" idx="2"/>
              <a:endCxn id="351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/>
            <p:cNvCxnSpPr>
              <a:endCxn id="350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Arrow Connector 353"/>
            <p:cNvCxnSpPr>
              <a:stCxn id="351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5" name="TextBox 354"/>
            <p:cNvSpPr txBox="1"/>
            <p:nvPr/>
          </p:nvSpPr>
          <p:spPr>
            <a:xfrm>
              <a:off x="14282892" y="19178695"/>
              <a:ext cx="1141057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  <a:endParaRPr lang="en-US" sz="45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14404420" y="20786421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13949763" y="17550171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3743869" y="17095828"/>
              <a:ext cx="1113969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‘</a:t>
              </a:r>
              <a:r>
                <a:rPr lang="en-US" sz="2000" dirty="0"/>
                <a:t>Vanilla</a:t>
              </a:r>
              <a:r>
                <a:rPr lang="en-US" sz="1600" dirty="0"/>
                <a:t>’</a:t>
              </a:r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60" name="Straight Arrow Connector 359"/>
            <p:cNvCxnSpPr>
              <a:endCxn id="363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" name="Curved Up Arrow 360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62" name="Rectangle 361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64" name="Straight Arrow Connector 363"/>
            <p:cNvCxnSpPr>
              <a:stCxn id="363" idx="2"/>
              <a:endCxn id="362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/>
            <p:cNvCxnSpPr>
              <a:stCxn id="366" idx="2"/>
              <a:endCxn id="367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" name="Rectangle 365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  <a:endParaRPr lang="en-US" sz="800" dirty="0"/>
            </a:p>
          </p:txBody>
        </p:sp>
        <p:sp>
          <p:nvSpPr>
            <p:cNvPr id="367" name="Rectangle 366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8" name="Curved Up Arrow 367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369" name="Straight Arrow Connector 368"/>
            <p:cNvCxnSpPr>
              <a:stCxn id="362" idx="2"/>
              <a:endCxn id="370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0" name="Rectangle 369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sp>
          <p:nvSpPr>
            <p:cNvPr id="371" name="Curved Up Arrow 370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2" name="Rectangle 371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cxnSp>
          <p:nvCxnSpPr>
            <p:cNvPr id="373" name="Straight Arrow Connector 372"/>
            <p:cNvCxnSpPr>
              <a:stCxn id="372" idx="2"/>
              <a:endCxn id="374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Rectangle 373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75" name="Straight Arrow Connector 374"/>
            <p:cNvCxnSpPr>
              <a:stCxn id="370" idx="2"/>
              <a:endCxn id="372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6" name="Curved Up Arrow 375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7" name="Curved Up Arrow 376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8" name="Curved Up Arrow 377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20907244" y="17184995"/>
              <a:ext cx="949541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Dense</a:t>
              </a: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20052942" y="17897319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19987741" y="1904622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19980983" y="2019640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820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8" name="Right Arrow 67"/>
          <p:cNvSpPr/>
          <p:nvPr/>
        </p:nvSpPr>
        <p:spPr>
          <a:xfrm>
            <a:off x="4297764" y="86019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1" name="Rectangle 70"/>
          <p:cNvSpPr/>
          <p:nvPr/>
        </p:nvSpPr>
        <p:spPr>
          <a:xfrm>
            <a:off x="4065645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49" name="Down Arrow 48"/>
          <p:cNvSpPr/>
          <p:nvPr/>
        </p:nvSpPr>
        <p:spPr>
          <a:xfrm flipV="1">
            <a:off x="11624842" y="9787385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0" name="Down Arrow 49"/>
          <p:cNvSpPr/>
          <p:nvPr/>
        </p:nvSpPr>
        <p:spPr>
          <a:xfrm>
            <a:off x="11624842" y="10418902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1" name="Right Arrow 50"/>
          <p:cNvSpPr/>
          <p:nvPr/>
        </p:nvSpPr>
        <p:spPr>
          <a:xfrm>
            <a:off x="11524201" y="10957753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2" name="Right Arrow 51"/>
          <p:cNvSpPr/>
          <p:nvPr/>
        </p:nvSpPr>
        <p:spPr>
          <a:xfrm>
            <a:off x="11523690" y="11376549"/>
            <a:ext cx="4572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4" name="TextBox 53"/>
          <p:cNvSpPr txBox="1"/>
          <p:nvPr/>
        </p:nvSpPr>
        <p:spPr>
          <a:xfrm>
            <a:off x="11962265" y="9673528"/>
            <a:ext cx="2150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smtClean="0"/>
              <a:t>Bilinear </a:t>
            </a:r>
            <a:r>
              <a:rPr lang="en-US" sz="2000" dirty="0" err="1" smtClean="0"/>
              <a:t>Upsample</a:t>
            </a:r>
            <a:r>
              <a:rPr lang="en-US" sz="2000" dirty="0" smtClean="0"/>
              <a:t>,</a:t>
            </a:r>
          </a:p>
          <a:p>
            <a:pPr algn="ctr"/>
            <a:r>
              <a:rPr lang="en-US" sz="2000" dirty="0" smtClean="0"/>
              <a:t>Convolution 3x3x3</a:t>
            </a:r>
            <a:endParaRPr lang="en-US" sz="2000" dirty="0"/>
          </a:p>
        </p:txBody>
      </p:sp>
      <p:sp>
        <p:nvSpPr>
          <p:cNvPr id="55" name="TextBox 54"/>
          <p:cNvSpPr txBox="1"/>
          <p:nvPr/>
        </p:nvSpPr>
        <p:spPr>
          <a:xfrm>
            <a:off x="11982462" y="10410198"/>
            <a:ext cx="292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Strided</a:t>
            </a:r>
            <a:r>
              <a:rPr lang="en-US" sz="2000" dirty="0"/>
              <a:t> </a:t>
            </a:r>
            <a:r>
              <a:rPr lang="en-US" sz="2000" dirty="0" smtClean="0"/>
              <a:t>Convolution 2x2x2</a:t>
            </a:r>
            <a:endParaRPr lang="en-US" sz="2000" dirty="0"/>
          </a:p>
        </p:txBody>
      </p:sp>
      <p:sp>
        <p:nvSpPr>
          <p:cNvPr id="56" name="TextBox 55"/>
          <p:cNvSpPr txBox="1"/>
          <p:nvPr/>
        </p:nvSpPr>
        <p:spPr>
          <a:xfrm>
            <a:off x="12117258" y="10890620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</a:t>
            </a:r>
            <a:r>
              <a:rPr lang="en-US" sz="2000" dirty="0"/>
              <a:t>3x3x3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117981" y="11311188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1x1x1</a:t>
            </a:r>
            <a:endParaRPr lang="en-US" sz="2000" dirty="0"/>
          </a:p>
        </p:txBody>
      </p:sp>
      <p:sp>
        <p:nvSpPr>
          <p:cNvPr id="58" name="Rectangle 57"/>
          <p:cNvSpPr/>
          <p:nvPr/>
        </p:nvSpPr>
        <p:spPr>
          <a:xfrm>
            <a:off x="11331063" y="9567921"/>
            <a:ext cx="3572199" cy="27637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5" name="TextBox 44"/>
          <p:cNvSpPr txBox="1"/>
          <p:nvPr/>
        </p:nvSpPr>
        <p:spPr>
          <a:xfrm>
            <a:off x="2861527" y="8435979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9906" y="10208723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29195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4761314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4997542" y="86019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4" name="Rectangle 93"/>
          <p:cNvSpPr/>
          <p:nvPr/>
        </p:nvSpPr>
        <p:spPr>
          <a:xfrm>
            <a:off x="5228795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5471891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6" name="Right Arrow 95"/>
          <p:cNvSpPr/>
          <p:nvPr/>
        </p:nvSpPr>
        <p:spPr>
          <a:xfrm>
            <a:off x="5932866" y="86019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7" name="Rectangle 96"/>
          <p:cNvSpPr/>
          <p:nvPr/>
        </p:nvSpPr>
        <p:spPr>
          <a:xfrm>
            <a:off x="6175670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411134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6639734" y="86019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0" name="Rectangle 99"/>
          <p:cNvSpPr/>
          <p:nvPr/>
        </p:nvSpPr>
        <p:spPr>
          <a:xfrm>
            <a:off x="6874643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7102584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7330524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6" name="Right Arrow 105"/>
          <p:cNvSpPr/>
          <p:nvPr/>
        </p:nvSpPr>
        <p:spPr>
          <a:xfrm>
            <a:off x="7564091" y="86019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7" name="Rectangle 106"/>
          <p:cNvSpPr/>
          <p:nvPr/>
        </p:nvSpPr>
        <p:spPr>
          <a:xfrm>
            <a:off x="7797370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8032834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704266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60016" y="973836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5688616" y="973836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5927970" y="10284350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15" name="Rectangle 114"/>
          <p:cNvSpPr/>
          <p:nvPr/>
        </p:nvSpPr>
        <p:spPr>
          <a:xfrm>
            <a:off x="6149698" y="97337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6392794" y="97337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6625169" y="97337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6854522" y="10311638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0" name="Rectangle 119"/>
          <p:cNvSpPr/>
          <p:nvPr/>
        </p:nvSpPr>
        <p:spPr>
          <a:xfrm>
            <a:off x="7097326" y="97401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7332790" y="9740138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7568349" y="10303671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3" name="Rectangle 122"/>
          <p:cNvSpPr/>
          <p:nvPr/>
        </p:nvSpPr>
        <p:spPr>
          <a:xfrm>
            <a:off x="7808340" y="97420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8028362" y="97420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8264221" y="97420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8" name="Right Arrow 127"/>
          <p:cNvSpPr/>
          <p:nvPr/>
        </p:nvSpPr>
        <p:spPr>
          <a:xfrm>
            <a:off x="8505532" y="1030528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9" name="Rectangle 128"/>
          <p:cNvSpPr/>
          <p:nvPr/>
        </p:nvSpPr>
        <p:spPr>
          <a:xfrm>
            <a:off x="8748336" y="97337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8983800" y="97337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31" name="Right Arrow 130"/>
          <p:cNvSpPr/>
          <p:nvPr/>
        </p:nvSpPr>
        <p:spPr>
          <a:xfrm>
            <a:off x="9210267" y="10301737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32" name="Rectangle 131"/>
          <p:cNvSpPr/>
          <p:nvPr/>
        </p:nvSpPr>
        <p:spPr>
          <a:xfrm>
            <a:off x="9450258" y="97401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9670280" y="97401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9906139" y="97401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0133841" y="97401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9" name="Right Arrow 138"/>
          <p:cNvSpPr/>
          <p:nvPr/>
        </p:nvSpPr>
        <p:spPr>
          <a:xfrm>
            <a:off x="10374032" y="10321917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40" name="Rectangle 139"/>
          <p:cNvSpPr/>
          <p:nvPr/>
        </p:nvSpPr>
        <p:spPr>
          <a:xfrm>
            <a:off x="10616836" y="975041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0852300" y="975041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cxnSp>
        <p:nvCxnSpPr>
          <p:cNvPr id="144" name="Curved Connector 143"/>
          <p:cNvCxnSpPr>
            <a:stCxn id="150" idx="2"/>
            <a:endCxn id="141" idx="0"/>
          </p:cNvCxnSpPr>
          <p:nvPr/>
        </p:nvCxnSpPr>
        <p:spPr>
          <a:xfrm rot="16200000" flipH="1">
            <a:off x="9721556" y="8505372"/>
            <a:ext cx="348413" cy="2141675"/>
          </a:xfrm>
          <a:prstGeom prst="curvedConnector3">
            <a:avLst>
              <a:gd name="adj1" fmla="val 50000"/>
            </a:avLst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8710625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42744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3" name="Right Arrow 152"/>
          <p:cNvSpPr/>
          <p:nvPr/>
        </p:nvSpPr>
        <p:spPr>
          <a:xfrm>
            <a:off x="9178972" y="86019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4" name="Rectangle 153"/>
          <p:cNvSpPr/>
          <p:nvPr/>
        </p:nvSpPr>
        <p:spPr>
          <a:xfrm>
            <a:off x="9410225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9649609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6" name="Right Arrow 155"/>
          <p:cNvSpPr/>
          <p:nvPr/>
        </p:nvSpPr>
        <p:spPr>
          <a:xfrm>
            <a:off x="10843270" y="86019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7" name="Rectangle 156"/>
          <p:cNvSpPr/>
          <p:nvPr/>
        </p:nvSpPr>
        <p:spPr>
          <a:xfrm>
            <a:off x="11076549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11312013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9" name="Right Arrow 158"/>
          <p:cNvSpPr/>
          <p:nvPr/>
        </p:nvSpPr>
        <p:spPr>
          <a:xfrm>
            <a:off x="11550138" y="86019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5" name="Right Arrow 164"/>
          <p:cNvSpPr/>
          <p:nvPr/>
        </p:nvSpPr>
        <p:spPr>
          <a:xfrm>
            <a:off x="12969125" y="86019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6" name="Rectangle 165"/>
          <p:cNvSpPr/>
          <p:nvPr/>
        </p:nvSpPr>
        <p:spPr>
          <a:xfrm>
            <a:off x="13211929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13447393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0602227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cxnSp>
        <p:nvCxnSpPr>
          <p:cNvPr id="170" name="Curved Connector 169"/>
          <p:cNvCxnSpPr>
            <a:stCxn id="108" idx="2"/>
            <a:endCxn id="110" idx="0"/>
          </p:cNvCxnSpPr>
          <p:nvPr/>
        </p:nvCxnSpPr>
        <p:spPr>
          <a:xfrm rot="5400000">
            <a:off x="6692544" y="8283776"/>
            <a:ext cx="336363" cy="2572818"/>
          </a:xfrm>
          <a:prstGeom prst="curvedConnector3">
            <a:avLst>
              <a:gd name="adj1" fmla="val 50000"/>
            </a:avLst>
          </a:prstGeom>
          <a:ln w="34925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 175"/>
          <p:cNvSpPr/>
          <p:nvPr/>
        </p:nvSpPr>
        <p:spPr>
          <a:xfrm>
            <a:off x="9888993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0128377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1" name="Rectangle 180"/>
          <p:cNvSpPr/>
          <p:nvPr/>
        </p:nvSpPr>
        <p:spPr>
          <a:xfrm>
            <a:off x="11783164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12016952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12255869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12493994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12732422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10367761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2" name="Right Arrow 191"/>
          <p:cNvSpPr/>
          <p:nvPr/>
        </p:nvSpPr>
        <p:spPr>
          <a:xfrm>
            <a:off x="13683080" y="86019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93" name="Rectangle 192"/>
          <p:cNvSpPr/>
          <p:nvPr/>
        </p:nvSpPr>
        <p:spPr>
          <a:xfrm>
            <a:off x="13925884" y="80304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4" name="Rectangle 193"/>
          <p:cNvSpPr/>
          <p:nvPr/>
        </p:nvSpPr>
        <p:spPr>
          <a:xfrm>
            <a:off x="14161348" y="80304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9" name="Curved Down Arrow 198"/>
          <p:cNvSpPr/>
          <p:nvPr/>
        </p:nvSpPr>
        <p:spPr>
          <a:xfrm>
            <a:off x="11523690" y="11749968"/>
            <a:ext cx="49759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2117258" y="11694697"/>
            <a:ext cx="1701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Concatenation</a:t>
            </a:r>
            <a:endParaRPr lang="en-US" sz="2000" dirty="0"/>
          </a:p>
        </p:txBody>
      </p:sp>
      <p:sp>
        <p:nvSpPr>
          <p:cNvPr id="191" name="Curved Down Arrow 190"/>
          <p:cNvSpPr/>
          <p:nvPr/>
        </p:nvSpPr>
        <p:spPr>
          <a:xfrm>
            <a:off x="8757170" y="7650872"/>
            <a:ext cx="428467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90" name="Curved Down Arrow 189"/>
          <p:cNvSpPr/>
          <p:nvPr/>
        </p:nvSpPr>
        <p:spPr>
          <a:xfrm>
            <a:off x="6925006" y="7564211"/>
            <a:ext cx="5849615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7" name="Curved Down Arrow 186"/>
          <p:cNvSpPr/>
          <p:nvPr/>
        </p:nvSpPr>
        <p:spPr>
          <a:xfrm>
            <a:off x="5296119" y="7480212"/>
            <a:ext cx="7249902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6" name="Curved Down Arrow 185"/>
          <p:cNvSpPr/>
          <p:nvPr/>
        </p:nvSpPr>
        <p:spPr>
          <a:xfrm>
            <a:off x="4597659" y="7392274"/>
            <a:ext cx="770993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9" name="Curved Down Arrow 178"/>
          <p:cNvSpPr/>
          <p:nvPr/>
        </p:nvSpPr>
        <p:spPr>
          <a:xfrm>
            <a:off x="8758008" y="7641696"/>
            <a:ext cx="185992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9" name="Curved Down Arrow 188"/>
          <p:cNvSpPr/>
          <p:nvPr/>
        </p:nvSpPr>
        <p:spPr>
          <a:xfrm>
            <a:off x="6925080" y="7567633"/>
            <a:ext cx="34506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8" name="Curved Down Arrow 177"/>
          <p:cNvSpPr/>
          <p:nvPr/>
        </p:nvSpPr>
        <p:spPr>
          <a:xfrm>
            <a:off x="5296119" y="7479467"/>
            <a:ext cx="4845168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7" name="Curved Down Arrow 176"/>
          <p:cNvSpPr/>
          <p:nvPr/>
        </p:nvSpPr>
        <p:spPr>
          <a:xfrm>
            <a:off x="4598650" y="7392274"/>
            <a:ext cx="5326635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5" name="Curved Down Arrow 104"/>
          <p:cNvSpPr/>
          <p:nvPr/>
        </p:nvSpPr>
        <p:spPr>
          <a:xfrm>
            <a:off x="5296120" y="7479467"/>
            <a:ext cx="22820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1" name="Curved Down Arrow 100"/>
          <p:cNvSpPr/>
          <p:nvPr/>
        </p:nvSpPr>
        <p:spPr>
          <a:xfrm>
            <a:off x="4595518" y="7392313"/>
            <a:ext cx="2754056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83" name="Curved Down Arrow 82"/>
          <p:cNvSpPr/>
          <p:nvPr/>
        </p:nvSpPr>
        <p:spPr>
          <a:xfrm>
            <a:off x="4598651" y="7392313"/>
            <a:ext cx="1142882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7" name="Curved Down Arrow 136"/>
          <p:cNvSpPr/>
          <p:nvPr/>
        </p:nvSpPr>
        <p:spPr>
          <a:xfrm flipV="1">
            <a:off x="7884512" y="11122017"/>
            <a:ext cx="247157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5" name="Curved Down Arrow 134"/>
          <p:cNvSpPr/>
          <p:nvPr/>
        </p:nvSpPr>
        <p:spPr>
          <a:xfrm flipV="1">
            <a:off x="6213957" y="11108123"/>
            <a:ext cx="3914432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6" name="Curved Down Arrow 135"/>
          <p:cNvSpPr/>
          <p:nvPr/>
        </p:nvSpPr>
        <p:spPr>
          <a:xfrm flipV="1">
            <a:off x="5518467" y="11115667"/>
            <a:ext cx="4374063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7" name="Curved Down Arrow 126"/>
          <p:cNvSpPr/>
          <p:nvPr/>
        </p:nvSpPr>
        <p:spPr>
          <a:xfrm flipV="1">
            <a:off x="6213957" y="11114298"/>
            <a:ext cx="22924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6" name="Curved Down Arrow 125"/>
          <p:cNvSpPr/>
          <p:nvPr/>
        </p:nvSpPr>
        <p:spPr>
          <a:xfrm flipV="1">
            <a:off x="5518467" y="11122017"/>
            <a:ext cx="27457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18" name="Curved Down Arrow 117"/>
          <p:cNvSpPr/>
          <p:nvPr/>
        </p:nvSpPr>
        <p:spPr>
          <a:xfrm flipV="1">
            <a:off x="5518467" y="11115667"/>
            <a:ext cx="1102927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146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17551</TotalTime>
  <Words>227</Words>
  <Application>Microsoft Office PowerPoint</Application>
  <PresentationFormat>Custom</PresentationFormat>
  <Paragraphs>122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M. D. Anderson Cancer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Anderson,Brian M</dc:creator>
  <cp:lastModifiedBy>Anderson,Brian M</cp:lastModifiedBy>
  <cp:revision>29</cp:revision>
  <dcterms:created xsi:type="dcterms:W3CDTF">2020-07-27T21:45:52Z</dcterms:created>
  <dcterms:modified xsi:type="dcterms:W3CDTF">2020-08-24T17:59:06Z</dcterms:modified>
</cp:coreProperties>
</file>